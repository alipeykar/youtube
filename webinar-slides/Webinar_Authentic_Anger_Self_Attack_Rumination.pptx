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آغاز" id="{a944c114-a537-a6ee-b899-ae3f0de82f76}">
          <p14:sldIdLst>
            <p14:sldId id="256"/>
            <p14:sldId id="257"/>
            <p14:sldId id="258"/>
          </p14:sldIdLst>
        </p14:section>
        <p14:section name="خشم" id="{f2a78d72-e90e-195c-f8a8-40aac0789d27}">
          <p14:sldIdLst>
            <p14:sldId id="259"/>
          </p14:sldIdLst>
        </p14:section>
        <p14:section name="منتقد درونی" id="{0cc0d77d-2d32-42a4-0afe-aa3a360155c1}">
          <p14:sldIdLst>
            <p14:sldId id="260"/>
            <p14:sldId id="261"/>
            <p14:sldId id="262"/>
            <p14:sldId id="263"/>
            <p14:sldId id="264"/>
          </p14:sldIdLst>
        </p14:section>
        <p14:section name="نشخوار فکری" id="{fd3eb2f0-0518-6b9c-77c0-634c2c8fd2b3}">
          <p14:sldIdLst>
            <p14:sldId id="265"/>
            <p14:sldId id="266"/>
            <p14:sldId id="267"/>
            <p14:sldId id="268"/>
            <p14:sldId id="269"/>
          </p14:sldIdLst>
        </p14:section>
        <p14:section name="نقشه و مسیر" id="{9e6f42a2-37a6-421b-9376-f2b64808884c}">
          <p14:sldIdLst>
            <p14:sldId id="270"/>
            <p14:sldId id="271"/>
            <p14:sldId id="272"/>
            <p14:sldId id="273"/>
            <p14:sldId id="274"/>
          </p14:sldIdLst>
        </p14:section>
        <p14:section name="پایان" id="{afa9e910-5f75-d03d-173d-d5b8e80a0f28}">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از همان ابتدا خودش را در سؤال ببیند و بداند مسیر امروز کجا می‌رود.
ب) متن پیشنهادی ارائه
«سلام و خوش آمدید. امروز درباره تجربه‌ای حرف می‌زنیم که خیلی از ما می‌شناسیم: کسی ما را ناراحت یا عصبانی می‌کند، حق هم داریم، اما کمی بعد به‌جای او، خودمان را زیر سؤال می‌بریم. قرار نیست امروز جواب قطعی بدهم؛ قرار است با هم یک مسیر را ببینیم: از خشم، تا سرزنش خود و فکر کردن‌های تکراری، و بعد یک مسیر جایگزین. کمک می‌کنم این الگو را ببینیم و بهتر بفهمیم.»
ج) نکته علمی
«سه پژوهش کیفی جدید» اشاره به سه مقاله‌ای است که در اسلاید آخر فهرست شده‌اند (Šoková و همکاران، ۲۰۲۵؛ Oblak و همکاران، ۲۰۲۶؛ Khan و Rehna و Butt، ۲۰۲۴). دو مسیر پایین اسلاید، «چارچوب آموزشی وبینار» است؛ نه مدل منتشرشده یک مقاله. یادآوری: این یادداشت‌ها بر پایه ساختار و شرح مستند وبینار نوشته شده‌اند؛ پیش از ارائه، عبارت دقیق هر ادعای پژوهشی را یک بار با متن مقاله تطبیق دهید.
د) انتقال به اسلاید بعد
«بیایید از یک لحظه ساده شروع کنیم؛ لحظه‌ای که کسی ما را ناراحت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برای چند ثانیه سکوت کند و تفاوت واکنش به دیگری و واکنش به خودش را حس کند.
ب) متن پیشنهادی ارائه
«آخرین باری را که کسی ناراحتتان کرد به یاد بیاورید... با او چه کردید؟ شاید چیزی گفتید، شاید هیچ‌چیز نگفتید. حالا سؤال دوم: با خودتان چه کردید؟ (مکث) خیلی از ما در این لحظه، بیشتر از آن‌که به آن آدم فکر کنیم، با خودمان درگیر می‌شویم. امروز دقیقاً از همین نقطه شروع می‌کنیم.»
ج) نکته علمی
این اسلاید یک سؤال تأمل‌برانگیز آموزشی است و ادعای پژوهشی ندارد.
د) انتقال به اسلاید بعد
«این همان جایی است که مسئله شروع می‌شود؛ بیایید دو مسیر ممکن را کنار هم ببینیم.»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ببیند که از یک اتفاق مشابه، دو مسیر کاملاً متفاوت ممکن است شروع شود.
ب) متن پیشنهادی ارائه
«فرض کنید اتفاقی می‌افتد. در مسیر اول، خشم به ما خبر می‌دهد چیزی مهم است؛ نیاز یا مرزی در کار است و به اقدام می‌رسیم. در مسیر دوم، همان اتفاق با شرم یا ترس همراه می‌شود، منتقد درونی بالا می‌آید، ذهن شروع به تحلیل کردن می‌کند و آخرش حمله به خودمان است. نمی‌گویم یکی همیشه درست و دیگری همیشه غلط است؛ می‌گویم هر دو مسیر برای خیلی از ما آشناست.»
ج) نکته علمی
هر دو مسیر روی اسلاید «چارچوب آموزشی وبینار» است؛ ترکیبی از مفاهیم سه پژوهش، نه یک مدل واحد منتشرشده. باید همین‌طور هم معرفی شود.
د) انتقال به اسلاید بعد
«برای فهمیدن مسیر اول، اول باید با خود خشم دوست شویم.»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خشم را از پرخاشگری جدا کند و آن را به‌عنوان «اطلاعات» ببیند.
ب) متن پیشنهادی ارائه
«خشم و پرخاشگری یکی نیستند. پرخاشگری یک رفتار است؛ خشم یک احساس و می‌تواند اطلاعات بدهد: شاید مرزی رد شده، شاید نیازی نادیده مانده. این به آن معنا نیست که هر کاری با خشم موجه است. خشم به‌خودی‌خود مجوز رفتار آسیب‌زننده نیست؛ ولی نادیده گرفتنش هم کمکی نمی‌کند.»
ج) نکته علمی
تمایز خشم و پرخاشگری و نگاه به خشم به‌عنوان اطلاعات، «ترجمه ساده‌شده» مفهوم خشم قاطعانه/محافظتی در ادبیات معاصر است؛ ادعای مستقیم یکی از سه مقاله نیست.
د) انتقال به اسلاید بعد
«خب؛ اگر خشم اطلاعات است، چرا بعضی وقت‌ها به‌جای اقدام، به خودمان می‌رسد؟ سه پژوهش به سه بخش از این پازل نگاه کرده‌اند.»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بداند این وبینار یک خلاصه‌خوانی نیست؛ سه پژوهش سه زاویه از یک تجربه را روشن می‌کنند.
ب) متن پیشنهادی ارائه
«برای امروز سه پژوهش کیفی جدید را کنار هم گذاشته‌ام. اولی درباره منتقد درونی و سرزنش خود است، دومی درباره تجربه کسانی که نشخوار فکری دارند، و سومی درباره شدت گرفتن هیجان و فکر تکراری در افرادی که خودآسیبی بدون قصد خودکشی را تجربه کرده‌اند. هر کدام فقط یک بخش از تجربه را روشن می‌کند؛ نه کل پدیده را.»
ج) نکته علمی
Šoková و همکاران (۲۰۲۵، BMC Psychology): منتقد درونی و سرزنش خود. Oblak و همکاران (۲۰۲۶، Frontiers in Psychiatry): پدیدارشناسی نشخوار فکری. Khan و Rehna و Butt (۲۰۲۴، Frontiers in Psychology): نشخوار و آشفتگی هیجانی در افراد دارای NSSI، یعنی خودآسیبی بدون قصد خودکشی. هشدار روش‌شناختی: هر سه پژوهش کیفی هستند و برای فهم عمیق تجربه مناسب‌اند، نه برآورد شیوع یا اثبات رابطه علّی. مقاله سوم روی جمعیت خاصی انجام شده و تعمیم مستقیم ندارد.
د) انتقال به اسلاید بعد
«بیایید با اولین قطعه شروع کنیم: صدایی که در ذهن ما علیه خودمان حرف می‌زند.»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بفهمد منتقد درونی یک صدای واحد نیست و می‌تواند شکل‌های مختلفی داشته باشد.
ب) متن پیشنهادی ارائه
«وقتی می‌گوییم منتقد درونی، معمولاً یک صدا را تصور می‌کنیم؛ اما در عمل چند چهره دارد. گاهی نگران است: مواظب باش دوباره خراب می‌شود. گاهی می‌گوید به اندازه کافی خوب نیستی. گاهی تندتر است و می‌گوید خودت مشکل هستی. گاهی فشار می‌آورد که بیشتر تلاش کن؛ گاهی می‌گوید احساس نکن، کنترلش کن؛ و گاهی مقایسه با دیگران است. اگر یکی از این صداها برایتان آشناست، تنها نیستید.»
ج) نکته علمی
نام این شش الگو از Šoková و همکاران (۲۰۲۵) آمده است؛ جمله‌های داخل کارت‌ها «ترجمه و ساده‌سازی آموزشی» هستند، نه نقل مستقیم شرکت‌کنندگان.
درباره سوپرایگوی تنبیه‌گر (اگر مطرح شد): «در روان‌کاوی کلاسیک می‌توان این تجربه را از منظر سوپرایگوی تنبیه‌گر دید؛ در ادبیات پژوهشی معاصر، مفاهیمی مانند inner critic، self-criticism، self-attack و rumination ابزارهای نزدیک‌تری برای مطالعه تجربی این فرایند هستند.» نباید گفته شود این سه مقاله سوپرایگوی تنبیه‌گر را مطالعه یا اثبات کرده‌اند.
د) انتقال به اسلاید بعد
«حالا از شما می‌خواهم یکی از این صداها را انتخاب 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مشارکت مخاطب و شخصی شدن موضوع؛ هر کس صدای آشنای خودش را پیدا کند.
ب) متن پیشنهادی ارائه
«شش جمله روی اسلاید است. نیازی نیست توضیح بدهید؛ فقط در چت شماره یکی را بنویسید؛ همانی که بیشتر از بقیه برایتان آشناست. (چند ثانیه صبر کنید.) ببینید چقدر از ما یک صدای مشترک داریم. هیچ جوابی بهتر یا بدتر نیست.»
ج) نکته علمی
این اسلاید تعاملی است و داده پژوهشی تولید نمی‌کند؛ جمله‌ها برگرفته از الگوهای اسلاید قبل و در قالب آموزشی نوشته شده‌اند.
د) انتقال به اسلاید بعد
«اکنون ببینیم وقتی این صدا فعال می‌شود، دقیقاً چه اتفاقی می‌افتد.»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چهار مرحله را ببیند و بفهمد هدف، خاموش کردن منتقد یا حذف احساس نیست؛ تغییر پاسخ به منتقد است.
ب) متن پیشنهادی ارائه
«چهار مرحله را در نظر بگیرید: اول یک موقعیت محرک، بعد احساسی که آگاهانه یا ناآگاهانه ایجاد می‌شود، بعد صدای منتقد، و در آخر پاسخی که می‌دهیم. بیشتر وقت‌ها از مرحله سوم شروع می‌کنیم، یعنی منتقد را می‌شنویم و بی‌چون‌وچرا باور می‌کنیم. هدف این نیست که احساس را حذف کنیم؛ هدف این است که پاسخ دیگری به منتقد داشته باشیم؛ پاسخی که از خودمان محافظت کند.»
ج) نکته علمی
ترتیب چهارمرحله‌ای بر پایه Šoková و همکاران (۲۰۲۵) و درباره غلبه بر منتقد درونی است؛ عبارت‌بندی ساده‌شده آن «ترجمه آموزشی» است. پیش از ارائه، نام مراحل را با متن مقاله تطبیق دهید.
د) انتقال به اسلاید بعد
«بیایید همین را روی تجربه خودتان امتحان کنیم؛ یک تمرین کوتاه.»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یک تجربه واقعی سرزنش خود را قدم‌به‌قدم ببیند، نه اینکه فقط درباره‌اش بشنود.
ب) متن پیشنهادی ارائه
«هشت دقیقه وقت داریم. به آخرین باری فکر کنید که خودتان را سرزنش کردید؛ مهم نیست بزرگ باشد یا کوچک. اول فقط واقعیت: چه اتفاقی افتاد؟ بعد اولین احساس. بعد جمله دقیق منتقد درونی؛ همان‌طور که شنیدید. بعد ببینید به کدام الگوی اسلاید ۶ نزدیک‌تر بود. آخر: اگر قرار نبود خودتان را تنبیه کنید، چه نیازی داشتید؟ لازم نیست چیزی را با دیگران به اشتراک بگذارید.»
ج) نکته علمی
این تمرین خودمشاهده‌گری آموزشی است و ابزار ارزیابی یا درمان نیست. ساختار پنج‌مرحله‌ای، ترکیب آموزشی وبینار است. به مخاطب بگویید اگر یادآوری آن تجربه ناراحت‌کننده شد، می‌تواند تمرین را متوقف کند یا تجربه‌ای کم‌شدت‌تر انتخاب کند.
د) انتقال به اسلاید بعد
«بعد از تمام شدن اتفاق، ذهن معمولاً ساکت نمی‌شود؛ ادامه می‌دهد.»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انتقال از سرزنش خود به نشخوار فکری؛ مخاطب فکر «باید بفهمم چرا» را بشناسد.
ب) متن پیشنهادی ارائه
«بعد از یک اتفاق ناراحت‌کننده، ذهن اغلب می‌گوید: من باید بفهمم چرا. این جمله‌ای نیست که نادرست باشد؛ فهمیدن مهم است. اما گاهی همین تلاش برای فهمیدن، بی‌آنکه متوجه شویم، تبدیل به نشخوار می‌شود: فکر کردن تکراری که ظاهراً برای حل مسئله شروع می‌شود، اما ما را در همان نقطه نگه می‌دارد.»
ج) نکته علمی
تعریف روزمره «نشخوار» در اینجا ترجمه ساده‌شده‌ای از مفهوم rumination است؛ تعریف دقیق‌تر در مقاله‌های دوم و سوم آمده است.
د) انتقال به اسلاید بعد
«چرا ذهن این‌قدر به این تلاش اعتماد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بفهمد نشخوار چرا قانع‌کننده به نظر می‌رسد؛ از دل یک نیاز واقعی برای معنا می‌آید.
ب) متن پیشنهادی ارائه
«نشخوار از یک ابهام شروع می‌شود: من هنوز نمی‌فهمم چه اتفاقی افتاد. بعد ذهن برای ساختن معنا تلاش می‌کند: اگر بیشتر فکر کنم، شاید بفهمم. و گاهی به‌جای فهمیدن، گیر می‌افتیم؛ فکر تکراری، فاصله گرفتن از خود تجربه و احساس گیرکردن. یعنی نشخوار نشانه ضعف نیست؛ تلاشی است که جایی کارایی‌اش را از دست می‌دهد.»
ج) نکته علمی
Oblak و همکاران (۲۰۲۶) نشخوار را به‌عنوان تلاشی برای حل عدم‌قطعیت و ساختن معنا توصیف کرده‌اند (پژوهش پدیدارشناختی). ترتیب سه‌مرحله‌ای روی اسلاید، «ترجمه آموزشی» آن توصیف است، نه مدل منتشرشده مقاله.
د) انتقال به اسلاید بعد
«پس چطور بفهمیم کجا فکر کردن مفید است و کجا نشخوار شده؟»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دو نوع فکر کردن را از هم تمیز دهد، بدون اینکه فکر کردن را «بد» بداند.
ب) متن پیشنهادی ارائه
«فکر کردن برای فهمیدن معمولاً یک سؤال مشخص دارد، اطلاعات تازه می‌آورد، به تصمیم می‌رسد و راه اقدام را باز می‌کند. نشخوار همان سؤال را بارها تکرار می‌کند، گذشته را دوباره پخش می‌کند، به خودمان برچسب می‌زند و حس گیر افتادن می‌دهد. این دو همیشه مرز تیز ندارند؛ اما این سؤال کمک می‌کند: این فکر دارد ما را جلو می‌برد یا در جا نگه می‌دارد؟»
ج) نکته علمی
این تمایز یک synthesis آموزشی از یافته‌های پژوهش است؛ جدول دو ستونی را نباید به‌عنوان معیار تشخیصی ارائه کرد.
د) انتقال به اسلاید بعد
«بیایید همین را روی یک فکر تکراری خودتان امتحان کنیم.»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یک فکر تکراری واقعی را با سه سؤال بسنجد.
ب) متن پیشنهادی ارائه
«یک فکر تکراری اخیر را بنویسید. سپس سه سؤال: آیا سؤال جدیدی تولید می‌کند؟ آیا پاسخ تازه‌ای پیدا می‌کنید؟ آیا در پایان به یک اقدام مشخص می‌رسید؟ اگر جواب هر سه «نه» است، فقط یک سؤال از خودتان بپرسید: آیا ممکن است فکر کردن جای اقدام را گرفته باشد؟ نیازی نیست الان جواب بدهید؛ فقط ببینید.»
ج) نکته علمی
این تمرین خودمشاهده‌گری است، نه ابزار تشخیص. سه سؤال، ابزار آموزشی وبینار هستند و از مقاله‌ای به‌عنوان پرسشنامه اعتبارسنجی‌شده نقل نشده‌اند.
د) انتقال به اسلاید بعد
«وقتی هیجان و نشخوار با هم جمع شوند، چه اتفاقی می‌افتد؟»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ببیند هیجان شدید و فکر تکراری می‌توانند یکدیگر را تشدید کنند؛ بدون تعمیم این یافته به همه.
ب) متن پیشنهادی ارائه
«یکی از پژوهش‌ها چرخه‌ای را توصیف می‌کند: هیجان شدید می‌آید، تحمل پریشانی پایین است، فکرهای تکراری وارد می‌شوند، هیجان شدیدتر می‌شود و فشار بیشتر. من این را برای فهم «تشدید چرخه» نشان می‌دهم؛ نه برای اینکه بگویم همه این‌طور هستند.»
ج) نکته علمی
Khan و Rehna و Butt (۲۰۲۴) این موضوع را با ۱۰ فرد دارای NSSI (خودآسیبی بدون قصد خودکشی) بررسی کرده‌اند. هشدار: نمونه کوچک، کیفی و بالینی است. ما فقط از آن برای توضیح الگوی «تشدید چرخه» استفاده می‌کنیم؛ تعمیم مستقیم به مخاطب عمومی یا ادعای علّی مجاز نیست. اگر مخاطبی نگران خودآسیبی بود، او را به متخصص ارجاع دهید.
د) انتقال به اسلاید بعد
«حالا تکه‌ها را کنار هم بگذاریم و کل نقشه را ببینیم.»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مهم‌ترین اسلاید؛ مخاطب دو مسیر را کنار هم ببیند و نقطه انشعاب را تشخیص دهد.
ب) متن پیشنهادی ارائه
«این اسلاید خلاصه امروز ماست. هر دو مسیر با یک اتفاق و یک احساس شروع می‌شوند. در مسیر راست، احساس به «مشکل منم» تبدیل می‌شود؛ سپس خودسرزنشی، نشخوار، حمله به خود و پریشانی. در مسیر چپ، احساس به نیاز وصل می‌شود؛ سپس خودحمایتی، خشم قاطعانه و محافظتی، مرز و اقدام. تفاوت از همان‌جا شروع می‌شود که بعد از احساس، به‌جای «مشکل منم» می‌پرسیم «به چه چیزی نیاز دارم؟». لطفاً چند ثانیه صبر کنید تا مخاطب هر دو مسیر را دنبال کند.»
ج) نکته علمی
این نقشه، ترکیب آموزشی سه پژوهش است؛ نه یک مدل واحد منتشرشده. عناصر آن از سه مقاله آمده‌اند (منتقد درونی؛ نشخوار؛ آشفتگی هیجانی)، اما چیدمان و دو مسیر موازی را وبینار پیشنهاد می‌کند. هیچ‌یک از مقالات این نقشه را آزمون نکرده‌اند.
د) انتقال به اسلاید بعد
«اگر مسیر راست آشناست، مسیر چپ چگونه ساخته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یک مسیر پنج‌مرحله‌ای ساده برای شروع تغییر داشته باشد.
ب) متن پیشنهادی ارائه
«پنج قدم کوچک: منتقد را ببین؛ بپرس الان چه صدایی فعال شده. احساس را نام ببر. نیاز را پیدا کن؛ چه چیزی برایم مهم بوده؟ از خودت محافظت کن؛ یعنی علیه خودم رفتار نکنم. و به اقدام برس؛ چه مرز یا خواسته‌ای دارم؟ لازم نیست همه را کامل انجام دهید؛ حتی دو قدم اول هم تفاوت ایجاد می‌کند.»
ج) نکته علمی
این مسیر «ترجمه آموزشی» ایده‌های سه پژوهش است (آگاهی از منتقد، نام‌گذاری احساس، خودحمایتی و رسیدن به اقدام) و نه پروتکل درمانی منتشرشده. وعده درمان یا نتیجه قطعی نباید داده شود.
د) انتقال به اسلاید بعد
«این پنج قدم را می‌توان در یک جمله جمع کرد.»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یک جمله ساده و قابل‌ذخیره: احساس، نیاز، مرز، اقدام.
ب) متن پیشنهادی ارائه
«اگر فقط یک چیز از امروز یادتان بماند، همین باشد: احساس، نیاز، مرز، اقدام. و نه: احساس، قضاوت خود، نشخوار، حمله به خود. می‌توانید از این اسلاید اسکرین‌شات بگیرید.»
ج) نکته علمی
جمع‌بندی آموزشی است؛ از یک مقاله خاص نقل نشده است و به‌عنوان «چارچوب آموزشی وبینار» معرفی می‌شود.
د) انتقال به اسلاید بعد
«حالا نوبت نقشه شخصی خودتان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نقشه شخصی چرخه خودش را روی کاغذ بیاورد.
ب) متن پیشنهادی ارائه
«شش کارت: اتفاق، احساس، منتقد، نیاز، محافظت و اقدام. می‌توانید فرم یک‌صفحه‌ای را چاپ کنید یا فقط یادداشت کنید. با یک تجربه کوچک و واقعی شروع کنید؛ بزرگ‌ترین زخم زندگی‌تان لازم نیست.»
ج) نکته علمی
فرم آموزشی است و ابزار تشخیص نیست. ساختار آن بر پایه نقشه اسلاید ۱۵ است و مستقیم از یک مقاله نیامده است.
د) انتقال به اسلاید بعد
«بعد از این تمرین، ببینید کجای چرخه بیشتر گیر می‌کنید.»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مخاطب جای تقریبی خودش را در چرخه پیدا کند، بدون برچسب زدن به خود.
ب) متن پیشنهادی ارائه
«پنج جمله روی اسلاید است. هرکدام را که بیشتر شبیه شماست علامت بزنید. شاید یکی، شاید بیشتر. اگر جمله آخر برایتان آشناست و این چرخه بارها در روابط، کار یا تصمیم‌هایتان تکرار می‌شود، بررسی تخصصی‌تر می‌تواند مفید باشد.»
ج) نکته علمی
این یک نقشه خودمشاهده‌گری است، نه خودتشخیصی. پنج جمله، ابزار آموزشی هستند و از مقاله‌ای نقل نشده‌اند.
د) انتقال به اسلاید بعد
«و اگر این الگو در شما تکرارشونده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یک دعوت آرام و غیرفروشنده برای بررسی دقیق‌تر در صورت تکرارشونده بودن الگو.
ب) متن پیشنهادی ارائه
«اگر امروز متوجه شدید که این فقط یک واکنش مقطعی نیست و این چرخه در روابط، کار یا تصمیم‌های شما بارها تکرار می‌شود، ارزش دارد آن را دقیق‌تر بررسی کنید.
در فضای فردی می‌توانیم مشخص کنیم محرک چیست، چه احساسی پشت آن وجود دارد، منتقد درونی چه می‌گوید، چه نیازی نادیده گرفته می‌شود و چرا رسیدن از احساس به اقدام سخت می‌شود.
این وبینار قرار نیست جای کار فردی را بگیرد؛ قرار است کمک کند مسئله را واضح‌تر ببینید.»
ج) نکته علمی
این اسلاید ادعای پژوهشی ندارد. از عبارت‌هایی مانند «همین حالا رزرو کنید»، «ظرفیت محدود»، «درمان تضمینی» و «من مشکل شما را حل می‌کنم» پرهیز کنید.
د) انتقال به اسلاید بعد
«پایان کار؛ منابع را برای مطالعه بیشتر روی اسلاید بعد می‌گذارم.»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 هدف اسلاید
شفافیت درباره منابع و محدودیت‌ها.
ب) متن پیشنهادی ارائه
«این سه مقاله منابع اصلی امروز هستند. اگر خواستید بیشتر بخوانید، شناسه DOI هر کدام را داده‌ام. یک نکته را دوباره تأکید می‌کنم: مقاله سوم روی افراد دارای NSSI انجام شده و نباید مستقیم به همه مخاطبان تعمیم داده شود. از همراهی‌تان ممنونم.»
ج) نکته علمی
هر سه مقاله پژوهش کیفی هستند. چارچوب‌های دو مسیر، فرمول و مسیر پنج‌مرحله‌ای ترکیب آموزشی وبینار است. سایر مفاهیم (مثل سوپرایگوی تنبیه‌گر) چارچوب نظری روان‌کاوانه هستند، نه یافته این سه پژوهش.
د) انتقال به اسلاید بعد
پایان ارائه؛ پرسش و پاسخ.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777240"/>
            <a:ext cx="10545775" cy="1051560"/>
          </a:xfrm>
          <a:prstGeom prst="rect">
            <a:avLst/>
          </a:prstGeom>
          <a:noFill/>
          <a:ln/>
        </p:spPr>
        <p:txBody>
          <a:bodyPr wrap="square" rtlCol="0"/>
          <a:lstStyle>
            <a:lvl1pPr rtl="1" algn="r" indent="0" marL="0">
              <a:buNone/>
              <a:defRPr lang="fa-IR" altLang="en-US" sz="3200" b="1" dirty="0">
                <a:solidFill>
                  <a:schemeClr val="tx2"/>
                </a:solidFill>
                <a:latin typeface="Arial" pitchFamily="34" charset="0"/>
                <a:cs typeface="Arial" pitchFamily="34" charset="178"/>
              </a:defRPr>
            </a:lvl1pPr>
          </a:lstStyle>
          <a:p>
            <a:pPr algn="r" indent="0" marL="0">
              <a:buNone/>
            </a:pPr>
            <a:endParaRPr lang="fa-IR" sz="32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RE">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42564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777240"/>
            <a:ext cx="10545775" cy="1051560"/>
          </a:xfrm>
          <a:prstGeom prst="rect">
            <a:avLst/>
          </a:prstGeom>
          <a:noFill/>
          <a:ln/>
        </p:spPr>
        <p:txBody>
          <a:bodyPr wrap="square" rtlCol="0"/>
          <a:lstStyle>
            <a:lvl1pPr rtl="1" algn="r" indent="0" marL="0">
              <a:buNone/>
              <a:defRPr lang="fa-IR" altLang="en-US" sz="3200" b="1" dirty="0">
                <a:solidFill>
                  <a:schemeClr val="bg1"/>
                </a:solidFill>
                <a:latin typeface="Arial" pitchFamily="34" charset="0"/>
                <a:cs typeface="Arial" pitchFamily="34" charset="178"/>
              </a:defRPr>
            </a:lvl1pPr>
          </a:lstStyle>
          <a:p>
            <a:pPr algn="r" indent="0" marL="0">
              <a:buNone/>
            </a:pPr>
            <a:endParaRPr lang="fa-IR" sz="32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bg1"/>
                </a:solidFill>
                <a:latin typeface="Arial"/>
                <a:cs typeface="Aria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051560"/>
            <a:ext cx="10545775" cy="1920240"/>
          </a:xfrm>
          <a:prstGeom prst="rect">
            <a:avLst/>
          </a:prstGeom>
          <a:noFill/>
          <a:ln/>
        </p:spPr>
        <p:txBody>
          <a:bodyPr wrap="square" lIns="0" tIns="0" rIns="0" bIns="0" rtlCol="0" anchor="t"/>
          <a:lstStyle/>
          <a:p>
            <a:pPr rtl="1" algn="r" indent="0" marL="0">
              <a:lnSpc>
                <a:spcPct val="115000"/>
              </a:lnSpc>
              <a:buNone/>
            </a:pPr>
            <a:r>
              <a:rPr lang="fa-IR" altLang="en-US" sz="4400" b="1" dirty="0">
                <a:solidFill>
                  <a:schemeClr val="tx2"/>
                </a:solidFill>
                <a:latin typeface="Arial" pitchFamily="34" charset="0"/>
                <a:cs typeface="Arial" pitchFamily="34" charset="178"/>
              </a:rPr>
              <a:t>چرا وقتی حق داریم عصبانی باشیم،</a:t>
            </a:r>
            <a:endParaRPr lang="fa-IR" sz="4400" dirty="0"/>
          </a:p>
          <a:p>
            <a:pPr rtl="1" algn="r" indent="0" marL="0">
              <a:lnSpc>
                <a:spcPct val="115000"/>
              </a:lnSpc>
              <a:buNone/>
            </a:pPr>
            <a:r>
              <a:rPr lang="fa-IR" altLang="en-US" sz="4400" b="1" dirty="0">
                <a:solidFill>
                  <a:schemeClr val="tx2"/>
                </a:solidFill>
                <a:latin typeface="Arial" pitchFamily="34" charset="0"/>
                <a:cs typeface="Arial" pitchFamily="34" charset="178"/>
              </a:rPr>
              <a:t>خودمان را سرزنش می‌کنیم؟</a:t>
            </a:r>
            <a:endParaRPr lang="fa-IR" sz="4400" dirty="0"/>
          </a:p>
        </p:txBody>
      </p:sp>
      <p:sp>
        <p:nvSpPr>
          <p:cNvPr id="4" name="Text 1"/>
          <p:cNvSpPr txBox="1"/>
          <p:nvPr/>
        </p:nvSpPr>
        <p:spPr>
          <a:xfrm>
            <a:off x="822960" y="3154680"/>
            <a:ext cx="10545775" cy="548640"/>
          </a:xfrm>
          <a:prstGeom prst="rect">
            <a:avLst/>
          </a:prstGeom>
          <a:noFill/>
          <a:ln/>
        </p:spPr>
        <p:txBody>
          <a:bodyPr wrap="square" lIns="0" tIns="0" rIns="0" bIns="0" rtlCol="0" anchor="t"/>
          <a:lstStyle/>
          <a:p>
            <a:pPr rtl="1" algn="r" indent="0" marL="0">
              <a:buNone/>
            </a:pPr>
            <a:r>
              <a:rPr lang="fa-IR" altLang="en-US" sz="2400" dirty="0">
                <a:solidFill>
                  <a:schemeClr val="tx1"/>
                </a:solidFill>
                <a:latin typeface="Arial" pitchFamily="34" charset="0"/>
                <a:cs typeface="Arial" pitchFamily="34" charset="178"/>
              </a:rPr>
              <a:t>از خشم اصیل تا خودحمله و نشخوار فکری</a:t>
            </a:r>
            <a:endParaRPr lang="fa-IR" sz="2400" dirty="0"/>
          </a:p>
        </p:txBody>
      </p:sp>
      <p:sp>
        <p:nvSpPr>
          <p:cNvPr id="5" name="Text 2"/>
          <p:cNvSpPr txBox="1"/>
          <p:nvPr/>
        </p:nvSpPr>
        <p:spPr>
          <a:xfrm>
            <a:off x="822960" y="3749040"/>
            <a:ext cx="10545775" cy="411480"/>
          </a:xfrm>
          <a:prstGeom prst="rect">
            <a:avLst/>
          </a:prstGeom>
          <a:noFill/>
          <a:ln/>
        </p:spPr>
        <p:txBody>
          <a:bodyPr wrap="square" lIns="0" tIns="0" rIns="0" bIns="0" rtlCol="0" anchor="t"/>
          <a:lstStyle/>
          <a:p>
            <a:pPr rtl="1" algn="r" indent="0" marL="0">
              <a:buNone/>
            </a:pPr>
            <a:r>
              <a:rPr lang="fa-IR" altLang="en-US" sz="1600" dirty="0">
                <a:solidFill>
                  <a:schemeClr val="accent5"/>
                </a:solidFill>
                <a:latin typeface="Arial" pitchFamily="34" charset="0"/>
                <a:cs typeface="Arial" pitchFamily="34" charset="178"/>
              </a:rPr>
              <a:t>یک مسیر کاربردی بر پایه سه پژوهش کیفی جدید</a:t>
            </a:r>
            <a:endParaRPr lang="fa-IR" sz="1600" dirty="0"/>
          </a:p>
        </p:txBody>
      </p:sp>
      <p:sp>
        <p:nvSpPr>
          <p:cNvPr id="6" name="Text 3"/>
          <p:cNvSpPr txBox="1"/>
          <p:nvPr/>
        </p:nvSpPr>
        <p:spPr>
          <a:xfrm>
            <a:off x="9814255" y="4983480"/>
            <a:ext cx="1554480" cy="365760"/>
          </a:xfrm>
          <a:prstGeom prst="rect">
            <a:avLst/>
          </a:prstGeom>
          <a:noFill/>
          <a:ln/>
        </p:spPr>
        <p:txBody>
          <a:bodyPr wrap="none" lIns="0" tIns="0" rIns="0" bIns="0" rtlCol="0" anchor="ctr"/>
          <a:lstStyle/>
          <a:p>
            <a:pPr rtl="1" algn="ctr" indent="0" marL="0">
              <a:buNone/>
            </a:pPr>
            <a:r>
              <a:rPr lang="fa-IR" altLang="en-US" sz="1600" dirty="0">
                <a:solidFill>
                  <a:schemeClr val="accent2"/>
                </a:solidFill>
                <a:latin typeface="Arial" pitchFamily="34" charset="0"/>
                <a:cs typeface="Arial" pitchFamily="34" charset="178"/>
              </a:rPr>
              <a:t>خشم</a:t>
            </a:r>
            <a:endParaRPr lang="fa-IR" sz="1600" dirty="0"/>
          </a:p>
        </p:txBody>
      </p:sp>
      <p:sp>
        <p:nvSpPr>
          <p:cNvPr id="7" name="arrow"/>
          <p:cNvSpPr/>
          <p:nvPr/>
        </p:nvSpPr>
        <p:spPr>
          <a:xfrm flipH="1">
            <a:off x="9430207" y="5166360"/>
            <a:ext cx="310896" cy="0"/>
          </a:xfrm>
          <a:prstGeom prst="line">
            <a:avLst/>
          </a:prstGeom>
          <a:noFill/>
          <a:ln w="12700">
            <a:solidFill>
              <a:schemeClr val="accent2"/>
            </a:solidFill>
            <a:prstDash val="solid"/>
            <a:tailEnd type="arrow"/>
          </a:ln>
        </p:spPr>
      </p:sp>
      <p:sp>
        <p:nvSpPr>
          <p:cNvPr id="8" name="Text 5"/>
          <p:cNvSpPr txBox="1"/>
          <p:nvPr/>
        </p:nvSpPr>
        <p:spPr>
          <a:xfrm>
            <a:off x="7802575" y="4983480"/>
            <a:ext cx="1554480" cy="365760"/>
          </a:xfrm>
          <a:prstGeom prst="rect">
            <a:avLst/>
          </a:prstGeom>
          <a:noFill/>
          <a:ln/>
        </p:spPr>
        <p:txBody>
          <a:bodyPr wrap="none" lIns="0" tIns="0" rIns="0" bIns="0" rtlCol="0" anchor="ctr"/>
          <a:lstStyle/>
          <a:p>
            <a:pPr rtl="1" algn="ctr" indent="0" marL="0">
              <a:buNone/>
            </a:pPr>
            <a:r>
              <a:rPr lang="fa-IR" altLang="en-US" sz="1600" dirty="0">
                <a:solidFill>
                  <a:schemeClr val="accent2"/>
                </a:solidFill>
                <a:latin typeface="Arial" pitchFamily="34" charset="0"/>
                <a:cs typeface="Arial" pitchFamily="34" charset="178"/>
              </a:rPr>
              <a:t>مرز</a:t>
            </a:r>
            <a:endParaRPr lang="fa-IR" sz="1600" dirty="0"/>
          </a:p>
        </p:txBody>
      </p:sp>
      <p:sp>
        <p:nvSpPr>
          <p:cNvPr id="9" name="arrow"/>
          <p:cNvSpPr/>
          <p:nvPr/>
        </p:nvSpPr>
        <p:spPr>
          <a:xfrm flipH="1">
            <a:off x="7418527" y="5166360"/>
            <a:ext cx="310896" cy="0"/>
          </a:xfrm>
          <a:prstGeom prst="line">
            <a:avLst/>
          </a:prstGeom>
          <a:noFill/>
          <a:ln w="12700">
            <a:solidFill>
              <a:schemeClr val="accent2"/>
            </a:solidFill>
            <a:prstDash val="solid"/>
            <a:tailEnd type="arrow"/>
          </a:ln>
        </p:spPr>
      </p:sp>
      <p:sp>
        <p:nvSpPr>
          <p:cNvPr id="10" name="Text 7"/>
          <p:cNvSpPr txBox="1"/>
          <p:nvPr/>
        </p:nvSpPr>
        <p:spPr>
          <a:xfrm>
            <a:off x="5790895" y="4983480"/>
            <a:ext cx="1554480" cy="365760"/>
          </a:xfrm>
          <a:prstGeom prst="rect">
            <a:avLst/>
          </a:prstGeom>
          <a:noFill/>
          <a:ln/>
        </p:spPr>
        <p:txBody>
          <a:bodyPr wrap="none" lIns="0" tIns="0" rIns="0" bIns="0" rtlCol="0" anchor="ctr"/>
          <a:lstStyle/>
          <a:p>
            <a:pPr rtl="1" algn="ctr" indent="0" marL="0">
              <a:buNone/>
            </a:pPr>
            <a:r>
              <a:rPr lang="fa-IR" altLang="en-US" sz="1600" b="1" dirty="0">
                <a:solidFill>
                  <a:schemeClr val="accent2"/>
                </a:solidFill>
                <a:latin typeface="Arial" pitchFamily="34" charset="0"/>
                <a:cs typeface="Arial" pitchFamily="34" charset="178"/>
              </a:rPr>
              <a:t>اقدام</a:t>
            </a:r>
            <a:endParaRPr lang="fa-IR" sz="1600" dirty="0"/>
          </a:p>
        </p:txBody>
      </p:sp>
      <p:sp>
        <p:nvSpPr>
          <p:cNvPr id="11" name="Text 8"/>
          <p:cNvSpPr txBox="1"/>
          <p:nvPr/>
        </p:nvSpPr>
        <p:spPr>
          <a:xfrm>
            <a:off x="9814255" y="5532120"/>
            <a:ext cx="1554480" cy="365760"/>
          </a:xfrm>
          <a:prstGeom prst="rect">
            <a:avLst/>
          </a:prstGeom>
          <a:noFill/>
          <a:ln/>
        </p:spPr>
        <p:txBody>
          <a:bodyPr wrap="none" lIns="0" tIns="0" rIns="0" bIns="0" rtlCol="0" anchor="ctr"/>
          <a:lstStyle/>
          <a:p>
            <a:pPr rtl="1" algn="ctr" indent="0" marL="0">
              <a:buNone/>
            </a:pPr>
            <a:r>
              <a:rPr lang="fa-IR" altLang="en-US" sz="1600" dirty="0">
                <a:solidFill>
                  <a:schemeClr val="accent1"/>
                </a:solidFill>
                <a:latin typeface="Arial" pitchFamily="34" charset="0"/>
                <a:cs typeface="Arial" pitchFamily="34" charset="178"/>
              </a:rPr>
              <a:t>خشم</a:t>
            </a:r>
            <a:endParaRPr lang="fa-IR" sz="1600" dirty="0"/>
          </a:p>
        </p:txBody>
      </p:sp>
      <p:sp>
        <p:nvSpPr>
          <p:cNvPr id="12" name="arrow"/>
          <p:cNvSpPr/>
          <p:nvPr/>
        </p:nvSpPr>
        <p:spPr>
          <a:xfrm flipH="1">
            <a:off x="9430207" y="5715000"/>
            <a:ext cx="310896" cy="0"/>
          </a:xfrm>
          <a:prstGeom prst="line">
            <a:avLst/>
          </a:prstGeom>
          <a:noFill/>
          <a:ln w="12700">
            <a:solidFill>
              <a:schemeClr val="accent1"/>
            </a:solidFill>
            <a:prstDash val="solid"/>
            <a:tailEnd type="arrow"/>
          </a:ln>
        </p:spPr>
      </p:sp>
      <p:sp>
        <p:nvSpPr>
          <p:cNvPr id="13" name="Text 10"/>
          <p:cNvSpPr txBox="1"/>
          <p:nvPr/>
        </p:nvSpPr>
        <p:spPr>
          <a:xfrm>
            <a:off x="7802575" y="5532120"/>
            <a:ext cx="1554480" cy="365760"/>
          </a:xfrm>
          <a:prstGeom prst="rect">
            <a:avLst/>
          </a:prstGeom>
          <a:noFill/>
          <a:ln/>
        </p:spPr>
        <p:txBody>
          <a:bodyPr wrap="none" lIns="0" tIns="0" rIns="0" bIns="0" rtlCol="0" anchor="ctr"/>
          <a:lstStyle/>
          <a:p>
            <a:pPr rtl="1" algn="ctr" indent="0" marL="0">
              <a:buNone/>
            </a:pPr>
            <a:r>
              <a:rPr lang="fa-IR" altLang="en-US" sz="1600" dirty="0">
                <a:solidFill>
                  <a:schemeClr val="accent1"/>
                </a:solidFill>
                <a:latin typeface="Arial" pitchFamily="34" charset="0"/>
                <a:cs typeface="Arial" pitchFamily="34" charset="178"/>
              </a:rPr>
              <a:t>خودسرزنشی</a:t>
            </a:r>
            <a:endParaRPr lang="fa-IR" sz="1600" dirty="0"/>
          </a:p>
        </p:txBody>
      </p:sp>
      <p:sp>
        <p:nvSpPr>
          <p:cNvPr id="14" name="arrow"/>
          <p:cNvSpPr/>
          <p:nvPr/>
        </p:nvSpPr>
        <p:spPr>
          <a:xfrm flipH="1">
            <a:off x="7418527" y="5715000"/>
            <a:ext cx="310896" cy="0"/>
          </a:xfrm>
          <a:prstGeom prst="line">
            <a:avLst/>
          </a:prstGeom>
          <a:noFill/>
          <a:ln w="12700">
            <a:solidFill>
              <a:schemeClr val="accent1"/>
            </a:solidFill>
            <a:prstDash val="solid"/>
            <a:tailEnd type="arrow"/>
          </a:ln>
        </p:spPr>
      </p:sp>
      <p:sp>
        <p:nvSpPr>
          <p:cNvPr id="15" name="Text 12"/>
          <p:cNvSpPr txBox="1"/>
          <p:nvPr/>
        </p:nvSpPr>
        <p:spPr>
          <a:xfrm>
            <a:off x="5790895" y="5532120"/>
            <a:ext cx="1554480" cy="365760"/>
          </a:xfrm>
          <a:prstGeom prst="rect">
            <a:avLst/>
          </a:prstGeom>
          <a:noFill/>
          <a:ln/>
        </p:spPr>
        <p:txBody>
          <a:bodyPr wrap="none" lIns="0" tIns="0" rIns="0" bIns="0" rtlCol="0" anchor="ctr"/>
          <a:lstStyle/>
          <a:p>
            <a:pPr rtl="1" algn="ctr" indent="0" marL="0">
              <a:buNone/>
            </a:pPr>
            <a:r>
              <a:rPr lang="fa-IR" altLang="en-US" sz="1600" dirty="0">
                <a:solidFill>
                  <a:schemeClr val="accent1"/>
                </a:solidFill>
                <a:latin typeface="Arial" pitchFamily="34" charset="0"/>
                <a:cs typeface="Arial" pitchFamily="34" charset="178"/>
              </a:rPr>
              <a:t>نشخوار</a:t>
            </a:r>
            <a:endParaRPr lang="fa-IR" sz="1600" dirty="0"/>
          </a:p>
        </p:txBody>
      </p:sp>
      <p:sp>
        <p:nvSpPr>
          <p:cNvPr id="16" name="arrow"/>
          <p:cNvSpPr/>
          <p:nvPr/>
        </p:nvSpPr>
        <p:spPr>
          <a:xfrm flipH="1">
            <a:off x="5406847" y="5715000"/>
            <a:ext cx="310896" cy="0"/>
          </a:xfrm>
          <a:prstGeom prst="line">
            <a:avLst/>
          </a:prstGeom>
          <a:noFill/>
          <a:ln w="12700">
            <a:solidFill>
              <a:schemeClr val="accent1"/>
            </a:solidFill>
            <a:prstDash val="solid"/>
            <a:tailEnd type="arrow"/>
          </a:ln>
        </p:spPr>
      </p:sp>
      <p:sp>
        <p:nvSpPr>
          <p:cNvPr id="17" name="Text 14"/>
          <p:cNvSpPr txBox="1"/>
          <p:nvPr/>
        </p:nvSpPr>
        <p:spPr>
          <a:xfrm>
            <a:off x="3779215" y="5532120"/>
            <a:ext cx="1554480" cy="365760"/>
          </a:xfrm>
          <a:prstGeom prst="rect">
            <a:avLst/>
          </a:prstGeom>
          <a:noFill/>
          <a:ln/>
        </p:spPr>
        <p:txBody>
          <a:bodyPr wrap="none" lIns="0" tIns="0" rIns="0" bIns="0" rtlCol="0" anchor="ctr"/>
          <a:lstStyle/>
          <a:p>
            <a:pPr rtl="1" algn="ctr" indent="0" marL="0">
              <a:buNone/>
            </a:pPr>
            <a:r>
              <a:rPr lang="fa-IR" altLang="en-US" sz="1600" b="1" dirty="0">
                <a:solidFill>
                  <a:schemeClr val="accent1"/>
                </a:solidFill>
                <a:latin typeface="Arial" pitchFamily="34" charset="0"/>
                <a:cs typeface="Arial" pitchFamily="34" charset="178"/>
              </a:rPr>
              <a:t>حمله به خود</a:t>
            </a:r>
            <a:endParaRPr lang="fa-IR" sz="1600" dirty="0"/>
          </a:p>
        </p:txBody>
      </p:sp>
      <p:sp>
        <p:nvSpPr>
          <p:cNvPr id="18" name="accent dot"/>
          <p:cNvSpPr/>
          <p:nvPr/>
        </p:nvSpPr>
        <p:spPr>
          <a:xfrm>
            <a:off x="3459175" y="5660136"/>
            <a:ext cx="109728" cy="109728"/>
          </a:xfrm>
          <a:prstGeom prst="ellipse">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822960" y="914400"/>
            <a:ext cx="10545775" cy="457200"/>
          </a:xfrm>
          <a:prstGeom prst="rect">
            <a:avLst/>
          </a:prstGeom>
          <a:noFill/>
          <a:ln/>
        </p:spPr>
        <p:txBody>
          <a:bodyPr wrap="square" lIns="0" tIns="0" rIns="0" bIns="0" rtlCol="0" anchor="t"/>
          <a:lstStyle/>
          <a:p>
            <a:pPr rtl="1" algn="r" indent="0" marL="0">
              <a:buNone/>
            </a:pPr>
            <a:r>
              <a:rPr lang="fa-IR" altLang="en-US" sz="2400" dirty="0">
                <a:solidFill>
                  <a:schemeClr val="accent5"/>
                </a:solidFill>
                <a:latin typeface="Arial" pitchFamily="34" charset="0"/>
                <a:cs typeface="Arial" pitchFamily="34" charset="178"/>
              </a:rPr>
              <a:t>آخرین بار که کسی ناراحتتان کرد...</a:t>
            </a:r>
            <a:endParaRPr lang="fa-IR" sz="2400" dirty="0"/>
          </a:p>
        </p:txBody>
      </p:sp>
      <p:sp>
        <p:nvSpPr>
          <p:cNvPr id="4" name="Text 1"/>
          <p:cNvSpPr txBox="1"/>
          <p:nvPr/>
        </p:nvSpPr>
        <p:spPr>
          <a:xfrm>
            <a:off x="822960" y="2331720"/>
            <a:ext cx="10545775" cy="1188720"/>
          </a:xfrm>
          <a:prstGeom prst="rect">
            <a:avLst/>
          </a:prstGeom>
          <a:noFill/>
          <a:ln/>
        </p:spPr>
        <p:txBody>
          <a:bodyPr wrap="square" lIns="0" tIns="0" rIns="0" bIns="0" rtlCol="0" anchor="ctr"/>
          <a:lstStyle/>
          <a:p>
            <a:pPr rtl="1" algn="r" indent="0" marL="0">
              <a:buNone/>
            </a:pPr>
            <a:r>
              <a:rPr lang="fa-IR" altLang="en-US" sz="6000" b="1" dirty="0">
                <a:solidFill>
                  <a:schemeClr val="tx1"/>
                </a:solidFill>
                <a:latin typeface="Arial" pitchFamily="34" charset="0"/>
                <a:cs typeface="Arial" pitchFamily="34" charset="178"/>
              </a:rPr>
              <a:t>با او چه کردید؟</a:t>
            </a:r>
            <a:endParaRPr lang="fa-IR" sz="6000" dirty="0"/>
          </a:p>
        </p:txBody>
      </p:sp>
      <p:sp>
        <p:nvSpPr>
          <p:cNvPr id="5" name="Text 2"/>
          <p:cNvSpPr txBox="1"/>
          <p:nvPr/>
        </p:nvSpPr>
        <p:spPr>
          <a:xfrm>
            <a:off x="822960" y="3977640"/>
            <a:ext cx="10545775" cy="1188720"/>
          </a:xfrm>
          <a:prstGeom prst="rect">
            <a:avLst/>
          </a:prstGeom>
          <a:noFill/>
          <a:ln/>
        </p:spPr>
        <p:txBody>
          <a:bodyPr wrap="square" lIns="0" tIns="0" rIns="0" bIns="0" rtlCol="0" anchor="ctr"/>
          <a:lstStyle/>
          <a:p>
            <a:pPr rtl="1" algn="r" indent="0" marL="0">
              <a:buNone/>
            </a:pPr>
            <a:r>
              <a:rPr lang="fa-IR" altLang="en-US" sz="6000" b="1" dirty="0">
                <a:solidFill>
                  <a:schemeClr val="tx1"/>
                </a:solidFill>
                <a:latin typeface="Arial" pitchFamily="34" charset="0"/>
                <a:cs typeface="Arial" pitchFamily="34" charset="178"/>
              </a:rPr>
              <a:t>و با </a:t>
            </a:r>
            <a:pPr rtl="1" algn="r" indent="0" marL="0">
              <a:buNone/>
            </a:pPr>
            <a:r>
              <a:rPr lang="fa-IR" altLang="en-US" sz="6000" b="1" dirty="0">
                <a:solidFill>
                  <a:schemeClr val="accent1"/>
                </a:solidFill>
                <a:latin typeface="Arial" pitchFamily="34" charset="0"/>
                <a:cs typeface="Arial" pitchFamily="34" charset="178"/>
              </a:rPr>
              <a:t>خودتان</a:t>
            </a:r>
            <a:pPr rtl="1" algn="r" indent="0" marL="0">
              <a:buNone/>
            </a:pPr>
            <a:r>
              <a:rPr lang="fa-IR" altLang="en-US" sz="6000" b="1" dirty="0">
                <a:solidFill>
                  <a:schemeClr val="tx1"/>
                </a:solidFill>
                <a:latin typeface="Arial" pitchFamily="34" charset="0"/>
                <a:cs typeface="Arial" pitchFamily="34" charset="178"/>
              </a:rPr>
              <a:t> چه کردید؟</a:t>
            </a:r>
            <a:endParaRPr lang="fa-IR" sz="60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مسئله از همین‌جا شروع می‌شود</a:t>
            </a:r>
            <a:endParaRPr lang="fa-IR" sz="3200" dirty="0"/>
          </a:p>
        </p:txBody>
      </p:sp>
      <p:sp>
        <p:nvSpPr>
          <p:cNvPr id="4" name="Text 1"/>
          <p:cNvSpPr txBox="1"/>
          <p:nvPr/>
        </p:nvSpPr>
        <p:spPr>
          <a:xfrm>
            <a:off x="6583680" y="2011680"/>
            <a:ext cx="3657600" cy="365760"/>
          </a:xfrm>
          <a:prstGeom prst="rect">
            <a:avLst/>
          </a:prstGeom>
          <a:noFill/>
          <a:ln/>
        </p:spPr>
        <p:txBody>
          <a:bodyPr wrap="square" lIns="0" tIns="0" rIns="0" bIns="0" rtlCol="0" anchor="t"/>
          <a:lstStyle/>
          <a:p>
            <a:pPr rtl="1" algn="ctr" indent="0" marL="0">
              <a:buNone/>
            </a:pPr>
            <a:r>
              <a:rPr lang="fa-IR" altLang="en-US" sz="1800" b="1" dirty="0">
                <a:solidFill>
                  <a:schemeClr val="accent2"/>
                </a:solidFill>
                <a:latin typeface="Arial" pitchFamily="34" charset="0"/>
                <a:cs typeface="Arial" pitchFamily="34" charset="178"/>
              </a:rPr>
              <a:t>مسیر اول</a:t>
            </a:r>
            <a:endParaRPr lang="fa-IR" sz="1800" dirty="0"/>
          </a:p>
        </p:txBody>
      </p:sp>
      <p:sp>
        <p:nvSpPr>
          <p:cNvPr id="5" name="Text 2"/>
          <p:cNvSpPr txBox="1"/>
          <p:nvPr/>
        </p:nvSpPr>
        <p:spPr>
          <a:xfrm>
            <a:off x="6583680" y="2606040"/>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اتفاق</a:t>
            </a:r>
            <a:endParaRPr lang="fa-IR" sz="2200" dirty="0"/>
          </a:p>
        </p:txBody>
      </p:sp>
      <p:sp>
        <p:nvSpPr>
          <p:cNvPr id="6" name="arrow"/>
          <p:cNvSpPr/>
          <p:nvPr/>
        </p:nvSpPr>
        <p:spPr>
          <a:xfrm>
            <a:off x="8412480" y="3072384"/>
            <a:ext cx="0" cy="182880"/>
          </a:xfrm>
          <a:prstGeom prst="line">
            <a:avLst/>
          </a:prstGeom>
          <a:noFill/>
          <a:ln w="12700">
            <a:solidFill>
              <a:schemeClr val="accent2"/>
            </a:solidFill>
            <a:prstDash val="solid"/>
            <a:tailEnd type="arrow"/>
          </a:ln>
        </p:spPr>
      </p:sp>
      <p:sp>
        <p:nvSpPr>
          <p:cNvPr id="7" name="Text 4"/>
          <p:cNvSpPr txBox="1"/>
          <p:nvPr/>
        </p:nvSpPr>
        <p:spPr>
          <a:xfrm>
            <a:off x="6583680" y="3300984"/>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خشم</a:t>
            </a:r>
            <a:endParaRPr lang="fa-IR" sz="2200" dirty="0"/>
          </a:p>
        </p:txBody>
      </p:sp>
      <p:sp>
        <p:nvSpPr>
          <p:cNvPr id="8" name="arrow"/>
          <p:cNvSpPr/>
          <p:nvPr/>
        </p:nvSpPr>
        <p:spPr>
          <a:xfrm>
            <a:off x="8412480" y="3767328"/>
            <a:ext cx="0" cy="182880"/>
          </a:xfrm>
          <a:prstGeom prst="line">
            <a:avLst/>
          </a:prstGeom>
          <a:noFill/>
          <a:ln w="12700">
            <a:solidFill>
              <a:schemeClr val="accent2"/>
            </a:solidFill>
            <a:prstDash val="solid"/>
            <a:tailEnd type="arrow"/>
          </a:ln>
        </p:spPr>
      </p:sp>
      <p:sp>
        <p:nvSpPr>
          <p:cNvPr id="9" name="Text 6"/>
          <p:cNvSpPr txBox="1"/>
          <p:nvPr/>
        </p:nvSpPr>
        <p:spPr>
          <a:xfrm>
            <a:off x="6583680" y="3995928"/>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نیاز / مرز</a:t>
            </a:r>
            <a:endParaRPr lang="fa-IR" sz="2200" dirty="0"/>
          </a:p>
        </p:txBody>
      </p:sp>
      <p:sp>
        <p:nvSpPr>
          <p:cNvPr id="10" name="arrow"/>
          <p:cNvSpPr/>
          <p:nvPr/>
        </p:nvSpPr>
        <p:spPr>
          <a:xfrm>
            <a:off x="8412480" y="4462272"/>
            <a:ext cx="0" cy="182880"/>
          </a:xfrm>
          <a:prstGeom prst="line">
            <a:avLst/>
          </a:prstGeom>
          <a:noFill/>
          <a:ln w="12700">
            <a:solidFill>
              <a:schemeClr val="accent2"/>
            </a:solidFill>
            <a:prstDash val="solid"/>
            <a:tailEnd type="arrow"/>
          </a:ln>
        </p:spPr>
      </p:sp>
      <p:sp>
        <p:nvSpPr>
          <p:cNvPr id="11" name="Text 8"/>
          <p:cNvSpPr txBox="1"/>
          <p:nvPr/>
        </p:nvSpPr>
        <p:spPr>
          <a:xfrm>
            <a:off x="6583680" y="4690872"/>
            <a:ext cx="3657600" cy="420624"/>
          </a:xfrm>
          <a:prstGeom prst="rect">
            <a:avLst/>
          </a:prstGeom>
          <a:noFill/>
          <a:ln/>
        </p:spPr>
        <p:txBody>
          <a:bodyPr wrap="square" lIns="0" tIns="0" rIns="0" bIns="0" rtlCol="0" anchor="ctr"/>
          <a:lstStyle/>
          <a:p>
            <a:pPr rtl="1" algn="ctr" indent="0" marL="0">
              <a:buNone/>
            </a:pPr>
            <a:r>
              <a:rPr lang="fa-IR" altLang="en-US" sz="2200" b="1" dirty="0">
                <a:solidFill>
                  <a:schemeClr val="accent2"/>
                </a:solidFill>
                <a:latin typeface="Arial" pitchFamily="34" charset="0"/>
                <a:cs typeface="Arial" pitchFamily="34" charset="178"/>
              </a:rPr>
              <a:t>اقدام</a:t>
            </a:r>
            <a:endParaRPr lang="fa-IR" sz="2200" dirty="0"/>
          </a:p>
        </p:txBody>
      </p:sp>
      <p:sp>
        <p:nvSpPr>
          <p:cNvPr id="12" name="rule"/>
          <p:cNvSpPr/>
          <p:nvPr/>
        </p:nvSpPr>
        <p:spPr>
          <a:xfrm>
            <a:off x="6099048" y="2103120"/>
            <a:ext cx="0" cy="3474720"/>
          </a:xfrm>
          <a:prstGeom prst="line">
            <a:avLst/>
          </a:prstGeom>
          <a:noFill/>
          <a:ln w="9525">
            <a:solidFill>
              <a:schemeClr val="accent4"/>
            </a:solidFill>
            <a:prstDash val="solid"/>
          </a:ln>
        </p:spPr>
      </p:sp>
      <p:sp>
        <p:nvSpPr>
          <p:cNvPr id="13" name="Text 10"/>
          <p:cNvSpPr txBox="1"/>
          <p:nvPr/>
        </p:nvSpPr>
        <p:spPr>
          <a:xfrm>
            <a:off x="1965960" y="2011680"/>
            <a:ext cx="3657600" cy="365760"/>
          </a:xfrm>
          <a:prstGeom prst="rect">
            <a:avLst/>
          </a:prstGeom>
          <a:noFill/>
          <a:ln/>
        </p:spPr>
        <p:txBody>
          <a:bodyPr wrap="square" lIns="0" tIns="0" rIns="0" bIns="0" rtlCol="0" anchor="t"/>
          <a:lstStyle/>
          <a:p>
            <a:pPr rtl="1" algn="ctr" indent="0" marL="0">
              <a:buNone/>
            </a:pPr>
            <a:r>
              <a:rPr lang="fa-IR" altLang="en-US" sz="1800" b="1" dirty="0">
                <a:solidFill>
                  <a:schemeClr val="accent1"/>
                </a:solidFill>
                <a:latin typeface="Arial" pitchFamily="34" charset="0"/>
                <a:cs typeface="Arial" pitchFamily="34" charset="178"/>
              </a:rPr>
              <a:t>مسیر دوم</a:t>
            </a:r>
            <a:endParaRPr lang="fa-IR" sz="1800" dirty="0"/>
          </a:p>
        </p:txBody>
      </p:sp>
      <p:sp>
        <p:nvSpPr>
          <p:cNvPr id="14" name="Text 11"/>
          <p:cNvSpPr txBox="1"/>
          <p:nvPr/>
        </p:nvSpPr>
        <p:spPr>
          <a:xfrm>
            <a:off x="1965960" y="2606040"/>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اتفاق</a:t>
            </a:r>
            <a:endParaRPr lang="fa-IR" sz="2200" dirty="0"/>
          </a:p>
        </p:txBody>
      </p:sp>
      <p:sp>
        <p:nvSpPr>
          <p:cNvPr id="15" name="arrow"/>
          <p:cNvSpPr/>
          <p:nvPr/>
        </p:nvSpPr>
        <p:spPr>
          <a:xfrm>
            <a:off x="3794760" y="3072384"/>
            <a:ext cx="0" cy="182880"/>
          </a:xfrm>
          <a:prstGeom prst="line">
            <a:avLst/>
          </a:prstGeom>
          <a:noFill/>
          <a:ln w="12700">
            <a:solidFill>
              <a:schemeClr val="accent1"/>
            </a:solidFill>
            <a:prstDash val="solid"/>
            <a:tailEnd type="arrow"/>
          </a:ln>
        </p:spPr>
      </p:sp>
      <p:sp>
        <p:nvSpPr>
          <p:cNvPr id="16" name="Text 13"/>
          <p:cNvSpPr txBox="1"/>
          <p:nvPr/>
        </p:nvSpPr>
        <p:spPr>
          <a:xfrm>
            <a:off x="1965960" y="3300984"/>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شرم / ترس</a:t>
            </a:r>
            <a:endParaRPr lang="fa-IR" sz="2200" dirty="0"/>
          </a:p>
        </p:txBody>
      </p:sp>
      <p:sp>
        <p:nvSpPr>
          <p:cNvPr id="17" name="arrow"/>
          <p:cNvSpPr/>
          <p:nvPr/>
        </p:nvSpPr>
        <p:spPr>
          <a:xfrm>
            <a:off x="3794760" y="3767328"/>
            <a:ext cx="0" cy="182880"/>
          </a:xfrm>
          <a:prstGeom prst="line">
            <a:avLst/>
          </a:prstGeom>
          <a:noFill/>
          <a:ln w="12700">
            <a:solidFill>
              <a:schemeClr val="accent1"/>
            </a:solidFill>
            <a:prstDash val="solid"/>
            <a:tailEnd type="arrow"/>
          </a:ln>
        </p:spPr>
      </p:sp>
      <p:sp>
        <p:nvSpPr>
          <p:cNvPr id="18" name="Text 15"/>
          <p:cNvSpPr txBox="1"/>
          <p:nvPr/>
        </p:nvSpPr>
        <p:spPr>
          <a:xfrm>
            <a:off x="1965960" y="3995928"/>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خودسرزنشی</a:t>
            </a:r>
            <a:endParaRPr lang="fa-IR" sz="2200" dirty="0"/>
          </a:p>
        </p:txBody>
      </p:sp>
      <p:sp>
        <p:nvSpPr>
          <p:cNvPr id="19" name="arrow"/>
          <p:cNvSpPr/>
          <p:nvPr/>
        </p:nvSpPr>
        <p:spPr>
          <a:xfrm>
            <a:off x="3794760" y="4462272"/>
            <a:ext cx="0" cy="182880"/>
          </a:xfrm>
          <a:prstGeom prst="line">
            <a:avLst/>
          </a:prstGeom>
          <a:noFill/>
          <a:ln w="12700">
            <a:solidFill>
              <a:schemeClr val="accent1"/>
            </a:solidFill>
            <a:prstDash val="solid"/>
            <a:tailEnd type="arrow"/>
          </a:ln>
        </p:spPr>
      </p:sp>
      <p:sp>
        <p:nvSpPr>
          <p:cNvPr id="20" name="Text 17"/>
          <p:cNvSpPr txBox="1"/>
          <p:nvPr/>
        </p:nvSpPr>
        <p:spPr>
          <a:xfrm>
            <a:off x="1965960" y="4690872"/>
            <a:ext cx="3657600" cy="420624"/>
          </a:xfrm>
          <a:prstGeom prst="rect">
            <a:avLst/>
          </a:prstGeom>
          <a:noFill/>
          <a:ln/>
        </p:spPr>
        <p:txBody>
          <a:bodyPr wrap="square" lIns="0" tIns="0" rIns="0" bIns="0" rtlCol="0" anchor="ctr"/>
          <a:lstStyle/>
          <a:p>
            <a:pPr rtl="1" algn="ctr" indent="0" marL="0">
              <a:buNone/>
            </a:pPr>
            <a:r>
              <a:rPr lang="fa-IR" altLang="en-US" sz="2200" dirty="0">
                <a:solidFill>
                  <a:schemeClr val="tx1"/>
                </a:solidFill>
                <a:latin typeface="Arial" pitchFamily="34" charset="0"/>
                <a:cs typeface="Arial" pitchFamily="34" charset="178"/>
              </a:rPr>
              <a:t>نشخوار</a:t>
            </a:r>
            <a:endParaRPr lang="fa-IR" sz="2200" dirty="0"/>
          </a:p>
        </p:txBody>
      </p:sp>
      <p:sp>
        <p:nvSpPr>
          <p:cNvPr id="21" name="arrow"/>
          <p:cNvSpPr/>
          <p:nvPr/>
        </p:nvSpPr>
        <p:spPr>
          <a:xfrm>
            <a:off x="3794760" y="5157216"/>
            <a:ext cx="0" cy="182880"/>
          </a:xfrm>
          <a:prstGeom prst="line">
            <a:avLst/>
          </a:prstGeom>
          <a:noFill/>
          <a:ln w="12700">
            <a:solidFill>
              <a:schemeClr val="accent1"/>
            </a:solidFill>
            <a:prstDash val="solid"/>
            <a:tailEnd type="arrow"/>
          </a:ln>
        </p:spPr>
      </p:sp>
      <p:sp>
        <p:nvSpPr>
          <p:cNvPr id="22" name="Text 19"/>
          <p:cNvSpPr txBox="1"/>
          <p:nvPr/>
        </p:nvSpPr>
        <p:spPr>
          <a:xfrm>
            <a:off x="1965960" y="5385816"/>
            <a:ext cx="3657600" cy="420624"/>
          </a:xfrm>
          <a:prstGeom prst="rect">
            <a:avLst/>
          </a:prstGeom>
          <a:noFill/>
          <a:ln/>
        </p:spPr>
        <p:txBody>
          <a:bodyPr wrap="square" lIns="0" tIns="0" rIns="0" bIns="0" rtlCol="0" anchor="ctr"/>
          <a:lstStyle/>
          <a:p>
            <a:pPr rtl="1" algn="ctr" indent="0" marL="0">
              <a:buNone/>
            </a:pPr>
            <a:r>
              <a:rPr lang="fa-IR" altLang="en-US" sz="2200" b="1" dirty="0">
                <a:solidFill>
                  <a:schemeClr val="accent1"/>
                </a:solidFill>
                <a:latin typeface="Arial" pitchFamily="34" charset="0"/>
                <a:cs typeface="Arial" pitchFamily="34" charset="178"/>
              </a:rPr>
              <a:t>حمله به خود</a:t>
            </a:r>
            <a:endParaRPr lang="fa-IR" sz="2200" dirty="0"/>
          </a:p>
        </p:txBody>
      </p:sp>
      <p:sp>
        <p:nvSpPr>
          <p:cNvPr id="23" name="Text 20"/>
          <p:cNvSpPr txBox="1"/>
          <p:nvPr/>
        </p:nvSpPr>
        <p:spPr>
          <a:xfrm>
            <a:off x="822960" y="5897880"/>
            <a:ext cx="10545775" cy="365760"/>
          </a:xfrm>
          <a:prstGeom prst="rect">
            <a:avLst/>
          </a:prstGeom>
          <a:noFill/>
          <a:ln/>
        </p:spPr>
        <p:txBody>
          <a:bodyPr wrap="square" lIns="0" tIns="0" rIns="0" bIns="0" rtlCol="0" anchor="ctr"/>
          <a:lstStyle/>
          <a:p>
            <a:pPr rtl="1" algn="r" indent="0" marL="0">
              <a:buNone/>
            </a:pPr>
            <a:r>
              <a:rPr lang="fa-IR" altLang="en-US" sz="1400" dirty="0">
                <a:solidFill>
                  <a:schemeClr val="accent5"/>
                </a:solidFill>
                <a:latin typeface="Arial" pitchFamily="34" charset="0"/>
                <a:cs typeface="Arial" pitchFamily="34" charset="178"/>
              </a:rPr>
              <a:t>چارچوب آموزشی وبینار؛ نه یک مدل واحد منتشرشده</a:t>
            </a:r>
            <a:endParaRPr lang="fa-IR" sz="1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7223760" y="868680"/>
            <a:ext cx="4114800" cy="1371600"/>
          </a:xfrm>
          <a:prstGeom prst="rect">
            <a:avLst/>
          </a:prstGeom>
          <a:noFill/>
          <a:ln/>
        </p:spPr>
        <p:txBody>
          <a:bodyPr wrap="square" lIns="0" tIns="0" rIns="0" bIns="0" rtlCol="0" anchor="ctr"/>
          <a:lstStyle/>
          <a:p>
            <a:pPr rtl="1" algn="ctr" indent="0" marL="0">
              <a:buNone/>
            </a:pPr>
            <a:r>
              <a:rPr lang="fa-IR" altLang="en-US" sz="6600" b="1" dirty="0">
                <a:solidFill>
                  <a:schemeClr val="accent1"/>
                </a:solidFill>
                <a:latin typeface="Arial" pitchFamily="34" charset="0"/>
                <a:cs typeface="Arial" pitchFamily="34" charset="178"/>
              </a:rPr>
              <a:t>خشم</a:t>
            </a:r>
            <a:endParaRPr lang="fa-IR" sz="6600" dirty="0"/>
          </a:p>
        </p:txBody>
      </p:sp>
      <p:sp>
        <p:nvSpPr>
          <p:cNvPr id="4" name="Text 1"/>
          <p:cNvSpPr txBox="1"/>
          <p:nvPr/>
        </p:nvSpPr>
        <p:spPr>
          <a:xfrm>
            <a:off x="5394960" y="868680"/>
            <a:ext cx="1371600" cy="1371600"/>
          </a:xfrm>
          <a:prstGeom prst="rect">
            <a:avLst/>
          </a:prstGeom>
          <a:noFill/>
          <a:ln/>
        </p:spPr>
        <p:txBody>
          <a:bodyPr wrap="square" lIns="0" tIns="0" rIns="0" bIns="0" rtlCol="0" anchor="ctr"/>
          <a:lstStyle/>
          <a:p>
            <a:pPr rtl="1" algn="ctr" indent="0" marL="0">
              <a:buNone/>
            </a:pPr>
            <a:r>
              <a:rPr lang="fa-IR" altLang="en-US" sz="6000" dirty="0">
                <a:solidFill>
                  <a:schemeClr val="accent6"/>
                </a:solidFill>
                <a:latin typeface="Arial" pitchFamily="34" charset="0"/>
                <a:cs typeface="Arial" pitchFamily="34" charset="178"/>
              </a:rPr>
              <a:t>≠</a:t>
            </a:r>
            <a:endParaRPr lang="fa-IR" sz="6000" dirty="0"/>
          </a:p>
        </p:txBody>
      </p:sp>
      <p:sp>
        <p:nvSpPr>
          <p:cNvPr id="5" name="Text 2"/>
          <p:cNvSpPr txBox="1"/>
          <p:nvPr/>
        </p:nvSpPr>
        <p:spPr>
          <a:xfrm>
            <a:off x="850392" y="868680"/>
            <a:ext cx="4114800" cy="1371600"/>
          </a:xfrm>
          <a:prstGeom prst="rect">
            <a:avLst/>
          </a:prstGeom>
          <a:noFill/>
          <a:ln/>
        </p:spPr>
        <p:txBody>
          <a:bodyPr wrap="square" lIns="0" tIns="0" rIns="0" bIns="0" rtlCol="0" anchor="ctr"/>
          <a:lstStyle/>
          <a:p>
            <a:pPr rtl="1" algn="ctr" indent="0" marL="0">
              <a:buNone/>
            </a:pPr>
            <a:r>
              <a:rPr lang="fa-IR" altLang="en-US" sz="6600" b="1" dirty="0">
                <a:solidFill>
                  <a:schemeClr val="accent5"/>
                </a:solidFill>
                <a:latin typeface="Arial" pitchFamily="34" charset="0"/>
                <a:cs typeface="Arial" pitchFamily="34" charset="178"/>
              </a:rPr>
              <a:t>پرخاشگری</a:t>
            </a:r>
            <a:endParaRPr lang="fa-IR" sz="6600" dirty="0"/>
          </a:p>
        </p:txBody>
      </p:sp>
      <p:sp>
        <p:nvSpPr>
          <p:cNvPr id="6" name="Text 3"/>
          <p:cNvSpPr txBox="1"/>
          <p:nvPr/>
        </p:nvSpPr>
        <p:spPr>
          <a:xfrm>
            <a:off x="822960" y="2788920"/>
            <a:ext cx="10545775" cy="731520"/>
          </a:xfrm>
          <a:prstGeom prst="rect">
            <a:avLst/>
          </a:prstGeom>
          <a:noFill/>
          <a:ln/>
        </p:spPr>
        <p:txBody>
          <a:bodyPr wrap="square" lIns="0" tIns="0" rIns="0" bIns="0" rtlCol="0" anchor="ctr"/>
          <a:lstStyle/>
          <a:p>
            <a:pPr rtl="1" algn="ctr" indent="0" marL="0">
              <a:buNone/>
            </a:pPr>
            <a:r>
              <a:rPr lang="fa-IR" altLang="en-US" sz="3200" dirty="0">
                <a:solidFill>
                  <a:schemeClr val="tx1"/>
                </a:solidFill>
                <a:latin typeface="Arial" pitchFamily="34" charset="0"/>
                <a:cs typeface="Arial" pitchFamily="34" charset="178"/>
              </a:rPr>
              <a:t>خشم می‌تواند یک «اطلاعات» باشد.</a:t>
            </a:r>
            <a:endParaRPr lang="fa-IR" sz="3200" dirty="0"/>
          </a:p>
        </p:txBody>
      </p:sp>
      <p:sp>
        <p:nvSpPr>
          <p:cNvPr id="7" name="Text 4"/>
          <p:cNvSpPr txBox="1"/>
          <p:nvPr/>
        </p:nvSpPr>
        <p:spPr>
          <a:xfrm>
            <a:off x="8625535" y="4023360"/>
            <a:ext cx="2743200" cy="1005840"/>
          </a:xfrm>
          <a:prstGeom prst="rect">
            <a:avLst/>
          </a:prstGeom>
          <a:noFill/>
          <a:ln/>
        </p:spPr>
        <p:txBody>
          <a:bodyPr wrap="square" lIns="0" tIns="0" rIns="0" bIns="0" rtlCol="0" anchor="t"/>
          <a:lstStyle/>
          <a:p>
            <a:pPr rtl="1" algn="ctr" indent="0" marL="0">
              <a:buNone/>
            </a:pPr>
            <a:r>
              <a:rPr lang="fa-IR" altLang="en-US" sz="1800" dirty="0">
                <a:solidFill>
                  <a:schemeClr val="accent3"/>
                </a:solidFill>
                <a:latin typeface="Arial" pitchFamily="34" charset="0"/>
                <a:cs typeface="Arial" pitchFamily="34" charset="178"/>
              </a:rPr>
              <a:t>ممکن است از یک مرز</a:t>
            </a:r>
            <a:endParaRPr lang="fa-IR" sz="1800" dirty="0"/>
          </a:p>
          <a:p>
            <a:pPr rtl="1" algn="ctr" indent="0" marL="0">
              <a:buNone/>
            </a:pPr>
            <a:r>
              <a:rPr lang="fa-IR" altLang="en-US" sz="1800" dirty="0">
                <a:solidFill>
                  <a:schemeClr val="accent3"/>
                </a:solidFill>
                <a:latin typeface="Arial" pitchFamily="34" charset="0"/>
                <a:cs typeface="Arial" pitchFamily="34" charset="178"/>
              </a:rPr>
              <a:t>خبر بدهد.</a:t>
            </a:r>
            <a:endParaRPr lang="fa-IR" sz="1800" dirty="0"/>
          </a:p>
        </p:txBody>
      </p:sp>
      <p:sp>
        <p:nvSpPr>
          <p:cNvPr id="8" name="Text 5"/>
          <p:cNvSpPr txBox="1"/>
          <p:nvPr/>
        </p:nvSpPr>
        <p:spPr>
          <a:xfrm>
            <a:off x="4724248" y="4023360"/>
            <a:ext cx="2743200" cy="1005840"/>
          </a:xfrm>
          <a:prstGeom prst="rect">
            <a:avLst/>
          </a:prstGeom>
          <a:noFill/>
          <a:ln/>
        </p:spPr>
        <p:txBody>
          <a:bodyPr wrap="square" lIns="0" tIns="0" rIns="0" bIns="0" rtlCol="0" anchor="t"/>
          <a:lstStyle/>
          <a:p>
            <a:pPr rtl="1" algn="ctr" indent="0" marL="0">
              <a:buNone/>
            </a:pPr>
            <a:r>
              <a:rPr lang="fa-IR" altLang="en-US" sz="1800" dirty="0">
                <a:solidFill>
                  <a:schemeClr val="accent3"/>
                </a:solidFill>
                <a:latin typeface="Arial" pitchFamily="34" charset="0"/>
                <a:cs typeface="Arial" pitchFamily="34" charset="178"/>
              </a:rPr>
              <a:t>ممکن است یک نیاز</a:t>
            </a:r>
            <a:endParaRPr lang="fa-IR" sz="1800" dirty="0"/>
          </a:p>
          <a:p>
            <a:pPr rtl="1" algn="ctr" indent="0" marL="0">
              <a:buNone/>
            </a:pPr>
            <a:r>
              <a:rPr lang="fa-IR" altLang="en-US" sz="1800" dirty="0">
                <a:solidFill>
                  <a:schemeClr val="accent3"/>
                </a:solidFill>
                <a:latin typeface="Arial" pitchFamily="34" charset="0"/>
                <a:cs typeface="Arial" pitchFamily="34" charset="178"/>
              </a:rPr>
              <a:t>مهم را نشان دهد.</a:t>
            </a:r>
            <a:endParaRPr lang="fa-IR" sz="1800" dirty="0"/>
          </a:p>
        </p:txBody>
      </p:sp>
      <p:sp>
        <p:nvSpPr>
          <p:cNvPr id="9" name="Text 6"/>
          <p:cNvSpPr txBox="1"/>
          <p:nvPr/>
        </p:nvSpPr>
        <p:spPr>
          <a:xfrm>
            <a:off x="822960" y="4023360"/>
            <a:ext cx="2743200" cy="1005840"/>
          </a:xfrm>
          <a:prstGeom prst="rect">
            <a:avLst/>
          </a:prstGeom>
          <a:noFill/>
          <a:ln/>
        </p:spPr>
        <p:txBody>
          <a:bodyPr wrap="square" lIns="0" tIns="0" rIns="0" bIns="0" rtlCol="0" anchor="t"/>
          <a:lstStyle/>
          <a:p>
            <a:pPr rtl="1" algn="ctr" indent="0" marL="0">
              <a:buNone/>
            </a:pPr>
            <a:r>
              <a:rPr lang="fa-IR" altLang="en-US" sz="1800" dirty="0">
                <a:solidFill>
                  <a:schemeClr val="accent3"/>
                </a:solidFill>
                <a:latin typeface="Arial" pitchFamily="34" charset="0"/>
                <a:cs typeface="Arial" pitchFamily="34" charset="178"/>
              </a:rPr>
              <a:t>ممکن است ما را به سمت</a:t>
            </a:r>
            <a:endParaRPr lang="fa-IR" sz="1800" dirty="0"/>
          </a:p>
          <a:p>
            <a:pPr rtl="1" algn="ctr" indent="0" marL="0">
              <a:buNone/>
            </a:pPr>
            <a:r>
              <a:rPr lang="fa-IR" altLang="en-US" sz="1800" dirty="0">
                <a:solidFill>
                  <a:schemeClr val="accent3"/>
                </a:solidFill>
                <a:latin typeface="Arial" pitchFamily="34" charset="0"/>
                <a:cs typeface="Arial" pitchFamily="34" charset="178"/>
              </a:rPr>
              <a:t>اقدام هدایت کند.</a:t>
            </a:r>
            <a:endParaRPr lang="fa-IR" sz="1800" dirty="0"/>
          </a:p>
        </p:txBody>
      </p:sp>
      <p:sp>
        <p:nvSpPr>
          <p:cNvPr id="10" name="Text 7"/>
          <p:cNvSpPr txBox="1"/>
          <p:nvPr/>
        </p:nvSpPr>
        <p:spPr>
          <a:xfrm>
            <a:off x="822960" y="5669280"/>
            <a:ext cx="10545775" cy="365760"/>
          </a:xfrm>
          <a:prstGeom prst="rect">
            <a:avLst/>
          </a:prstGeom>
          <a:noFill/>
          <a:ln/>
        </p:spPr>
        <p:txBody>
          <a:bodyPr wrap="square" lIns="0" tIns="0" rIns="0" bIns="0" rtlCol="0" anchor="ctr"/>
          <a:lstStyle/>
          <a:p>
            <a:pPr rtl="1" algn="ctr" indent="0" marL="0">
              <a:buNone/>
            </a:pPr>
            <a:r>
              <a:rPr lang="fa-IR" altLang="en-US" sz="1500" dirty="0">
                <a:solidFill>
                  <a:schemeClr val="accent5"/>
                </a:solidFill>
                <a:latin typeface="Arial" pitchFamily="34" charset="0"/>
                <a:cs typeface="Arial" pitchFamily="34" charset="178"/>
              </a:rPr>
              <a:t>اما خشم به‌خودی‌خود مجوز رفتار آسیب‌زننده نیست.</a:t>
            </a:r>
            <a:endParaRPr lang="fa-IR" sz="15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سه پژوهش؛ سه قطعه از یک پازل</a:t>
            </a:r>
            <a:endParaRPr lang="fa-IR" sz="3200" dirty="0"/>
          </a:p>
        </p:txBody>
      </p:sp>
      <p:sp>
        <p:nvSpPr>
          <p:cNvPr id="4" name="card"/>
          <p:cNvSpPr/>
          <p:nvPr/>
        </p:nvSpPr>
        <p:spPr>
          <a:xfrm>
            <a:off x="8076895" y="2057400"/>
            <a:ext cx="3291840" cy="3246120"/>
          </a:xfrm>
          <a:prstGeom prst="roundRect">
            <a:avLst>
              <a:gd name="adj" fmla="val 2817"/>
            </a:avLst>
          </a:prstGeom>
          <a:solidFill>
            <a:schemeClr val="bg2"/>
          </a:solidFill>
          <a:ln w="9525">
            <a:solidFill>
              <a:schemeClr val="accent4"/>
            </a:solidFill>
            <a:prstDash val="solid"/>
          </a:ln>
        </p:spPr>
      </p:sp>
      <p:sp>
        <p:nvSpPr>
          <p:cNvPr id="5" name="Text 2"/>
          <p:cNvSpPr txBox="1"/>
          <p:nvPr/>
        </p:nvSpPr>
        <p:spPr>
          <a:xfrm>
            <a:off x="8351215" y="2331720"/>
            <a:ext cx="2743200" cy="640080"/>
          </a:xfrm>
          <a:prstGeom prst="rect">
            <a:avLst/>
          </a:prstGeom>
          <a:noFill/>
          <a:ln/>
        </p:spPr>
        <p:txBody>
          <a:bodyPr wrap="square" lIns="0" tIns="0" rIns="0" bIns="0" rtlCol="0" anchor="t"/>
          <a:lstStyle/>
          <a:p>
            <a:pPr rtl="1" algn="r" indent="0" marL="0">
              <a:buNone/>
            </a:pPr>
            <a:r>
              <a:rPr lang="fa-IR" altLang="en-US" sz="3600" b="1" dirty="0">
                <a:solidFill>
                  <a:schemeClr val="accent1"/>
                </a:solidFill>
                <a:latin typeface="Arial" pitchFamily="34" charset="0"/>
                <a:cs typeface="Arial" pitchFamily="34" charset="178"/>
              </a:rPr>
              <a:t>۲۰۲۵</a:t>
            </a:r>
            <a:endParaRPr lang="fa-IR" sz="3600" dirty="0"/>
          </a:p>
        </p:txBody>
      </p:sp>
      <p:sp>
        <p:nvSpPr>
          <p:cNvPr id="6" name="Text 3"/>
          <p:cNvSpPr txBox="1"/>
          <p:nvPr/>
        </p:nvSpPr>
        <p:spPr>
          <a:xfrm>
            <a:off x="8351215" y="3017520"/>
            <a:ext cx="2743200" cy="274320"/>
          </a:xfrm>
          <a:prstGeom prst="rect">
            <a:avLst/>
          </a:prstGeom>
          <a:noFill/>
          <a:ln/>
        </p:spPr>
        <p:txBody>
          <a:bodyPr wrap="square" lIns="0" tIns="0" rIns="0" bIns="0" rtlCol="0" anchor="t"/>
          <a:lstStyle/>
          <a:p>
            <a:pPr algn="r" indent="0" marL="0">
              <a:buNone/>
            </a:pPr>
            <a:r>
              <a:rPr lang="en-US" altLang="en-US" sz="1400" dirty="0">
                <a:solidFill>
                  <a:schemeClr val="accent5"/>
                </a:solidFill>
                <a:latin typeface="Arial" pitchFamily="34" charset="0"/>
                <a:cs typeface="Arial" pitchFamily="34" charset="178"/>
              </a:rPr>
              <a:t>BMC Psychology</a:t>
            </a:r>
            <a:endParaRPr lang="en-US" sz="1400" dirty="0"/>
          </a:p>
        </p:txBody>
      </p:sp>
      <p:sp>
        <p:nvSpPr>
          <p:cNvPr id="7" name="Text 4"/>
          <p:cNvSpPr txBox="1"/>
          <p:nvPr/>
        </p:nvSpPr>
        <p:spPr>
          <a:xfrm>
            <a:off x="8351215" y="3337560"/>
            <a:ext cx="2743200" cy="274320"/>
          </a:xfrm>
          <a:prstGeom prst="rect">
            <a:avLst/>
          </a:prstGeom>
          <a:noFill/>
          <a:ln/>
        </p:spPr>
        <p:txBody>
          <a:bodyPr wrap="square" lIns="0" tIns="0" rIns="0" bIns="0" rtlCol="0" anchor="t"/>
          <a:lstStyle/>
          <a:p>
            <a:pPr algn="r" indent="0" marL="0">
              <a:buNone/>
            </a:pPr>
            <a:r>
              <a:rPr lang="en-US" altLang="en-US" sz="1400" dirty="0">
                <a:solidFill>
                  <a:schemeClr val="tx1"/>
                </a:solidFill>
                <a:latin typeface="Arial" pitchFamily="34" charset="0"/>
                <a:cs typeface="Arial" pitchFamily="34" charset="178"/>
              </a:rPr>
              <a:t>Šoková et al.</a:t>
            </a:r>
            <a:endParaRPr lang="en-US" sz="1400" dirty="0"/>
          </a:p>
        </p:txBody>
      </p:sp>
      <p:sp>
        <p:nvSpPr>
          <p:cNvPr id="8" name="Text 5"/>
          <p:cNvSpPr txBox="1"/>
          <p:nvPr/>
        </p:nvSpPr>
        <p:spPr>
          <a:xfrm>
            <a:off x="8351215" y="3840480"/>
            <a:ext cx="2743200" cy="822960"/>
          </a:xfrm>
          <a:prstGeom prst="rect">
            <a:avLst/>
          </a:prstGeom>
          <a:noFill/>
          <a:ln/>
        </p:spPr>
        <p:txBody>
          <a:bodyPr wrap="square" lIns="0" tIns="0" rIns="0" bIns="0" rtlCol="0" anchor="t"/>
          <a:lstStyle/>
          <a:p>
            <a:pPr algn="r" indent="0" marL="0">
              <a:buNone/>
            </a:pPr>
            <a:r>
              <a:rPr lang="en-US" altLang="en-US" sz="2000" b="1" dirty="0">
                <a:solidFill>
                  <a:schemeClr val="accent2"/>
                </a:solidFill>
                <a:latin typeface="Arial" pitchFamily="34" charset="0"/>
                <a:cs typeface="Arial" pitchFamily="34" charset="178"/>
              </a:rPr>
              <a:t>Inner Critic</a:t>
            </a:r>
            <a:endParaRPr lang="en-US" sz="2000" dirty="0"/>
          </a:p>
          <a:p>
            <a:pPr algn="r" indent="0" marL="0">
              <a:buNone/>
            </a:pPr>
            <a:r>
              <a:rPr lang="en-US" altLang="en-US" sz="2000" b="1" dirty="0">
                <a:solidFill>
                  <a:schemeClr val="accent2"/>
                </a:solidFill>
                <a:latin typeface="Arial" pitchFamily="34" charset="0"/>
                <a:cs typeface="Arial" pitchFamily="34" charset="178"/>
              </a:rPr>
              <a:t>Self-Criticism</a:t>
            </a:r>
            <a:endParaRPr lang="en-US" sz="2000" dirty="0"/>
          </a:p>
        </p:txBody>
      </p:sp>
      <p:sp>
        <p:nvSpPr>
          <p:cNvPr id="9" name="Text 6"/>
          <p:cNvSpPr txBox="1"/>
          <p:nvPr/>
        </p:nvSpPr>
        <p:spPr>
          <a:xfrm>
            <a:off x="8351215" y="4709160"/>
            <a:ext cx="2743200" cy="320040"/>
          </a:xfrm>
          <a:prstGeom prst="rect">
            <a:avLst/>
          </a:prstGeom>
          <a:noFill/>
          <a:ln/>
        </p:spPr>
        <p:txBody>
          <a:bodyPr wrap="square" lIns="0" tIns="0" rIns="0" bIns="0" rtlCol="0" anchor="t"/>
          <a:lstStyle/>
          <a:p>
            <a:pPr rtl="1" algn="r" indent="0" marL="0">
              <a:buNone/>
            </a:pPr>
            <a:r>
              <a:rPr lang="fa-IR" altLang="en-US" sz="1400" dirty="0">
                <a:solidFill>
                  <a:schemeClr val="accent5"/>
                </a:solidFill>
                <a:latin typeface="Arial" pitchFamily="34" charset="0"/>
                <a:cs typeface="Arial" pitchFamily="34" charset="178"/>
              </a:rPr>
              <a:t>پژوهش کیفی</a:t>
            </a:r>
            <a:endParaRPr lang="fa-IR" sz="1400" dirty="0"/>
          </a:p>
        </p:txBody>
      </p:sp>
      <p:sp>
        <p:nvSpPr>
          <p:cNvPr id="10" name="card"/>
          <p:cNvSpPr/>
          <p:nvPr/>
        </p:nvSpPr>
        <p:spPr>
          <a:xfrm>
            <a:off x="4449470" y="2057400"/>
            <a:ext cx="3291840" cy="3246120"/>
          </a:xfrm>
          <a:prstGeom prst="roundRect">
            <a:avLst>
              <a:gd name="adj" fmla="val 2817"/>
            </a:avLst>
          </a:prstGeom>
          <a:solidFill>
            <a:schemeClr val="bg2"/>
          </a:solidFill>
          <a:ln w="9525">
            <a:solidFill>
              <a:schemeClr val="accent4"/>
            </a:solidFill>
            <a:prstDash val="solid"/>
          </a:ln>
        </p:spPr>
      </p:sp>
      <p:sp>
        <p:nvSpPr>
          <p:cNvPr id="11" name="Text 8"/>
          <p:cNvSpPr txBox="1"/>
          <p:nvPr/>
        </p:nvSpPr>
        <p:spPr>
          <a:xfrm>
            <a:off x="4723790" y="2331720"/>
            <a:ext cx="2743200" cy="640080"/>
          </a:xfrm>
          <a:prstGeom prst="rect">
            <a:avLst/>
          </a:prstGeom>
          <a:noFill/>
          <a:ln/>
        </p:spPr>
        <p:txBody>
          <a:bodyPr wrap="square" lIns="0" tIns="0" rIns="0" bIns="0" rtlCol="0" anchor="t"/>
          <a:lstStyle/>
          <a:p>
            <a:pPr rtl="1" algn="r" indent="0" marL="0">
              <a:buNone/>
            </a:pPr>
            <a:r>
              <a:rPr lang="fa-IR" altLang="en-US" sz="3600" b="1" dirty="0">
                <a:solidFill>
                  <a:schemeClr val="accent1"/>
                </a:solidFill>
                <a:latin typeface="Arial" pitchFamily="34" charset="0"/>
                <a:cs typeface="Arial" pitchFamily="34" charset="178"/>
              </a:rPr>
              <a:t>۲۰۲۶</a:t>
            </a:r>
            <a:endParaRPr lang="fa-IR" sz="3600" dirty="0"/>
          </a:p>
        </p:txBody>
      </p:sp>
      <p:sp>
        <p:nvSpPr>
          <p:cNvPr id="12" name="Text 9"/>
          <p:cNvSpPr txBox="1"/>
          <p:nvPr/>
        </p:nvSpPr>
        <p:spPr>
          <a:xfrm>
            <a:off x="4723790" y="3017520"/>
            <a:ext cx="2743200" cy="274320"/>
          </a:xfrm>
          <a:prstGeom prst="rect">
            <a:avLst/>
          </a:prstGeom>
          <a:noFill/>
          <a:ln/>
        </p:spPr>
        <p:txBody>
          <a:bodyPr wrap="square" lIns="0" tIns="0" rIns="0" bIns="0" rtlCol="0" anchor="t"/>
          <a:lstStyle/>
          <a:p>
            <a:pPr algn="r" indent="0" marL="0">
              <a:buNone/>
            </a:pPr>
            <a:r>
              <a:rPr lang="en-US" altLang="en-US" sz="1400" dirty="0">
                <a:solidFill>
                  <a:schemeClr val="accent5"/>
                </a:solidFill>
                <a:latin typeface="Arial" pitchFamily="34" charset="0"/>
                <a:cs typeface="Arial" pitchFamily="34" charset="178"/>
              </a:rPr>
              <a:t>Frontiers in Psychiatry</a:t>
            </a:r>
            <a:endParaRPr lang="en-US" sz="1400" dirty="0"/>
          </a:p>
        </p:txBody>
      </p:sp>
      <p:sp>
        <p:nvSpPr>
          <p:cNvPr id="13" name="Text 10"/>
          <p:cNvSpPr txBox="1"/>
          <p:nvPr/>
        </p:nvSpPr>
        <p:spPr>
          <a:xfrm>
            <a:off x="4723790" y="3337560"/>
            <a:ext cx="2743200" cy="274320"/>
          </a:xfrm>
          <a:prstGeom prst="rect">
            <a:avLst/>
          </a:prstGeom>
          <a:noFill/>
          <a:ln/>
        </p:spPr>
        <p:txBody>
          <a:bodyPr wrap="square" lIns="0" tIns="0" rIns="0" bIns="0" rtlCol="0" anchor="t"/>
          <a:lstStyle/>
          <a:p>
            <a:pPr algn="r" indent="0" marL="0">
              <a:buNone/>
            </a:pPr>
            <a:r>
              <a:rPr lang="en-US" altLang="en-US" sz="1400" dirty="0">
                <a:solidFill>
                  <a:schemeClr val="tx1"/>
                </a:solidFill>
                <a:latin typeface="Arial" pitchFamily="34" charset="0"/>
                <a:cs typeface="Arial" pitchFamily="34" charset="178"/>
              </a:rPr>
              <a:t>Oblak et al.</a:t>
            </a:r>
            <a:endParaRPr lang="en-US" sz="1400" dirty="0"/>
          </a:p>
        </p:txBody>
      </p:sp>
      <p:sp>
        <p:nvSpPr>
          <p:cNvPr id="14" name="Text 11"/>
          <p:cNvSpPr txBox="1"/>
          <p:nvPr/>
        </p:nvSpPr>
        <p:spPr>
          <a:xfrm>
            <a:off x="4723790" y="3840480"/>
            <a:ext cx="2743200" cy="822960"/>
          </a:xfrm>
          <a:prstGeom prst="rect">
            <a:avLst/>
          </a:prstGeom>
          <a:noFill/>
          <a:ln/>
        </p:spPr>
        <p:txBody>
          <a:bodyPr wrap="square" lIns="0" tIns="0" rIns="0" bIns="0" rtlCol="0" anchor="t"/>
          <a:lstStyle/>
          <a:p>
            <a:pPr algn="r" indent="0" marL="0">
              <a:buNone/>
            </a:pPr>
            <a:r>
              <a:rPr lang="en-US" altLang="en-US" sz="2000" b="1" dirty="0">
                <a:solidFill>
                  <a:schemeClr val="accent2"/>
                </a:solidFill>
                <a:latin typeface="Arial" pitchFamily="34" charset="0"/>
                <a:cs typeface="Arial" pitchFamily="34" charset="178"/>
              </a:rPr>
              <a:t>Rumination</a:t>
            </a:r>
            <a:endParaRPr lang="en-US" sz="2000" dirty="0"/>
          </a:p>
        </p:txBody>
      </p:sp>
      <p:sp>
        <p:nvSpPr>
          <p:cNvPr id="15" name="Text 12"/>
          <p:cNvSpPr txBox="1"/>
          <p:nvPr/>
        </p:nvSpPr>
        <p:spPr>
          <a:xfrm>
            <a:off x="4723790" y="4709160"/>
            <a:ext cx="2743200" cy="320040"/>
          </a:xfrm>
          <a:prstGeom prst="rect">
            <a:avLst/>
          </a:prstGeom>
          <a:noFill/>
          <a:ln/>
        </p:spPr>
        <p:txBody>
          <a:bodyPr wrap="square" lIns="0" tIns="0" rIns="0" bIns="0" rtlCol="0" anchor="t"/>
          <a:lstStyle/>
          <a:p>
            <a:pPr rtl="1" algn="r" indent="0" marL="0">
              <a:buNone/>
            </a:pPr>
            <a:r>
              <a:rPr lang="fa-IR" altLang="en-US" sz="1400" dirty="0">
                <a:solidFill>
                  <a:schemeClr val="accent5"/>
                </a:solidFill>
                <a:latin typeface="Arial" pitchFamily="34" charset="0"/>
                <a:cs typeface="Arial" pitchFamily="34" charset="178"/>
              </a:rPr>
              <a:t>پژوهش پدیدارشناختی</a:t>
            </a:r>
            <a:endParaRPr lang="fa-IR" sz="1400" dirty="0"/>
          </a:p>
        </p:txBody>
      </p:sp>
      <p:sp>
        <p:nvSpPr>
          <p:cNvPr id="16" name="card"/>
          <p:cNvSpPr/>
          <p:nvPr/>
        </p:nvSpPr>
        <p:spPr>
          <a:xfrm>
            <a:off x="822046" y="2057400"/>
            <a:ext cx="3291840" cy="3246120"/>
          </a:xfrm>
          <a:prstGeom prst="roundRect">
            <a:avLst>
              <a:gd name="adj" fmla="val 2817"/>
            </a:avLst>
          </a:prstGeom>
          <a:solidFill>
            <a:schemeClr val="bg2"/>
          </a:solidFill>
          <a:ln w="9525">
            <a:solidFill>
              <a:schemeClr val="accent4"/>
            </a:solidFill>
            <a:prstDash val="solid"/>
          </a:ln>
        </p:spPr>
      </p:sp>
      <p:sp>
        <p:nvSpPr>
          <p:cNvPr id="17" name="Text 14"/>
          <p:cNvSpPr txBox="1"/>
          <p:nvPr/>
        </p:nvSpPr>
        <p:spPr>
          <a:xfrm>
            <a:off x="1096366" y="2331720"/>
            <a:ext cx="2743200" cy="640080"/>
          </a:xfrm>
          <a:prstGeom prst="rect">
            <a:avLst/>
          </a:prstGeom>
          <a:noFill/>
          <a:ln/>
        </p:spPr>
        <p:txBody>
          <a:bodyPr wrap="square" lIns="0" tIns="0" rIns="0" bIns="0" rtlCol="0" anchor="t"/>
          <a:lstStyle/>
          <a:p>
            <a:pPr rtl="1" algn="r" indent="0" marL="0">
              <a:buNone/>
            </a:pPr>
            <a:r>
              <a:rPr lang="fa-IR" altLang="en-US" sz="3600" b="1" dirty="0">
                <a:solidFill>
                  <a:schemeClr val="accent1"/>
                </a:solidFill>
                <a:latin typeface="Arial" pitchFamily="34" charset="0"/>
                <a:cs typeface="Arial" pitchFamily="34" charset="178"/>
              </a:rPr>
              <a:t>۲۰۲۴</a:t>
            </a:r>
            <a:endParaRPr lang="fa-IR" sz="3600" dirty="0"/>
          </a:p>
        </p:txBody>
      </p:sp>
      <p:sp>
        <p:nvSpPr>
          <p:cNvPr id="18" name="Text 15"/>
          <p:cNvSpPr txBox="1"/>
          <p:nvPr/>
        </p:nvSpPr>
        <p:spPr>
          <a:xfrm>
            <a:off x="1096366" y="3017520"/>
            <a:ext cx="2743200" cy="274320"/>
          </a:xfrm>
          <a:prstGeom prst="rect">
            <a:avLst/>
          </a:prstGeom>
          <a:noFill/>
          <a:ln/>
        </p:spPr>
        <p:txBody>
          <a:bodyPr wrap="square" lIns="0" tIns="0" rIns="0" bIns="0" rtlCol="0" anchor="t"/>
          <a:lstStyle/>
          <a:p>
            <a:pPr algn="r" indent="0" marL="0">
              <a:buNone/>
            </a:pPr>
            <a:r>
              <a:rPr lang="en-US" altLang="en-US" sz="1400" dirty="0">
                <a:solidFill>
                  <a:schemeClr val="accent5"/>
                </a:solidFill>
                <a:latin typeface="Arial" pitchFamily="34" charset="0"/>
                <a:cs typeface="Arial" pitchFamily="34" charset="178"/>
              </a:rPr>
              <a:t>Frontiers in Psychology</a:t>
            </a:r>
            <a:endParaRPr lang="en-US" sz="1400" dirty="0"/>
          </a:p>
        </p:txBody>
      </p:sp>
      <p:sp>
        <p:nvSpPr>
          <p:cNvPr id="19" name="Text 16"/>
          <p:cNvSpPr txBox="1"/>
          <p:nvPr/>
        </p:nvSpPr>
        <p:spPr>
          <a:xfrm>
            <a:off x="1096366" y="3337560"/>
            <a:ext cx="2743200" cy="274320"/>
          </a:xfrm>
          <a:prstGeom prst="rect">
            <a:avLst/>
          </a:prstGeom>
          <a:noFill/>
          <a:ln/>
        </p:spPr>
        <p:txBody>
          <a:bodyPr wrap="square" lIns="0" tIns="0" rIns="0" bIns="0" rtlCol="0" anchor="t"/>
          <a:lstStyle/>
          <a:p>
            <a:pPr algn="r" indent="0" marL="0">
              <a:buNone/>
            </a:pPr>
            <a:r>
              <a:rPr lang="en-US" altLang="en-US" sz="1400" dirty="0">
                <a:solidFill>
                  <a:schemeClr val="tx1"/>
                </a:solidFill>
                <a:latin typeface="Arial" pitchFamily="34" charset="0"/>
                <a:cs typeface="Arial" pitchFamily="34" charset="178"/>
              </a:rPr>
              <a:t>Khan, Rehna &amp; Butt</a:t>
            </a:r>
            <a:endParaRPr lang="en-US" sz="1400" dirty="0"/>
          </a:p>
        </p:txBody>
      </p:sp>
      <p:sp>
        <p:nvSpPr>
          <p:cNvPr id="20" name="Text 17"/>
          <p:cNvSpPr txBox="1"/>
          <p:nvPr/>
        </p:nvSpPr>
        <p:spPr>
          <a:xfrm>
            <a:off x="1096366" y="3840480"/>
            <a:ext cx="2743200" cy="822960"/>
          </a:xfrm>
          <a:prstGeom prst="rect">
            <a:avLst/>
          </a:prstGeom>
          <a:noFill/>
          <a:ln/>
        </p:spPr>
        <p:txBody>
          <a:bodyPr wrap="square" lIns="0" tIns="0" rIns="0" bIns="0" rtlCol="0" anchor="t"/>
          <a:lstStyle/>
          <a:p>
            <a:pPr algn="r" indent="0" marL="0">
              <a:buNone/>
            </a:pPr>
            <a:r>
              <a:rPr lang="en-US" altLang="en-US" sz="2000" b="1" dirty="0">
                <a:solidFill>
                  <a:schemeClr val="accent2"/>
                </a:solidFill>
                <a:latin typeface="Arial" pitchFamily="34" charset="0"/>
                <a:cs typeface="Arial" pitchFamily="34" charset="178"/>
              </a:rPr>
              <a:t>Rumination</a:t>
            </a:r>
            <a:endParaRPr lang="en-US" sz="2000" dirty="0"/>
          </a:p>
          <a:p>
            <a:pPr algn="r" indent="0" marL="0">
              <a:buNone/>
            </a:pPr>
            <a:r>
              <a:rPr lang="en-US" altLang="en-US" sz="2000" b="1" dirty="0">
                <a:solidFill>
                  <a:schemeClr val="accent2"/>
                </a:solidFill>
                <a:latin typeface="Arial" pitchFamily="34" charset="0"/>
                <a:cs typeface="Arial" pitchFamily="34" charset="178"/>
              </a:rPr>
              <a:t>Emotional Turbulence</a:t>
            </a:r>
            <a:endParaRPr lang="en-US" sz="2000" dirty="0"/>
          </a:p>
        </p:txBody>
      </p:sp>
      <p:sp>
        <p:nvSpPr>
          <p:cNvPr id="21" name="Text 18"/>
          <p:cNvSpPr txBox="1"/>
          <p:nvPr/>
        </p:nvSpPr>
        <p:spPr>
          <a:xfrm>
            <a:off x="1096366" y="4709160"/>
            <a:ext cx="2743200" cy="320040"/>
          </a:xfrm>
          <a:prstGeom prst="rect">
            <a:avLst/>
          </a:prstGeom>
          <a:noFill/>
          <a:ln/>
        </p:spPr>
        <p:txBody>
          <a:bodyPr wrap="square" lIns="0" tIns="0" rIns="0" bIns="0" rtlCol="0" anchor="t"/>
          <a:lstStyle/>
          <a:p>
            <a:pPr rtl="1" algn="r" indent="0" marL="0">
              <a:buNone/>
            </a:pPr>
            <a:r>
              <a:rPr lang="fa-IR" altLang="en-US" sz="1400" dirty="0">
                <a:solidFill>
                  <a:schemeClr val="accent5"/>
                </a:solidFill>
                <a:latin typeface="Arial" pitchFamily="34" charset="0"/>
                <a:cs typeface="Arial" pitchFamily="34" charset="178"/>
              </a:rPr>
              <a:t>در افراد دارای NSSI</a:t>
            </a:r>
            <a:endParaRPr lang="fa-IR" sz="1400" dirty="0"/>
          </a:p>
        </p:txBody>
      </p:sp>
      <p:sp>
        <p:nvSpPr>
          <p:cNvPr id="22" name="Text 19"/>
          <p:cNvSpPr txBox="1"/>
          <p:nvPr/>
        </p:nvSpPr>
        <p:spPr>
          <a:xfrm>
            <a:off x="822960" y="5577840"/>
            <a:ext cx="10545775" cy="365760"/>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هر مقاله یک بخش از تجربه را روشن می‌کند؛ نه کل پدیده را.</a:t>
            </a:r>
            <a:endParaRPr lang="fa-IR" sz="16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منتقد درونی فقط یک صدا نیست</a:t>
            </a:r>
            <a:endParaRPr lang="fa-IR" sz="3200" dirty="0"/>
          </a:p>
        </p:txBody>
      </p:sp>
      <p:sp>
        <p:nvSpPr>
          <p:cNvPr id="4" name="card"/>
          <p:cNvSpPr/>
          <p:nvPr/>
        </p:nvSpPr>
        <p:spPr>
          <a:xfrm>
            <a:off x="8076895" y="2011680"/>
            <a:ext cx="3291840" cy="1600200"/>
          </a:xfrm>
          <a:prstGeom prst="roundRect">
            <a:avLst>
              <a:gd name="adj" fmla="val 5714"/>
            </a:avLst>
          </a:prstGeom>
          <a:solidFill>
            <a:schemeClr val="bg2"/>
          </a:solidFill>
          <a:ln w="9525">
            <a:solidFill>
              <a:schemeClr val="accent4"/>
            </a:solidFill>
            <a:prstDash val="solid"/>
          </a:ln>
        </p:spPr>
      </p:sp>
      <p:sp>
        <p:nvSpPr>
          <p:cNvPr id="5" name="Text 2"/>
          <p:cNvSpPr txBox="1"/>
          <p:nvPr/>
        </p:nvSpPr>
        <p:spPr>
          <a:xfrm>
            <a:off x="8351215" y="2212848"/>
            <a:ext cx="2743200" cy="274320"/>
          </a:xfrm>
          <a:prstGeom prst="rect">
            <a:avLst/>
          </a:prstGeom>
          <a:noFill/>
          <a:ln/>
        </p:spPr>
        <p:txBody>
          <a:bodyPr wrap="square" lIns="0" tIns="0" rIns="0" bIns="0" rtlCol="0" anchor="t"/>
          <a:lstStyle/>
          <a:p>
            <a:pPr algn="r" indent="0" marL="0">
              <a:buNone/>
            </a:pPr>
            <a:r>
              <a:rPr lang="en-US" altLang="en-US" sz="1400" b="1" dirty="0">
                <a:solidFill>
                  <a:schemeClr val="accent2"/>
                </a:solidFill>
                <a:latin typeface="Arial" pitchFamily="34" charset="0"/>
                <a:cs typeface="Arial" pitchFamily="34" charset="178"/>
              </a:rPr>
              <a:t>Worrier</a:t>
            </a:r>
            <a:endParaRPr lang="en-US" sz="1400" dirty="0"/>
          </a:p>
        </p:txBody>
      </p:sp>
      <p:sp>
        <p:nvSpPr>
          <p:cNvPr id="6" name="Text 3"/>
          <p:cNvSpPr txBox="1"/>
          <p:nvPr/>
        </p:nvSpPr>
        <p:spPr>
          <a:xfrm>
            <a:off x="8351215" y="2606040"/>
            <a:ext cx="2743200" cy="822960"/>
          </a:xfrm>
          <a:prstGeom prst="rect">
            <a:avLst/>
          </a:prstGeom>
          <a:noFill/>
          <a:ln/>
        </p:spPr>
        <p:txBody>
          <a:bodyPr wrap="square" lIns="0" tIns="0" rIns="0" bIns="0" rtlCol="0" anchor="t"/>
          <a:lstStyle/>
          <a:p>
            <a:pPr rtl="1" algn="r" indent="0" marL="0">
              <a:lnSpc>
                <a:spcPct val="110000"/>
              </a:lnSpc>
              <a:buNone/>
            </a:pPr>
            <a:r>
              <a:rPr lang="fa-IR" altLang="en-US" sz="2000" dirty="0">
                <a:solidFill>
                  <a:schemeClr val="tx1"/>
                </a:solidFill>
                <a:latin typeface="Arial" pitchFamily="34" charset="0"/>
                <a:cs typeface="Arial" pitchFamily="34" charset="178"/>
              </a:rPr>
              <a:t>«مواظب باش؛ دوباره خراب می‌شود.»</a:t>
            </a:r>
            <a:endParaRPr lang="fa-IR" sz="2000" dirty="0"/>
          </a:p>
        </p:txBody>
      </p:sp>
      <p:sp>
        <p:nvSpPr>
          <p:cNvPr id="7" name="card"/>
          <p:cNvSpPr/>
          <p:nvPr/>
        </p:nvSpPr>
        <p:spPr>
          <a:xfrm>
            <a:off x="4449470" y="2011680"/>
            <a:ext cx="3291840" cy="1600200"/>
          </a:xfrm>
          <a:prstGeom prst="roundRect">
            <a:avLst>
              <a:gd name="adj" fmla="val 5714"/>
            </a:avLst>
          </a:prstGeom>
          <a:solidFill>
            <a:schemeClr val="bg2"/>
          </a:solidFill>
          <a:ln w="9525">
            <a:solidFill>
              <a:schemeClr val="accent4"/>
            </a:solidFill>
            <a:prstDash val="solid"/>
          </a:ln>
        </p:spPr>
      </p:sp>
      <p:sp>
        <p:nvSpPr>
          <p:cNvPr id="8" name="Text 5"/>
          <p:cNvSpPr txBox="1"/>
          <p:nvPr/>
        </p:nvSpPr>
        <p:spPr>
          <a:xfrm>
            <a:off x="4723790" y="2212848"/>
            <a:ext cx="2743200" cy="274320"/>
          </a:xfrm>
          <a:prstGeom prst="rect">
            <a:avLst/>
          </a:prstGeom>
          <a:noFill/>
          <a:ln/>
        </p:spPr>
        <p:txBody>
          <a:bodyPr wrap="square" lIns="0" tIns="0" rIns="0" bIns="0" rtlCol="0" anchor="t"/>
          <a:lstStyle/>
          <a:p>
            <a:pPr algn="r" indent="0" marL="0">
              <a:buNone/>
            </a:pPr>
            <a:r>
              <a:rPr lang="en-US" altLang="en-US" sz="1400" b="1" dirty="0">
                <a:solidFill>
                  <a:schemeClr val="accent2"/>
                </a:solidFill>
                <a:latin typeface="Arial" pitchFamily="34" charset="0"/>
                <a:cs typeface="Arial" pitchFamily="34" charset="178"/>
              </a:rPr>
              <a:t>Not good enough</a:t>
            </a:r>
            <a:endParaRPr lang="en-US" sz="1400" dirty="0"/>
          </a:p>
        </p:txBody>
      </p:sp>
      <p:sp>
        <p:nvSpPr>
          <p:cNvPr id="9" name="Text 6"/>
          <p:cNvSpPr txBox="1"/>
          <p:nvPr/>
        </p:nvSpPr>
        <p:spPr>
          <a:xfrm>
            <a:off x="4723790" y="2606040"/>
            <a:ext cx="2743200" cy="822960"/>
          </a:xfrm>
          <a:prstGeom prst="rect">
            <a:avLst/>
          </a:prstGeom>
          <a:noFill/>
          <a:ln/>
        </p:spPr>
        <p:txBody>
          <a:bodyPr wrap="square" lIns="0" tIns="0" rIns="0" bIns="0" rtlCol="0" anchor="t"/>
          <a:lstStyle/>
          <a:p>
            <a:pPr rtl="1" algn="r" indent="0" marL="0">
              <a:lnSpc>
                <a:spcPct val="110000"/>
              </a:lnSpc>
              <a:buNone/>
            </a:pPr>
            <a:r>
              <a:rPr lang="fa-IR" altLang="en-US" sz="2000" dirty="0">
                <a:solidFill>
                  <a:schemeClr val="tx1"/>
                </a:solidFill>
                <a:latin typeface="Arial" pitchFamily="34" charset="0"/>
                <a:cs typeface="Arial" pitchFamily="34" charset="178"/>
              </a:rPr>
              <a:t>«به اندازه کافی خوب نیستی.»</a:t>
            </a:r>
            <a:endParaRPr lang="fa-IR" sz="2000" dirty="0"/>
          </a:p>
        </p:txBody>
      </p:sp>
      <p:sp>
        <p:nvSpPr>
          <p:cNvPr id="10" name="card"/>
          <p:cNvSpPr/>
          <p:nvPr/>
        </p:nvSpPr>
        <p:spPr>
          <a:xfrm>
            <a:off x="822046" y="2011680"/>
            <a:ext cx="3291840" cy="1600200"/>
          </a:xfrm>
          <a:prstGeom prst="roundRect">
            <a:avLst>
              <a:gd name="adj" fmla="val 5714"/>
            </a:avLst>
          </a:prstGeom>
          <a:solidFill>
            <a:schemeClr val="bg2"/>
          </a:solidFill>
          <a:ln w="9525">
            <a:solidFill>
              <a:schemeClr val="accent4"/>
            </a:solidFill>
            <a:prstDash val="solid"/>
          </a:ln>
        </p:spPr>
      </p:sp>
      <p:sp>
        <p:nvSpPr>
          <p:cNvPr id="11" name="Text 8"/>
          <p:cNvSpPr txBox="1"/>
          <p:nvPr/>
        </p:nvSpPr>
        <p:spPr>
          <a:xfrm>
            <a:off x="1096366" y="2212848"/>
            <a:ext cx="2743200" cy="274320"/>
          </a:xfrm>
          <a:prstGeom prst="rect">
            <a:avLst/>
          </a:prstGeom>
          <a:noFill/>
          <a:ln/>
        </p:spPr>
        <p:txBody>
          <a:bodyPr wrap="square" lIns="0" tIns="0" rIns="0" bIns="0" rtlCol="0" anchor="t"/>
          <a:lstStyle/>
          <a:p>
            <a:pPr algn="r" indent="0" marL="0">
              <a:buNone/>
            </a:pPr>
            <a:r>
              <a:rPr lang="en-US" altLang="en-US" sz="1400" b="1" dirty="0">
                <a:solidFill>
                  <a:schemeClr val="accent2"/>
                </a:solidFill>
                <a:latin typeface="Arial" pitchFamily="34" charset="0"/>
                <a:cs typeface="Arial" pitchFamily="34" charset="178"/>
              </a:rPr>
              <a:t>Hated self</a:t>
            </a:r>
            <a:endParaRPr lang="en-US" sz="1400" dirty="0"/>
          </a:p>
        </p:txBody>
      </p:sp>
      <p:sp>
        <p:nvSpPr>
          <p:cNvPr id="12" name="Text 9"/>
          <p:cNvSpPr txBox="1"/>
          <p:nvPr/>
        </p:nvSpPr>
        <p:spPr>
          <a:xfrm>
            <a:off x="1096366" y="2606040"/>
            <a:ext cx="2743200" cy="822960"/>
          </a:xfrm>
          <a:prstGeom prst="rect">
            <a:avLst/>
          </a:prstGeom>
          <a:noFill/>
          <a:ln/>
        </p:spPr>
        <p:txBody>
          <a:bodyPr wrap="square" lIns="0" tIns="0" rIns="0" bIns="0" rtlCol="0" anchor="t"/>
          <a:lstStyle/>
          <a:p>
            <a:pPr rtl="1" algn="r" indent="0" marL="0">
              <a:lnSpc>
                <a:spcPct val="110000"/>
              </a:lnSpc>
              <a:buNone/>
            </a:pPr>
            <a:r>
              <a:rPr lang="fa-IR" altLang="en-US" sz="2000" dirty="0">
                <a:solidFill>
                  <a:schemeClr val="tx1"/>
                </a:solidFill>
                <a:latin typeface="Arial" pitchFamily="34" charset="0"/>
                <a:cs typeface="Arial" pitchFamily="34" charset="178"/>
              </a:rPr>
              <a:t>«خودت مشکل هستی.»</a:t>
            </a:r>
            <a:endParaRPr lang="fa-IR" sz="2000" dirty="0"/>
          </a:p>
        </p:txBody>
      </p:sp>
      <p:sp>
        <p:nvSpPr>
          <p:cNvPr id="13" name="card"/>
          <p:cNvSpPr/>
          <p:nvPr/>
        </p:nvSpPr>
        <p:spPr>
          <a:xfrm>
            <a:off x="8076895" y="3840480"/>
            <a:ext cx="3291840" cy="1600200"/>
          </a:xfrm>
          <a:prstGeom prst="roundRect">
            <a:avLst>
              <a:gd name="adj" fmla="val 5714"/>
            </a:avLst>
          </a:prstGeom>
          <a:solidFill>
            <a:schemeClr val="bg2"/>
          </a:solidFill>
          <a:ln w="9525">
            <a:solidFill>
              <a:schemeClr val="accent4"/>
            </a:solidFill>
            <a:prstDash val="solid"/>
          </a:ln>
        </p:spPr>
      </p:sp>
      <p:sp>
        <p:nvSpPr>
          <p:cNvPr id="14" name="Text 11"/>
          <p:cNvSpPr txBox="1"/>
          <p:nvPr/>
        </p:nvSpPr>
        <p:spPr>
          <a:xfrm>
            <a:off x="8351215" y="4041648"/>
            <a:ext cx="2743200" cy="274320"/>
          </a:xfrm>
          <a:prstGeom prst="rect">
            <a:avLst/>
          </a:prstGeom>
          <a:noFill/>
          <a:ln/>
        </p:spPr>
        <p:txBody>
          <a:bodyPr wrap="square" lIns="0" tIns="0" rIns="0" bIns="0" rtlCol="0" anchor="t"/>
          <a:lstStyle/>
          <a:p>
            <a:pPr algn="r" indent="0" marL="0">
              <a:buNone/>
            </a:pPr>
            <a:r>
              <a:rPr lang="en-US" altLang="en-US" sz="1400" b="1" dirty="0">
                <a:solidFill>
                  <a:schemeClr val="accent2"/>
                </a:solidFill>
                <a:latin typeface="Arial" pitchFamily="34" charset="0"/>
                <a:cs typeface="Arial" pitchFamily="34" charset="178"/>
              </a:rPr>
              <a:t>Teamster</a:t>
            </a:r>
            <a:endParaRPr lang="en-US" sz="1400" dirty="0"/>
          </a:p>
        </p:txBody>
      </p:sp>
      <p:sp>
        <p:nvSpPr>
          <p:cNvPr id="15" name="Text 12"/>
          <p:cNvSpPr txBox="1"/>
          <p:nvPr/>
        </p:nvSpPr>
        <p:spPr>
          <a:xfrm>
            <a:off x="8351215" y="4434840"/>
            <a:ext cx="2743200" cy="822960"/>
          </a:xfrm>
          <a:prstGeom prst="rect">
            <a:avLst/>
          </a:prstGeom>
          <a:noFill/>
          <a:ln/>
        </p:spPr>
        <p:txBody>
          <a:bodyPr wrap="square" lIns="0" tIns="0" rIns="0" bIns="0" rtlCol="0" anchor="t"/>
          <a:lstStyle/>
          <a:p>
            <a:pPr rtl="1" algn="r" indent="0" marL="0">
              <a:lnSpc>
                <a:spcPct val="110000"/>
              </a:lnSpc>
              <a:buNone/>
            </a:pPr>
            <a:r>
              <a:rPr lang="fa-IR" altLang="en-US" sz="2000" dirty="0">
                <a:solidFill>
                  <a:schemeClr val="tx1"/>
                </a:solidFill>
                <a:latin typeface="Arial" pitchFamily="34" charset="0"/>
                <a:cs typeface="Arial" pitchFamily="34" charset="178"/>
              </a:rPr>
              <a:t>«باید بیشتر تلاش کنی.»</a:t>
            </a:r>
            <a:endParaRPr lang="fa-IR" sz="2000" dirty="0"/>
          </a:p>
        </p:txBody>
      </p:sp>
      <p:sp>
        <p:nvSpPr>
          <p:cNvPr id="16" name="card"/>
          <p:cNvSpPr/>
          <p:nvPr/>
        </p:nvSpPr>
        <p:spPr>
          <a:xfrm>
            <a:off x="4449470" y="3840480"/>
            <a:ext cx="3291840" cy="1600200"/>
          </a:xfrm>
          <a:prstGeom prst="roundRect">
            <a:avLst>
              <a:gd name="adj" fmla="val 5714"/>
            </a:avLst>
          </a:prstGeom>
          <a:solidFill>
            <a:schemeClr val="bg2"/>
          </a:solidFill>
          <a:ln w="9525">
            <a:solidFill>
              <a:schemeClr val="accent4"/>
            </a:solidFill>
            <a:prstDash val="solid"/>
          </a:ln>
        </p:spPr>
      </p:sp>
      <p:sp>
        <p:nvSpPr>
          <p:cNvPr id="17" name="Text 14"/>
          <p:cNvSpPr txBox="1"/>
          <p:nvPr/>
        </p:nvSpPr>
        <p:spPr>
          <a:xfrm>
            <a:off x="4723790" y="4041648"/>
            <a:ext cx="2743200" cy="274320"/>
          </a:xfrm>
          <a:prstGeom prst="rect">
            <a:avLst/>
          </a:prstGeom>
          <a:noFill/>
          <a:ln/>
        </p:spPr>
        <p:txBody>
          <a:bodyPr wrap="square" lIns="0" tIns="0" rIns="0" bIns="0" rtlCol="0" anchor="t"/>
          <a:lstStyle/>
          <a:p>
            <a:pPr algn="r" indent="0" marL="0">
              <a:buNone/>
            </a:pPr>
            <a:r>
              <a:rPr lang="en-US" altLang="en-US" sz="1400" b="1" dirty="0">
                <a:solidFill>
                  <a:schemeClr val="accent2"/>
                </a:solidFill>
                <a:latin typeface="Arial" pitchFamily="34" charset="0"/>
                <a:cs typeface="Arial" pitchFamily="34" charset="178"/>
              </a:rPr>
              <a:t>Non-feeler</a:t>
            </a:r>
            <a:endParaRPr lang="en-US" sz="1400" dirty="0"/>
          </a:p>
        </p:txBody>
      </p:sp>
      <p:sp>
        <p:nvSpPr>
          <p:cNvPr id="18" name="Text 15"/>
          <p:cNvSpPr txBox="1"/>
          <p:nvPr/>
        </p:nvSpPr>
        <p:spPr>
          <a:xfrm>
            <a:off x="4723790" y="4434840"/>
            <a:ext cx="2743200" cy="822960"/>
          </a:xfrm>
          <a:prstGeom prst="rect">
            <a:avLst/>
          </a:prstGeom>
          <a:noFill/>
          <a:ln/>
        </p:spPr>
        <p:txBody>
          <a:bodyPr wrap="square" lIns="0" tIns="0" rIns="0" bIns="0" rtlCol="0" anchor="t"/>
          <a:lstStyle/>
          <a:p>
            <a:pPr rtl="1" algn="r" indent="0" marL="0">
              <a:lnSpc>
                <a:spcPct val="110000"/>
              </a:lnSpc>
              <a:buNone/>
            </a:pPr>
            <a:r>
              <a:rPr lang="fa-IR" altLang="en-US" sz="2000" dirty="0">
                <a:solidFill>
                  <a:schemeClr val="tx1"/>
                </a:solidFill>
                <a:latin typeface="Arial" pitchFamily="34" charset="0"/>
                <a:cs typeface="Arial" pitchFamily="34" charset="178"/>
              </a:rPr>
              <a:t>«احساس نکن؛ کنترلش کن.»</a:t>
            </a:r>
            <a:endParaRPr lang="fa-IR" sz="2000" dirty="0"/>
          </a:p>
        </p:txBody>
      </p:sp>
      <p:sp>
        <p:nvSpPr>
          <p:cNvPr id="19" name="card"/>
          <p:cNvSpPr/>
          <p:nvPr/>
        </p:nvSpPr>
        <p:spPr>
          <a:xfrm>
            <a:off x="822046" y="3840480"/>
            <a:ext cx="3291840" cy="1600200"/>
          </a:xfrm>
          <a:prstGeom prst="roundRect">
            <a:avLst>
              <a:gd name="adj" fmla="val 5714"/>
            </a:avLst>
          </a:prstGeom>
          <a:solidFill>
            <a:schemeClr val="bg2"/>
          </a:solidFill>
          <a:ln w="9525">
            <a:solidFill>
              <a:schemeClr val="accent4"/>
            </a:solidFill>
            <a:prstDash val="solid"/>
          </a:ln>
        </p:spPr>
      </p:sp>
      <p:sp>
        <p:nvSpPr>
          <p:cNvPr id="20" name="Text 17"/>
          <p:cNvSpPr txBox="1"/>
          <p:nvPr/>
        </p:nvSpPr>
        <p:spPr>
          <a:xfrm>
            <a:off x="1096366" y="4041648"/>
            <a:ext cx="2743200" cy="274320"/>
          </a:xfrm>
          <a:prstGeom prst="rect">
            <a:avLst/>
          </a:prstGeom>
          <a:noFill/>
          <a:ln/>
        </p:spPr>
        <p:txBody>
          <a:bodyPr wrap="square" lIns="0" tIns="0" rIns="0" bIns="0" rtlCol="0" anchor="t"/>
          <a:lstStyle/>
          <a:p>
            <a:pPr algn="r" indent="0" marL="0">
              <a:buNone/>
            </a:pPr>
            <a:r>
              <a:rPr lang="en-US" altLang="en-US" sz="1400" b="1" dirty="0">
                <a:solidFill>
                  <a:schemeClr val="accent2"/>
                </a:solidFill>
                <a:latin typeface="Arial" pitchFamily="34" charset="0"/>
                <a:cs typeface="Arial" pitchFamily="34" charset="178"/>
              </a:rPr>
              <a:t>Not good enough for others</a:t>
            </a:r>
            <a:endParaRPr lang="en-US" sz="1400" dirty="0"/>
          </a:p>
        </p:txBody>
      </p:sp>
      <p:sp>
        <p:nvSpPr>
          <p:cNvPr id="21" name="Text 18"/>
          <p:cNvSpPr txBox="1"/>
          <p:nvPr/>
        </p:nvSpPr>
        <p:spPr>
          <a:xfrm>
            <a:off x="1096366" y="4434840"/>
            <a:ext cx="2743200" cy="822960"/>
          </a:xfrm>
          <a:prstGeom prst="rect">
            <a:avLst/>
          </a:prstGeom>
          <a:noFill/>
          <a:ln/>
        </p:spPr>
        <p:txBody>
          <a:bodyPr wrap="square" lIns="0" tIns="0" rIns="0" bIns="0" rtlCol="0" anchor="t"/>
          <a:lstStyle/>
          <a:p>
            <a:pPr rtl="1" algn="r" indent="0" marL="0">
              <a:lnSpc>
                <a:spcPct val="110000"/>
              </a:lnSpc>
              <a:buNone/>
            </a:pPr>
            <a:r>
              <a:rPr lang="fa-IR" altLang="en-US" sz="2000" dirty="0">
                <a:solidFill>
                  <a:schemeClr val="tx1"/>
                </a:solidFill>
                <a:latin typeface="Arial" pitchFamily="34" charset="0"/>
                <a:cs typeface="Arial" pitchFamily="34" charset="178"/>
              </a:rPr>
              <a:t>«باید از نگاه دیگران بهتر باشی.»</a:t>
            </a:r>
            <a:endParaRPr lang="fa-IR" sz="2000" dirty="0"/>
          </a:p>
        </p:txBody>
      </p:sp>
      <p:sp>
        <p:nvSpPr>
          <p:cNvPr id="22" name="Text 19"/>
          <p:cNvSpPr txBox="1"/>
          <p:nvPr/>
        </p:nvSpPr>
        <p:spPr>
          <a:xfrm>
            <a:off x="4114800" y="6355080"/>
            <a:ext cx="7253935" cy="274320"/>
          </a:xfrm>
          <a:prstGeom prst="rect">
            <a:avLst/>
          </a:prstGeom>
          <a:noFill/>
          <a:ln/>
        </p:spPr>
        <p:txBody>
          <a:bodyPr wrap="square" lIns="0" tIns="0" rIns="0" bIns="0" rtlCol="0" anchor="ctr"/>
          <a:lstStyle/>
          <a:p>
            <a:pPr rtl="1" algn="r" indent="0" marL="0">
              <a:buNone/>
            </a:pPr>
            <a:r>
              <a:rPr lang="fa-IR" altLang="en-US" sz="1200" dirty="0">
                <a:solidFill>
                  <a:schemeClr val="accent5"/>
                </a:solidFill>
                <a:latin typeface="Arial" pitchFamily="34" charset="0"/>
                <a:cs typeface="Arial" pitchFamily="34" charset="178"/>
              </a:rPr>
              <a:t>Šoková et al., 2025</a:t>
            </a:r>
            <a:endParaRPr lang="fa-IR" sz="12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کدام صدای درونی برای شما آشناتر است؟</a:t>
            </a:r>
            <a:endParaRPr lang="fa-IR" sz="3200" dirty="0"/>
          </a:p>
        </p:txBody>
      </p:sp>
      <p:sp>
        <p:nvSpPr>
          <p:cNvPr id="4" name="marker"/>
          <p:cNvSpPr/>
          <p:nvPr/>
        </p:nvSpPr>
        <p:spPr>
          <a:xfrm>
            <a:off x="10865815" y="2258568"/>
            <a:ext cx="502920" cy="502920"/>
          </a:xfrm>
          <a:prstGeom prst="ellipse">
            <a:avLst/>
          </a:prstGeom>
          <a:solidFill>
            <a:schemeClr val="bg1"/>
          </a:solidFill>
          <a:ln w="15875">
            <a:solidFill>
              <a:schemeClr val="accent2"/>
            </a:solidFill>
            <a:prstDash val="solid"/>
          </a:ln>
        </p:spPr>
      </p:sp>
      <p:sp>
        <p:nvSpPr>
          <p:cNvPr id="5" name="Text 2"/>
          <p:cNvSpPr txBox="1"/>
          <p:nvPr/>
        </p:nvSpPr>
        <p:spPr>
          <a:xfrm>
            <a:off x="10865815" y="2258568"/>
            <a:ext cx="502920" cy="502920"/>
          </a:xfrm>
          <a:prstGeom prst="rect">
            <a:avLst/>
          </a:prstGeom>
          <a:noFill/>
          <a:ln/>
        </p:spPr>
        <p:txBody>
          <a:bodyPr wrap="square" lIns="0" tIns="0" rIns="0" bIns="0" rtlCol="0" anchor="ctr"/>
          <a:lstStyle/>
          <a:p>
            <a:pPr rtl="1" algn="ctr" indent="0" marL="0">
              <a:buNone/>
            </a:pPr>
            <a:r>
              <a:rPr lang="fa-IR" altLang="en-US" sz="1800" b="1" dirty="0">
                <a:solidFill>
                  <a:schemeClr val="accent2"/>
                </a:solidFill>
                <a:latin typeface="Arial" pitchFamily="34" charset="0"/>
                <a:cs typeface="Arial" pitchFamily="34" charset="178"/>
              </a:rPr>
              <a:t>۱</a:t>
            </a:r>
            <a:endParaRPr lang="fa-IR" sz="1800" dirty="0"/>
          </a:p>
        </p:txBody>
      </p:sp>
      <p:sp>
        <p:nvSpPr>
          <p:cNvPr id="6" name="Text 3"/>
          <p:cNvSpPr txBox="1"/>
          <p:nvPr/>
        </p:nvSpPr>
        <p:spPr>
          <a:xfrm>
            <a:off x="6476695" y="2148840"/>
            <a:ext cx="4206240" cy="7315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«باید بهتر عمل می‌کردی.»</a:t>
            </a:r>
            <a:endParaRPr lang="fa-IR" sz="2200" dirty="0"/>
          </a:p>
        </p:txBody>
      </p:sp>
      <p:sp>
        <p:nvSpPr>
          <p:cNvPr id="7" name="marker"/>
          <p:cNvSpPr/>
          <p:nvPr/>
        </p:nvSpPr>
        <p:spPr>
          <a:xfrm>
            <a:off x="10865815" y="3355848"/>
            <a:ext cx="502920" cy="502920"/>
          </a:xfrm>
          <a:prstGeom prst="ellipse">
            <a:avLst/>
          </a:prstGeom>
          <a:solidFill>
            <a:schemeClr val="bg1"/>
          </a:solidFill>
          <a:ln w="15875">
            <a:solidFill>
              <a:schemeClr val="accent2"/>
            </a:solidFill>
            <a:prstDash val="solid"/>
          </a:ln>
        </p:spPr>
      </p:sp>
      <p:sp>
        <p:nvSpPr>
          <p:cNvPr id="8" name="Text 5"/>
          <p:cNvSpPr txBox="1"/>
          <p:nvPr/>
        </p:nvSpPr>
        <p:spPr>
          <a:xfrm>
            <a:off x="10865815" y="3355848"/>
            <a:ext cx="502920" cy="502920"/>
          </a:xfrm>
          <a:prstGeom prst="rect">
            <a:avLst/>
          </a:prstGeom>
          <a:noFill/>
          <a:ln/>
        </p:spPr>
        <p:txBody>
          <a:bodyPr wrap="square" lIns="0" tIns="0" rIns="0" bIns="0" rtlCol="0" anchor="ctr"/>
          <a:lstStyle/>
          <a:p>
            <a:pPr rtl="1" algn="ctr" indent="0" marL="0">
              <a:buNone/>
            </a:pPr>
            <a:r>
              <a:rPr lang="fa-IR" altLang="en-US" sz="1800" b="1" dirty="0">
                <a:solidFill>
                  <a:schemeClr val="accent2"/>
                </a:solidFill>
                <a:latin typeface="Arial" pitchFamily="34" charset="0"/>
                <a:cs typeface="Arial" pitchFamily="34" charset="178"/>
              </a:rPr>
              <a:t>۲</a:t>
            </a:r>
            <a:endParaRPr lang="fa-IR" sz="1800" dirty="0"/>
          </a:p>
        </p:txBody>
      </p:sp>
      <p:sp>
        <p:nvSpPr>
          <p:cNvPr id="9" name="Text 6"/>
          <p:cNvSpPr txBox="1"/>
          <p:nvPr/>
        </p:nvSpPr>
        <p:spPr>
          <a:xfrm>
            <a:off x="6476695" y="3246120"/>
            <a:ext cx="4206240" cy="7315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«حواست باشد، دوباره خراب می‌شود.»</a:t>
            </a:r>
            <a:endParaRPr lang="fa-IR" sz="2200" dirty="0"/>
          </a:p>
        </p:txBody>
      </p:sp>
      <p:sp>
        <p:nvSpPr>
          <p:cNvPr id="10" name="marker"/>
          <p:cNvSpPr/>
          <p:nvPr/>
        </p:nvSpPr>
        <p:spPr>
          <a:xfrm>
            <a:off x="10865815" y="4453128"/>
            <a:ext cx="502920" cy="502920"/>
          </a:xfrm>
          <a:prstGeom prst="ellipse">
            <a:avLst/>
          </a:prstGeom>
          <a:solidFill>
            <a:schemeClr val="bg1"/>
          </a:solidFill>
          <a:ln w="15875">
            <a:solidFill>
              <a:schemeClr val="accent2"/>
            </a:solidFill>
            <a:prstDash val="solid"/>
          </a:ln>
        </p:spPr>
      </p:sp>
      <p:sp>
        <p:nvSpPr>
          <p:cNvPr id="11" name="Text 8"/>
          <p:cNvSpPr txBox="1"/>
          <p:nvPr/>
        </p:nvSpPr>
        <p:spPr>
          <a:xfrm>
            <a:off x="10865815" y="4453128"/>
            <a:ext cx="502920" cy="502920"/>
          </a:xfrm>
          <a:prstGeom prst="rect">
            <a:avLst/>
          </a:prstGeom>
          <a:noFill/>
          <a:ln/>
        </p:spPr>
        <p:txBody>
          <a:bodyPr wrap="square" lIns="0" tIns="0" rIns="0" bIns="0" rtlCol="0" anchor="ctr"/>
          <a:lstStyle/>
          <a:p>
            <a:pPr rtl="1" algn="ctr" indent="0" marL="0">
              <a:buNone/>
            </a:pPr>
            <a:r>
              <a:rPr lang="fa-IR" altLang="en-US" sz="1800" b="1" dirty="0">
                <a:solidFill>
                  <a:schemeClr val="accent2"/>
                </a:solidFill>
                <a:latin typeface="Arial" pitchFamily="34" charset="0"/>
                <a:cs typeface="Arial" pitchFamily="34" charset="178"/>
              </a:rPr>
              <a:t>۳</a:t>
            </a:r>
            <a:endParaRPr lang="fa-IR" sz="1800" dirty="0"/>
          </a:p>
        </p:txBody>
      </p:sp>
      <p:sp>
        <p:nvSpPr>
          <p:cNvPr id="12" name="Text 9"/>
          <p:cNvSpPr txBox="1"/>
          <p:nvPr/>
        </p:nvSpPr>
        <p:spPr>
          <a:xfrm>
            <a:off x="6476695" y="4343400"/>
            <a:ext cx="4206240" cy="7315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«تو کافی نیستی.»</a:t>
            </a:r>
            <a:endParaRPr lang="fa-IR" sz="2200" dirty="0"/>
          </a:p>
        </p:txBody>
      </p:sp>
      <p:sp>
        <p:nvSpPr>
          <p:cNvPr id="13" name="marker"/>
          <p:cNvSpPr/>
          <p:nvPr/>
        </p:nvSpPr>
        <p:spPr>
          <a:xfrm>
            <a:off x="5486400" y="2258568"/>
            <a:ext cx="502920" cy="502920"/>
          </a:xfrm>
          <a:prstGeom prst="ellipse">
            <a:avLst/>
          </a:prstGeom>
          <a:solidFill>
            <a:schemeClr val="bg1"/>
          </a:solidFill>
          <a:ln w="15875">
            <a:solidFill>
              <a:schemeClr val="accent2"/>
            </a:solidFill>
            <a:prstDash val="solid"/>
          </a:ln>
        </p:spPr>
      </p:sp>
      <p:sp>
        <p:nvSpPr>
          <p:cNvPr id="14" name="Text 11"/>
          <p:cNvSpPr txBox="1"/>
          <p:nvPr/>
        </p:nvSpPr>
        <p:spPr>
          <a:xfrm>
            <a:off x="5486400" y="2258568"/>
            <a:ext cx="502920" cy="502920"/>
          </a:xfrm>
          <a:prstGeom prst="rect">
            <a:avLst/>
          </a:prstGeom>
          <a:noFill/>
          <a:ln/>
        </p:spPr>
        <p:txBody>
          <a:bodyPr wrap="square" lIns="0" tIns="0" rIns="0" bIns="0" rtlCol="0" anchor="ctr"/>
          <a:lstStyle/>
          <a:p>
            <a:pPr rtl="1" algn="ctr" indent="0" marL="0">
              <a:buNone/>
            </a:pPr>
            <a:r>
              <a:rPr lang="fa-IR" altLang="en-US" sz="1800" b="1" dirty="0">
                <a:solidFill>
                  <a:schemeClr val="accent2"/>
                </a:solidFill>
                <a:latin typeface="Arial" pitchFamily="34" charset="0"/>
                <a:cs typeface="Arial" pitchFamily="34" charset="178"/>
              </a:rPr>
              <a:t>۴</a:t>
            </a:r>
            <a:endParaRPr lang="fa-IR" sz="1800" dirty="0"/>
          </a:p>
        </p:txBody>
      </p:sp>
      <p:sp>
        <p:nvSpPr>
          <p:cNvPr id="15" name="Text 12"/>
          <p:cNvSpPr txBox="1"/>
          <p:nvPr/>
        </p:nvSpPr>
        <p:spPr>
          <a:xfrm>
            <a:off x="1097280" y="2148840"/>
            <a:ext cx="4206240" cy="7315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«دیگران درباره‌ات چه فکر می‌کنند؟»</a:t>
            </a:r>
            <a:endParaRPr lang="fa-IR" sz="2200" dirty="0"/>
          </a:p>
        </p:txBody>
      </p:sp>
      <p:sp>
        <p:nvSpPr>
          <p:cNvPr id="16" name="marker"/>
          <p:cNvSpPr/>
          <p:nvPr/>
        </p:nvSpPr>
        <p:spPr>
          <a:xfrm>
            <a:off x="5486400" y="3355848"/>
            <a:ext cx="502920" cy="502920"/>
          </a:xfrm>
          <a:prstGeom prst="ellipse">
            <a:avLst/>
          </a:prstGeom>
          <a:solidFill>
            <a:schemeClr val="bg1"/>
          </a:solidFill>
          <a:ln w="15875">
            <a:solidFill>
              <a:schemeClr val="accent2"/>
            </a:solidFill>
            <a:prstDash val="solid"/>
          </a:ln>
        </p:spPr>
      </p:sp>
      <p:sp>
        <p:nvSpPr>
          <p:cNvPr id="17" name="Text 14"/>
          <p:cNvSpPr txBox="1"/>
          <p:nvPr/>
        </p:nvSpPr>
        <p:spPr>
          <a:xfrm>
            <a:off x="5486400" y="3355848"/>
            <a:ext cx="502920" cy="502920"/>
          </a:xfrm>
          <a:prstGeom prst="rect">
            <a:avLst/>
          </a:prstGeom>
          <a:noFill/>
          <a:ln/>
        </p:spPr>
        <p:txBody>
          <a:bodyPr wrap="square" lIns="0" tIns="0" rIns="0" bIns="0" rtlCol="0" anchor="ctr"/>
          <a:lstStyle/>
          <a:p>
            <a:pPr rtl="1" algn="ctr" indent="0" marL="0">
              <a:buNone/>
            </a:pPr>
            <a:r>
              <a:rPr lang="fa-IR" altLang="en-US" sz="1800" b="1" dirty="0">
                <a:solidFill>
                  <a:schemeClr val="accent2"/>
                </a:solidFill>
                <a:latin typeface="Arial" pitchFamily="34" charset="0"/>
                <a:cs typeface="Arial" pitchFamily="34" charset="178"/>
              </a:rPr>
              <a:t>۵</a:t>
            </a:r>
            <a:endParaRPr lang="fa-IR" sz="1800" dirty="0"/>
          </a:p>
        </p:txBody>
      </p:sp>
      <p:sp>
        <p:nvSpPr>
          <p:cNvPr id="18" name="Text 15"/>
          <p:cNvSpPr txBox="1"/>
          <p:nvPr/>
        </p:nvSpPr>
        <p:spPr>
          <a:xfrm>
            <a:off x="1097280" y="3246120"/>
            <a:ext cx="4206240" cy="7315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«اصلاً احساساتی نشو.»</a:t>
            </a:r>
            <a:endParaRPr lang="fa-IR" sz="2200" dirty="0"/>
          </a:p>
        </p:txBody>
      </p:sp>
      <p:sp>
        <p:nvSpPr>
          <p:cNvPr id="19" name="marker"/>
          <p:cNvSpPr/>
          <p:nvPr/>
        </p:nvSpPr>
        <p:spPr>
          <a:xfrm>
            <a:off x="5486400" y="4453128"/>
            <a:ext cx="502920" cy="502920"/>
          </a:xfrm>
          <a:prstGeom prst="ellipse">
            <a:avLst/>
          </a:prstGeom>
          <a:solidFill>
            <a:schemeClr val="bg1"/>
          </a:solidFill>
          <a:ln w="15875">
            <a:solidFill>
              <a:schemeClr val="accent2"/>
            </a:solidFill>
            <a:prstDash val="solid"/>
          </a:ln>
        </p:spPr>
      </p:sp>
      <p:sp>
        <p:nvSpPr>
          <p:cNvPr id="20" name="Text 17"/>
          <p:cNvSpPr txBox="1"/>
          <p:nvPr/>
        </p:nvSpPr>
        <p:spPr>
          <a:xfrm>
            <a:off x="5486400" y="4453128"/>
            <a:ext cx="502920" cy="502920"/>
          </a:xfrm>
          <a:prstGeom prst="rect">
            <a:avLst/>
          </a:prstGeom>
          <a:noFill/>
          <a:ln/>
        </p:spPr>
        <p:txBody>
          <a:bodyPr wrap="square" lIns="0" tIns="0" rIns="0" bIns="0" rtlCol="0" anchor="ctr"/>
          <a:lstStyle/>
          <a:p>
            <a:pPr rtl="1" algn="ctr" indent="0" marL="0">
              <a:buNone/>
            </a:pPr>
            <a:r>
              <a:rPr lang="fa-IR" altLang="en-US" sz="1800" b="1" dirty="0">
                <a:solidFill>
                  <a:schemeClr val="accent2"/>
                </a:solidFill>
                <a:latin typeface="Arial" pitchFamily="34" charset="0"/>
                <a:cs typeface="Arial" pitchFamily="34" charset="178"/>
              </a:rPr>
              <a:t>۶</a:t>
            </a:r>
            <a:endParaRPr lang="fa-IR" sz="1800" dirty="0"/>
          </a:p>
        </p:txBody>
      </p:sp>
      <p:sp>
        <p:nvSpPr>
          <p:cNvPr id="21" name="Text 18"/>
          <p:cNvSpPr txBox="1"/>
          <p:nvPr/>
        </p:nvSpPr>
        <p:spPr>
          <a:xfrm>
            <a:off x="1097280" y="4343400"/>
            <a:ext cx="4206240" cy="7315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«مشکل خودت هستی.»</a:t>
            </a:r>
            <a:endParaRPr lang="fa-IR" sz="2200" dirty="0"/>
          </a:p>
        </p:txBody>
      </p:sp>
      <p:sp>
        <p:nvSpPr>
          <p:cNvPr id="22" name="Text 19"/>
          <p:cNvSpPr txBox="1"/>
          <p:nvPr/>
        </p:nvSpPr>
        <p:spPr>
          <a:xfrm>
            <a:off x="822960" y="5577840"/>
            <a:ext cx="10545775" cy="411480"/>
          </a:xfrm>
          <a:prstGeom prst="rect">
            <a:avLst/>
          </a:prstGeom>
          <a:noFill/>
          <a:ln/>
        </p:spPr>
        <p:txBody>
          <a:bodyPr wrap="square" lIns="0" tIns="0" rIns="0" bIns="0" rtlCol="0" anchor="ctr"/>
          <a:lstStyle/>
          <a:p>
            <a:pPr rtl="1" algn="r" indent="0" marL="0">
              <a:buNone/>
            </a:pPr>
            <a:r>
              <a:rPr lang="fa-IR" altLang="en-US" sz="2000" b="1" dirty="0">
                <a:solidFill>
                  <a:schemeClr val="accent1"/>
                </a:solidFill>
                <a:latin typeface="Arial" pitchFamily="34" charset="0"/>
                <a:cs typeface="Arial" pitchFamily="34" charset="178"/>
              </a:rPr>
              <a:t>در چت فقط یکی را انتخاب کنید.</a:t>
            </a:r>
            <a:endParaRPr lang="fa-IR" sz="20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وقتی منتقد درونی فعال می‌شود چه اتفاقی می‌افتد؟</a:t>
            </a:r>
            <a:endParaRPr lang="fa-IR" sz="3200" dirty="0"/>
          </a:p>
        </p:txBody>
      </p:sp>
      <p:sp>
        <p:nvSpPr>
          <p:cNvPr id="4" name="Text 1"/>
          <p:cNvSpPr txBox="1"/>
          <p:nvPr/>
        </p:nvSpPr>
        <p:spPr>
          <a:xfrm>
            <a:off x="9174175" y="2286000"/>
            <a:ext cx="2194560" cy="731520"/>
          </a:xfrm>
          <a:prstGeom prst="rect">
            <a:avLst/>
          </a:prstGeom>
          <a:noFill/>
          <a:ln/>
        </p:spPr>
        <p:txBody>
          <a:bodyPr wrap="square" lIns="0" tIns="0" rIns="0" bIns="0" rtlCol="0" anchor="t"/>
          <a:lstStyle/>
          <a:p>
            <a:pPr rtl="1" algn="ctr" indent="0" marL="0">
              <a:buNone/>
            </a:pPr>
            <a:r>
              <a:rPr lang="fa-IR" altLang="en-US" sz="4400" b="1" dirty="0">
                <a:solidFill>
                  <a:schemeClr val="accent1"/>
                </a:solidFill>
                <a:latin typeface="Arial" pitchFamily="34" charset="0"/>
                <a:cs typeface="Arial" pitchFamily="34" charset="178"/>
              </a:rPr>
              <a:t>۱</a:t>
            </a:r>
            <a:endParaRPr lang="fa-IR" sz="4400" dirty="0"/>
          </a:p>
        </p:txBody>
      </p:sp>
      <p:sp>
        <p:nvSpPr>
          <p:cNvPr id="5" name="Text 2"/>
          <p:cNvSpPr txBox="1"/>
          <p:nvPr/>
        </p:nvSpPr>
        <p:spPr>
          <a:xfrm>
            <a:off x="9174175" y="3246120"/>
            <a:ext cx="2194560" cy="868680"/>
          </a:xfrm>
          <a:prstGeom prst="rect">
            <a:avLst/>
          </a:prstGeom>
          <a:noFill/>
          <a:ln/>
        </p:spPr>
        <p:txBody>
          <a:bodyPr wrap="square" lIns="0" tIns="0" rIns="0" bIns="0" rtlCol="0" anchor="t"/>
          <a:lstStyle/>
          <a:p>
            <a:pPr rtl="1" algn="ctr" indent="0" marL="0">
              <a:lnSpc>
                <a:spcPct val="105000"/>
              </a:lnSpc>
              <a:buNone/>
            </a:pPr>
            <a:r>
              <a:rPr lang="fa-IR" altLang="en-US" sz="2400" b="1" dirty="0">
                <a:solidFill>
                  <a:schemeClr val="tx1"/>
                </a:solidFill>
                <a:latin typeface="Arial" pitchFamily="34" charset="0"/>
                <a:cs typeface="Arial" pitchFamily="34" charset="178"/>
              </a:rPr>
              <a:t>موقعیت محرک</a:t>
            </a:r>
            <a:endParaRPr lang="fa-IR" sz="2400" dirty="0"/>
          </a:p>
        </p:txBody>
      </p:sp>
      <p:sp>
        <p:nvSpPr>
          <p:cNvPr id="6" name="Text 3"/>
          <p:cNvSpPr txBox="1"/>
          <p:nvPr/>
        </p:nvSpPr>
        <p:spPr>
          <a:xfrm>
            <a:off x="9174175" y="4206240"/>
            <a:ext cx="2194560" cy="502920"/>
          </a:xfrm>
          <a:prstGeom prst="rect">
            <a:avLst/>
          </a:prstGeom>
          <a:noFill/>
          <a:ln/>
        </p:spPr>
        <p:txBody>
          <a:bodyPr wrap="square" lIns="0" tIns="0" rIns="0" bIns="0" rtlCol="0" anchor="t"/>
          <a:lstStyle/>
          <a:p>
            <a:pPr algn="ctr" indent="0" marL="0">
              <a:buNone/>
            </a:pPr>
            <a:r>
              <a:rPr lang="en-US" altLang="en-US" sz="1400" dirty="0">
                <a:solidFill>
                  <a:schemeClr val="accent5"/>
                </a:solidFill>
                <a:latin typeface="Arial" pitchFamily="34" charset="0"/>
                <a:cs typeface="Arial" pitchFamily="34" charset="178"/>
              </a:rPr>
              <a:t>Trigger</a:t>
            </a:r>
            <a:endParaRPr lang="en-US" sz="1400" dirty="0"/>
          </a:p>
        </p:txBody>
      </p:sp>
      <p:sp>
        <p:nvSpPr>
          <p:cNvPr id="7" name="arrow"/>
          <p:cNvSpPr/>
          <p:nvPr/>
        </p:nvSpPr>
        <p:spPr>
          <a:xfrm flipH="1">
            <a:off x="8676437" y="2670048"/>
            <a:ext cx="406298" cy="0"/>
          </a:xfrm>
          <a:prstGeom prst="line">
            <a:avLst/>
          </a:prstGeom>
          <a:noFill/>
          <a:ln w="12700">
            <a:solidFill>
              <a:schemeClr val="accent5"/>
            </a:solidFill>
            <a:prstDash val="solid"/>
            <a:tailEnd type="arrow"/>
          </a:ln>
        </p:spPr>
      </p:sp>
      <p:sp>
        <p:nvSpPr>
          <p:cNvPr id="8" name="Text 5"/>
          <p:cNvSpPr txBox="1"/>
          <p:nvPr/>
        </p:nvSpPr>
        <p:spPr>
          <a:xfrm>
            <a:off x="6390437" y="2286000"/>
            <a:ext cx="2194560" cy="731520"/>
          </a:xfrm>
          <a:prstGeom prst="rect">
            <a:avLst/>
          </a:prstGeom>
          <a:noFill/>
          <a:ln/>
        </p:spPr>
        <p:txBody>
          <a:bodyPr wrap="square" lIns="0" tIns="0" rIns="0" bIns="0" rtlCol="0" anchor="t"/>
          <a:lstStyle/>
          <a:p>
            <a:pPr rtl="1" algn="ctr" indent="0" marL="0">
              <a:buNone/>
            </a:pPr>
            <a:r>
              <a:rPr lang="fa-IR" altLang="en-US" sz="4400" b="1" dirty="0">
                <a:solidFill>
                  <a:schemeClr val="accent1"/>
                </a:solidFill>
                <a:latin typeface="Arial" pitchFamily="34" charset="0"/>
                <a:cs typeface="Arial" pitchFamily="34" charset="178"/>
              </a:rPr>
              <a:t>۲</a:t>
            </a:r>
            <a:endParaRPr lang="fa-IR" sz="4400" dirty="0"/>
          </a:p>
        </p:txBody>
      </p:sp>
      <p:sp>
        <p:nvSpPr>
          <p:cNvPr id="9" name="Text 6"/>
          <p:cNvSpPr txBox="1"/>
          <p:nvPr/>
        </p:nvSpPr>
        <p:spPr>
          <a:xfrm>
            <a:off x="6390437" y="3246120"/>
            <a:ext cx="2194560" cy="868680"/>
          </a:xfrm>
          <a:prstGeom prst="rect">
            <a:avLst/>
          </a:prstGeom>
          <a:noFill/>
          <a:ln/>
        </p:spPr>
        <p:txBody>
          <a:bodyPr wrap="square" lIns="0" tIns="0" rIns="0" bIns="0" rtlCol="0" anchor="t"/>
          <a:lstStyle/>
          <a:p>
            <a:pPr rtl="1" algn="ctr" indent="0" marL="0">
              <a:lnSpc>
                <a:spcPct val="105000"/>
              </a:lnSpc>
              <a:buNone/>
            </a:pPr>
            <a:r>
              <a:rPr lang="fa-IR" altLang="en-US" sz="2400" b="1" dirty="0">
                <a:solidFill>
                  <a:schemeClr val="tx1"/>
                </a:solidFill>
                <a:latin typeface="Arial" pitchFamily="34" charset="0"/>
                <a:cs typeface="Arial" pitchFamily="34" charset="178"/>
              </a:rPr>
              <a:t>احساس / آگاهی هیجانی</a:t>
            </a:r>
            <a:endParaRPr lang="fa-IR" sz="2400" dirty="0"/>
          </a:p>
        </p:txBody>
      </p:sp>
      <p:sp>
        <p:nvSpPr>
          <p:cNvPr id="10" name="Text 7"/>
          <p:cNvSpPr txBox="1"/>
          <p:nvPr/>
        </p:nvSpPr>
        <p:spPr>
          <a:xfrm>
            <a:off x="6390437" y="4206240"/>
            <a:ext cx="2194560" cy="502920"/>
          </a:xfrm>
          <a:prstGeom prst="rect">
            <a:avLst/>
          </a:prstGeom>
          <a:noFill/>
          <a:ln/>
        </p:spPr>
        <p:txBody>
          <a:bodyPr wrap="square" lIns="0" tIns="0" rIns="0" bIns="0" rtlCol="0" anchor="t"/>
          <a:lstStyle/>
          <a:p>
            <a:pPr algn="ctr" indent="0" marL="0">
              <a:buNone/>
            </a:pPr>
            <a:r>
              <a:rPr lang="en-US" altLang="en-US" sz="1400" dirty="0">
                <a:solidFill>
                  <a:schemeClr val="accent5"/>
                </a:solidFill>
                <a:latin typeface="Arial" pitchFamily="34" charset="0"/>
                <a:cs typeface="Arial" pitchFamily="34" charset="178"/>
              </a:rPr>
              <a:t>Emotion / Awareness</a:t>
            </a:r>
            <a:endParaRPr lang="en-US" sz="1400" dirty="0"/>
          </a:p>
        </p:txBody>
      </p:sp>
      <p:sp>
        <p:nvSpPr>
          <p:cNvPr id="11" name="arrow"/>
          <p:cNvSpPr/>
          <p:nvPr/>
        </p:nvSpPr>
        <p:spPr>
          <a:xfrm flipH="1">
            <a:off x="5892698" y="2670048"/>
            <a:ext cx="406298" cy="0"/>
          </a:xfrm>
          <a:prstGeom prst="line">
            <a:avLst/>
          </a:prstGeom>
          <a:noFill/>
          <a:ln w="12700">
            <a:solidFill>
              <a:schemeClr val="accent5"/>
            </a:solidFill>
            <a:prstDash val="solid"/>
            <a:tailEnd type="arrow"/>
          </a:ln>
        </p:spPr>
      </p:sp>
      <p:sp>
        <p:nvSpPr>
          <p:cNvPr id="12" name="Text 9"/>
          <p:cNvSpPr txBox="1"/>
          <p:nvPr/>
        </p:nvSpPr>
        <p:spPr>
          <a:xfrm>
            <a:off x="3606698" y="2286000"/>
            <a:ext cx="2194560" cy="731520"/>
          </a:xfrm>
          <a:prstGeom prst="rect">
            <a:avLst/>
          </a:prstGeom>
          <a:noFill/>
          <a:ln/>
        </p:spPr>
        <p:txBody>
          <a:bodyPr wrap="square" lIns="0" tIns="0" rIns="0" bIns="0" rtlCol="0" anchor="t"/>
          <a:lstStyle/>
          <a:p>
            <a:pPr rtl="1" algn="ctr" indent="0" marL="0">
              <a:buNone/>
            </a:pPr>
            <a:r>
              <a:rPr lang="fa-IR" altLang="en-US" sz="4400" b="1" dirty="0">
                <a:solidFill>
                  <a:schemeClr val="accent1"/>
                </a:solidFill>
                <a:latin typeface="Arial" pitchFamily="34" charset="0"/>
                <a:cs typeface="Arial" pitchFamily="34" charset="178"/>
              </a:rPr>
              <a:t>۳</a:t>
            </a:r>
            <a:endParaRPr lang="fa-IR" sz="4400" dirty="0"/>
          </a:p>
        </p:txBody>
      </p:sp>
      <p:sp>
        <p:nvSpPr>
          <p:cNvPr id="13" name="Text 10"/>
          <p:cNvSpPr txBox="1"/>
          <p:nvPr/>
        </p:nvSpPr>
        <p:spPr>
          <a:xfrm>
            <a:off x="3606698" y="3246120"/>
            <a:ext cx="2194560" cy="868680"/>
          </a:xfrm>
          <a:prstGeom prst="rect">
            <a:avLst/>
          </a:prstGeom>
          <a:noFill/>
          <a:ln/>
        </p:spPr>
        <p:txBody>
          <a:bodyPr wrap="square" lIns="0" tIns="0" rIns="0" bIns="0" rtlCol="0" anchor="t"/>
          <a:lstStyle/>
          <a:p>
            <a:pPr rtl="1" algn="ctr" indent="0" marL="0">
              <a:lnSpc>
                <a:spcPct val="105000"/>
              </a:lnSpc>
              <a:buNone/>
            </a:pPr>
            <a:r>
              <a:rPr lang="fa-IR" altLang="en-US" sz="2400" b="1" dirty="0">
                <a:solidFill>
                  <a:schemeClr val="tx1"/>
                </a:solidFill>
                <a:latin typeface="Arial" pitchFamily="34" charset="0"/>
                <a:cs typeface="Arial" pitchFamily="34" charset="178"/>
              </a:rPr>
              <a:t>صدای منتقد</a:t>
            </a:r>
            <a:endParaRPr lang="fa-IR" sz="2400" dirty="0"/>
          </a:p>
        </p:txBody>
      </p:sp>
      <p:sp>
        <p:nvSpPr>
          <p:cNvPr id="14" name="Text 11"/>
          <p:cNvSpPr txBox="1"/>
          <p:nvPr/>
        </p:nvSpPr>
        <p:spPr>
          <a:xfrm>
            <a:off x="3606698" y="4206240"/>
            <a:ext cx="2194560" cy="502920"/>
          </a:xfrm>
          <a:prstGeom prst="rect">
            <a:avLst/>
          </a:prstGeom>
          <a:noFill/>
          <a:ln/>
        </p:spPr>
        <p:txBody>
          <a:bodyPr wrap="square" lIns="0" tIns="0" rIns="0" bIns="0" rtlCol="0" anchor="t"/>
          <a:lstStyle/>
          <a:p>
            <a:pPr algn="ctr" indent="0" marL="0">
              <a:buNone/>
            </a:pPr>
            <a:r>
              <a:rPr lang="en-US" altLang="en-US" sz="1400" dirty="0">
                <a:solidFill>
                  <a:schemeClr val="accent5"/>
                </a:solidFill>
                <a:latin typeface="Arial" pitchFamily="34" charset="0"/>
                <a:cs typeface="Arial" pitchFamily="34" charset="178"/>
              </a:rPr>
              <a:t>Self-Criticism</a:t>
            </a:r>
            <a:endParaRPr lang="en-US" sz="1400" dirty="0"/>
          </a:p>
        </p:txBody>
      </p:sp>
      <p:sp>
        <p:nvSpPr>
          <p:cNvPr id="15" name="arrow"/>
          <p:cNvSpPr/>
          <p:nvPr/>
        </p:nvSpPr>
        <p:spPr>
          <a:xfrm flipH="1">
            <a:off x="3108960" y="2670048"/>
            <a:ext cx="406298" cy="0"/>
          </a:xfrm>
          <a:prstGeom prst="line">
            <a:avLst/>
          </a:prstGeom>
          <a:noFill/>
          <a:ln w="12700">
            <a:solidFill>
              <a:schemeClr val="accent5"/>
            </a:solidFill>
            <a:prstDash val="solid"/>
            <a:tailEnd type="arrow"/>
          </a:ln>
        </p:spPr>
      </p:sp>
      <p:sp>
        <p:nvSpPr>
          <p:cNvPr id="16" name="Text 13"/>
          <p:cNvSpPr txBox="1"/>
          <p:nvPr/>
        </p:nvSpPr>
        <p:spPr>
          <a:xfrm>
            <a:off x="822960" y="2286000"/>
            <a:ext cx="2194560" cy="731520"/>
          </a:xfrm>
          <a:prstGeom prst="rect">
            <a:avLst/>
          </a:prstGeom>
          <a:noFill/>
          <a:ln/>
        </p:spPr>
        <p:txBody>
          <a:bodyPr wrap="square" lIns="0" tIns="0" rIns="0" bIns="0" rtlCol="0" anchor="t"/>
          <a:lstStyle/>
          <a:p>
            <a:pPr rtl="1" algn="ctr" indent="0" marL="0">
              <a:buNone/>
            </a:pPr>
            <a:r>
              <a:rPr lang="fa-IR" altLang="en-US" sz="4400" b="1" dirty="0">
                <a:solidFill>
                  <a:schemeClr val="accent2"/>
                </a:solidFill>
                <a:latin typeface="Arial" pitchFamily="34" charset="0"/>
                <a:cs typeface="Arial" pitchFamily="34" charset="178"/>
              </a:rPr>
              <a:t>۴</a:t>
            </a:r>
            <a:endParaRPr lang="fa-IR" sz="4400" dirty="0"/>
          </a:p>
        </p:txBody>
      </p:sp>
      <p:sp>
        <p:nvSpPr>
          <p:cNvPr id="17" name="Text 14"/>
          <p:cNvSpPr txBox="1"/>
          <p:nvPr/>
        </p:nvSpPr>
        <p:spPr>
          <a:xfrm>
            <a:off x="822960" y="3246120"/>
            <a:ext cx="2194560" cy="868680"/>
          </a:xfrm>
          <a:prstGeom prst="rect">
            <a:avLst/>
          </a:prstGeom>
          <a:noFill/>
          <a:ln/>
        </p:spPr>
        <p:txBody>
          <a:bodyPr wrap="square" lIns="0" tIns="0" rIns="0" bIns="0" rtlCol="0" anchor="t"/>
          <a:lstStyle/>
          <a:p>
            <a:pPr rtl="1" algn="ctr" indent="0" marL="0">
              <a:lnSpc>
                <a:spcPct val="105000"/>
              </a:lnSpc>
              <a:buNone/>
            </a:pPr>
            <a:r>
              <a:rPr lang="fa-IR" altLang="en-US" sz="2400" b="1" dirty="0">
                <a:solidFill>
                  <a:schemeClr val="tx1"/>
                </a:solidFill>
                <a:latin typeface="Arial" pitchFamily="34" charset="0"/>
                <a:cs typeface="Arial" pitchFamily="34" charset="178"/>
              </a:rPr>
              <a:t>پاسخ متفاوت به خود</a:t>
            </a:r>
            <a:endParaRPr lang="fa-IR" sz="2400" dirty="0"/>
          </a:p>
        </p:txBody>
      </p:sp>
      <p:sp>
        <p:nvSpPr>
          <p:cNvPr id="18" name="Text 15"/>
          <p:cNvSpPr txBox="1"/>
          <p:nvPr/>
        </p:nvSpPr>
        <p:spPr>
          <a:xfrm>
            <a:off x="822960" y="4206240"/>
            <a:ext cx="2194560" cy="502920"/>
          </a:xfrm>
          <a:prstGeom prst="rect">
            <a:avLst/>
          </a:prstGeom>
          <a:noFill/>
          <a:ln/>
        </p:spPr>
        <p:txBody>
          <a:bodyPr wrap="square" lIns="0" tIns="0" rIns="0" bIns="0" rtlCol="0" anchor="t"/>
          <a:lstStyle/>
          <a:p>
            <a:pPr algn="ctr" indent="0" marL="0">
              <a:buNone/>
            </a:pPr>
            <a:r>
              <a:rPr lang="en-US" altLang="en-US" sz="1400" dirty="0">
                <a:solidFill>
                  <a:schemeClr val="accent5"/>
                </a:solidFill>
                <a:latin typeface="Arial" pitchFamily="34" charset="0"/>
                <a:cs typeface="Arial" pitchFamily="34" charset="178"/>
              </a:rPr>
              <a:t>Self-Compassion / Protection</a:t>
            </a:r>
            <a:endParaRPr lang="en-US" sz="1400" dirty="0"/>
          </a:p>
        </p:txBody>
      </p:sp>
      <p:sp>
        <p:nvSpPr>
          <p:cNvPr id="19" name="Text 16"/>
          <p:cNvSpPr txBox="1"/>
          <p:nvPr/>
        </p:nvSpPr>
        <p:spPr>
          <a:xfrm>
            <a:off x="822960" y="5212080"/>
            <a:ext cx="10545775" cy="457200"/>
          </a:xfrm>
          <a:prstGeom prst="rect">
            <a:avLst/>
          </a:prstGeom>
          <a:noFill/>
          <a:ln/>
        </p:spPr>
        <p:txBody>
          <a:bodyPr wrap="square" lIns="0" tIns="0" rIns="0" bIns="0" rtlCol="0" anchor="ctr"/>
          <a:lstStyle/>
          <a:p>
            <a:pPr rtl="1" algn="r" indent="0" marL="0">
              <a:buNone/>
            </a:pPr>
            <a:r>
              <a:rPr lang="fa-IR" altLang="en-US" sz="2200" b="1" dirty="0">
                <a:solidFill>
                  <a:schemeClr val="accent3"/>
                </a:solidFill>
                <a:latin typeface="Arial" pitchFamily="34" charset="0"/>
                <a:cs typeface="Arial" pitchFamily="34" charset="178"/>
              </a:rPr>
              <a:t>هدف: حذف احساس نیست؛ تغییر پاسخ به منتقد است.</a:t>
            </a:r>
            <a:endParaRPr lang="fa-IR" sz="2200" dirty="0"/>
          </a:p>
        </p:txBody>
      </p:sp>
      <p:sp>
        <p:nvSpPr>
          <p:cNvPr id="20" name="Text 17"/>
          <p:cNvSpPr txBox="1"/>
          <p:nvPr/>
        </p:nvSpPr>
        <p:spPr>
          <a:xfrm>
            <a:off x="4114800" y="6355080"/>
            <a:ext cx="7253935" cy="274320"/>
          </a:xfrm>
          <a:prstGeom prst="rect">
            <a:avLst/>
          </a:prstGeom>
          <a:noFill/>
          <a:ln/>
        </p:spPr>
        <p:txBody>
          <a:bodyPr wrap="square" lIns="0" tIns="0" rIns="0" bIns="0" rtlCol="0" anchor="ctr"/>
          <a:lstStyle/>
          <a:p>
            <a:pPr rtl="1" algn="r" indent="0" marL="0">
              <a:buNone/>
            </a:pPr>
            <a:r>
              <a:rPr lang="fa-IR" altLang="en-US" sz="1200" dirty="0">
                <a:solidFill>
                  <a:schemeClr val="accent5"/>
                </a:solidFill>
                <a:latin typeface="Arial" pitchFamily="34" charset="0"/>
                <a:cs typeface="Arial" pitchFamily="34" charset="178"/>
              </a:rPr>
              <a:t>Šoková et al., 2025</a:t>
            </a:r>
            <a:endParaRPr lang="fa-IR" sz="12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ag"/>
          <p:cNvSpPr/>
          <p:nvPr/>
        </p:nvSpPr>
        <p:spPr>
          <a:xfrm>
            <a:off x="10362895" y="347472"/>
            <a:ext cx="1005840" cy="347472"/>
          </a:xfrm>
          <a:prstGeom prst="roundRect">
            <a:avLst>
              <a:gd name="adj" fmla="val 50000"/>
            </a:avLst>
          </a:prstGeom>
          <a:solidFill>
            <a:schemeClr val="accent2"/>
          </a:solidFill>
          <a:ln w="12700">
            <a:solidFill>
              <a:schemeClr val="accent2"/>
            </a:solidFill>
            <a:prstDash val="solid"/>
          </a:ln>
        </p:spPr>
      </p:sp>
      <p:sp>
        <p:nvSpPr>
          <p:cNvPr id="4" name="Text 1"/>
          <p:cNvSpPr txBox="1"/>
          <p:nvPr/>
        </p:nvSpPr>
        <p:spPr>
          <a:xfrm>
            <a:off x="10362895" y="347472"/>
            <a:ext cx="1005840" cy="347472"/>
          </a:xfrm>
          <a:prstGeom prst="rect">
            <a:avLst/>
          </a:prstGeom>
          <a:noFill/>
          <a:ln/>
        </p:spPr>
        <p:txBody>
          <a:bodyPr wrap="square" lIns="0" tIns="0" rIns="0" bIns="0" rtlCol="0" anchor="ctr"/>
          <a:lstStyle/>
          <a:p>
            <a:pPr rtl="1" algn="ctr" indent="0" marL="0">
              <a:buNone/>
            </a:pPr>
            <a:r>
              <a:rPr lang="fa-IR" altLang="en-US" sz="1400" b="1" dirty="0">
                <a:solidFill>
                  <a:schemeClr val="bg1"/>
                </a:solidFill>
                <a:latin typeface="Arial" pitchFamily="34" charset="0"/>
                <a:cs typeface="Arial" pitchFamily="34" charset="178"/>
              </a:rPr>
              <a:t>تمرین</a:t>
            </a:r>
            <a:endParaRPr lang="fa-IR" sz="1400" dirty="0"/>
          </a:p>
        </p:txBody>
      </p:sp>
      <p:sp>
        <p:nvSpPr>
          <p:cNvPr id="5" name="tag"/>
          <p:cNvSpPr/>
          <p:nvPr/>
        </p:nvSpPr>
        <p:spPr>
          <a:xfrm>
            <a:off x="9082735" y="347472"/>
            <a:ext cx="1143000" cy="347472"/>
          </a:xfrm>
          <a:prstGeom prst="roundRect">
            <a:avLst>
              <a:gd name="adj" fmla="val 50000"/>
            </a:avLst>
          </a:prstGeom>
          <a:solidFill>
            <a:schemeClr val="bg1"/>
          </a:solidFill>
          <a:ln w="12700">
            <a:solidFill>
              <a:schemeClr val="accent2"/>
            </a:solidFill>
            <a:prstDash val="solid"/>
          </a:ln>
        </p:spPr>
      </p:sp>
      <p:sp>
        <p:nvSpPr>
          <p:cNvPr id="6" name="Text 3"/>
          <p:cNvSpPr txBox="1"/>
          <p:nvPr/>
        </p:nvSpPr>
        <p:spPr>
          <a:xfrm>
            <a:off x="9082735" y="347472"/>
            <a:ext cx="1143000" cy="347472"/>
          </a:xfrm>
          <a:prstGeom prst="rect">
            <a:avLst/>
          </a:prstGeom>
          <a:noFill/>
          <a:ln/>
        </p:spPr>
        <p:txBody>
          <a:bodyPr wrap="square" lIns="0" tIns="0" rIns="0" bIns="0" rtlCol="0" anchor="ctr"/>
          <a:lstStyle/>
          <a:p>
            <a:pPr rtl="1" algn="ctr" indent="0" marL="0">
              <a:buNone/>
            </a:pPr>
            <a:r>
              <a:rPr lang="fa-IR" altLang="en-US" sz="1400" b="1" dirty="0">
                <a:solidFill>
                  <a:schemeClr val="accent2"/>
                </a:solidFill>
                <a:latin typeface="Arial" pitchFamily="34" charset="0"/>
                <a:cs typeface="Arial" pitchFamily="34" charset="178"/>
              </a:rPr>
              <a:t>۸ دقیقه</a:t>
            </a:r>
            <a:endParaRPr lang="fa-IR" sz="1400" dirty="0"/>
          </a:p>
        </p:txBody>
      </p:sp>
      <p:sp>
        <p:nvSpPr>
          <p:cNvPr id="7"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تمرین ۱ | آخرین باری که خودتان را سرزنش کردید</a:t>
            </a:r>
            <a:endParaRPr lang="fa-IR" sz="3200" dirty="0"/>
          </a:p>
        </p:txBody>
      </p:sp>
      <p:sp>
        <p:nvSpPr>
          <p:cNvPr id="8" name="marker"/>
          <p:cNvSpPr/>
          <p:nvPr/>
        </p:nvSpPr>
        <p:spPr>
          <a:xfrm>
            <a:off x="10911535" y="2121408"/>
            <a:ext cx="457200" cy="457200"/>
          </a:xfrm>
          <a:prstGeom prst="ellipse">
            <a:avLst/>
          </a:prstGeom>
          <a:solidFill>
            <a:schemeClr val="accent2"/>
          </a:solidFill>
          <a:ln/>
        </p:spPr>
      </p:sp>
      <p:sp>
        <p:nvSpPr>
          <p:cNvPr id="9" name="Text 6"/>
          <p:cNvSpPr txBox="1"/>
          <p:nvPr/>
        </p:nvSpPr>
        <p:spPr>
          <a:xfrm>
            <a:off x="10911535" y="2121408"/>
            <a:ext cx="457200" cy="457200"/>
          </a:xfrm>
          <a:prstGeom prst="rect">
            <a:avLst/>
          </a:prstGeom>
          <a:noFill/>
          <a:ln/>
        </p:spPr>
        <p:txBody>
          <a:bodyPr wrap="square" lIns="0" tIns="0" rIns="0" bIns="0" rtlCol="0" anchor="ctr"/>
          <a:lstStyle/>
          <a:p>
            <a:pPr rtl="1" algn="ctr" indent="0" marL="0">
              <a:buNone/>
            </a:pPr>
            <a:r>
              <a:rPr lang="fa-IR" altLang="en-US" sz="1800" b="1" dirty="0">
                <a:solidFill>
                  <a:schemeClr val="bg1"/>
                </a:solidFill>
                <a:latin typeface="Arial" pitchFamily="34" charset="0"/>
                <a:cs typeface="Arial" pitchFamily="34" charset="178"/>
              </a:rPr>
              <a:t>۱</a:t>
            </a:r>
            <a:endParaRPr lang="fa-IR" sz="1800" dirty="0"/>
          </a:p>
        </p:txBody>
      </p:sp>
      <p:sp>
        <p:nvSpPr>
          <p:cNvPr id="10" name="Text 7"/>
          <p:cNvSpPr txBox="1"/>
          <p:nvPr/>
        </p:nvSpPr>
        <p:spPr>
          <a:xfrm>
            <a:off x="822960" y="2084832"/>
            <a:ext cx="9722815" cy="457200"/>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چه اتفاقی افتاد؟</a:t>
            </a:r>
            <a:endParaRPr lang="fa-IR" sz="2400" dirty="0"/>
          </a:p>
        </p:txBody>
      </p:sp>
      <p:sp>
        <p:nvSpPr>
          <p:cNvPr id="11" name="Text 8"/>
          <p:cNvSpPr txBox="1"/>
          <p:nvPr/>
        </p:nvSpPr>
        <p:spPr>
          <a:xfrm>
            <a:off x="822960" y="2468880"/>
            <a:ext cx="9722815" cy="274320"/>
          </a:xfrm>
          <a:prstGeom prst="rect">
            <a:avLst/>
          </a:prstGeom>
          <a:noFill/>
          <a:ln/>
        </p:spPr>
        <p:txBody>
          <a:bodyPr wrap="square" lIns="0" tIns="0" rIns="0" bIns="0" rtlCol="0" anchor="ctr"/>
          <a:lstStyle/>
          <a:p>
            <a:pPr rtl="1" algn="r" indent="0" marL="0">
              <a:buNone/>
            </a:pPr>
            <a:r>
              <a:rPr lang="fa-IR" altLang="en-US" sz="1500" dirty="0">
                <a:solidFill>
                  <a:schemeClr val="accent5"/>
                </a:solidFill>
                <a:latin typeface="Arial" pitchFamily="34" charset="0"/>
                <a:cs typeface="Arial" pitchFamily="34" charset="178"/>
              </a:rPr>
              <a:t>فقط واقعیت.</a:t>
            </a:r>
            <a:endParaRPr lang="fa-IR" sz="1500" dirty="0"/>
          </a:p>
        </p:txBody>
      </p:sp>
      <p:sp>
        <p:nvSpPr>
          <p:cNvPr id="12" name="rule"/>
          <p:cNvSpPr/>
          <p:nvPr/>
        </p:nvSpPr>
        <p:spPr>
          <a:xfrm>
            <a:off x="822960" y="2779776"/>
            <a:ext cx="10545775" cy="0"/>
          </a:xfrm>
          <a:prstGeom prst="line">
            <a:avLst/>
          </a:prstGeom>
          <a:noFill/>
          <a:ln w="9525">
            <a:solidFill>
              <a:schemeClr val="accent4"/>
            </a:solidFill>
            <a:prstDash val="solid"/>
          </a:ln>
        </p:spPr>
      </p:sp>
      <p:sp>
        <p:nvSpPr>
          <p:cNvPr id="13" name="marker"/>
          <p:cNvSpPr/>
          <p:nvPr/>
        </p:nvSpPr>
        <p:spPr>
          <a:xfrm>
            <a:off x="10911535" y="2907792"/>
            <a:ext cx="457200" cy="457200"/>
          </a:xfrm>
          <a:prstGeom prst="ellipse">
            <a:avLst/>
          </a:prstGeom>
          <a:solidFill>
            <a:schemeClr val="accent2"/>
          </a:solidFill>
          <a:ln/>
        </p:spPr>
      </p:sp>
      <p:sp>
        <p:nvSpPr>
          <p:cNvPr id="14" name="Text 11"/>
          <p:cNvSpPr txBox="1"/>
          <p:nvPr/>
        </p:nvSpPr>
        <p:spPr>
          <a:xfrm>
            <a:off x="10911535" y="2907792"/>
            <a:ext cx="457200" cy="457200"/>
          </a:xfrm>
          <a:prstGeom prst="rect">
            <a:avLst/>
          </a:prstGeom>
          <a:noFill/>
          <a:ln/>
        </p:spPr>
        <p:txBody>
          <a:bodyPr wrap="square" lIns="0" tIns="0" rIns="0" bIns="0" rtlCol="0" anchor="ctr"/>
          <a:lstStyle/>
          <a:p>
            <a:pPr rtl="1" algn="ctr" indent="0" marL="0">
              <a:buNone/>
            </a:pPr>
            <a:r>
              <a:rPr lang="fa-IR" altLang="en-US" sz="1800" b="1" dirty="0">
                <a:solidFill>
                  <a:schemeClr val="bg1"/>
                </a:solidFill>
                <a:latin typeface="Arial" pitchFamily="34" charset="0"/>
                <a:cs typeface="Arial" pitchFamily="34" charset="178"/>
              </a:rPr>
              <a:t>۲</a:t>
            </a:r>
            <a:endParaRPr lang="fa-IR" sz="1800" dirty="0"/>
          </a:p>
        </p:txBody>
      </p:sp>
      <p:sp>
        <p:nvSpPr>
          <p:cNvPr id="15" name="Text 12"/>
          <p:cNvSpPr txBox="1"/>
          <p:nvPr/>
        </p:nvSpPr>
        <p:spPr>
          <a:xfrm>
            <a:off x="822960" y="2871216"/>
            <a:ext cx="9722815" cy="457200"/>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اولین احساس شما چه بود؟</a:t>
            </a:r>
            <a:endParaRPr lang="fa-IR" sz="2400" dirty="0"/>
          </a:p>
        </p:txBody>
      </p:sp>
      <p:sp>
        <p:nvSpPr>
          <p:cNvPr id="16" name="rule"/>
          <p:cNvSpPr/>
          <p:nvPr/>
        </p:nvSpPr>
        <p:spPr>
          <a:xfrm>
            <a:off x="822960" y="3566160"/>
            <a:ext cx="10545775" cy="0"/>
          </a:xfrm>
          <a:prstGeom prst="line">
            <a:avLst/>
          </a:prstGeom>
          <a:noFill/>
          <a:ln w="9525">
            <a:solidFill>
              <a:schemeClr val="accent4"/>
            </a:solidFill>
            <a:prstDash val="solid"/>
          </a:ln>
        </p:spPr>
      </p:sp>
      <p:sp>
        <p:nvSpPr>
          <p:cNvPr id="17" name="marker"/>
          <p:cNvSpPr/>
          <p:nvPr/>
        </p:nvSpPr>
        <p:spPr>
          <a:xfrm>
            <a:off x="10911535" y="3694176"/>
            <a:ext cx="457200" cy="457200"/>
          </a:xfrm>
          <a:prstGeom prst="ellipse">
            <a:avLst/>
          </a:prstGeom>
          <a:solidFill>
            <a:schemeClr val="accent2"/>
          </a:solidFill>
          <a:ln/>
        </p:spPr>
      </p:sp>
      <p:sp>
        <p:nvSpPr>
          <p:cNvPr id="18" name="Text 15"/>
          <p:cNvSpPr txBox="1"/>
          <p:nvPr/>
        </p:nvSpPr>
        <p:spPr>
          <a:xfrm>
            <a:off x="10911535" y="3694176"/>
            <a:ext cx="457200" cy="457200"/>
          </a:xfrm>
          <a:prstGeom prst="rect">
            <a:avLst/>
          </a:prstGeom>
          <a:noFill/>
          <a:ln/>
        </p:spPr>
        <p:txBody>
          <a:bodyPr wrap="square" lIns="0" tIns="0" rIns="0" bIns="0" rtlCol="0" anchor="ctr"/>
          <a:lstStyle/>
          <a:p>
            <a:pPr rtl="1" algn="ctr" indent="0" marL="0">
              <a:buNone/>
            </a:pPr>
            <a:r>
              <a:rPr lang="fa-IR" altLang="en-US" sz="1800" b="1" dirty="0">
                <a:solidFill>
                  <a:schemeClr val="bg1"/>
                </a:solidFill>
                <a:latin typeface="Arial" pitchFamily="34" charset="0"/>
                <a:cs typeface="Arial" pitchFamily="34" charset="178"/>
              </a:rPr>
              <a:t>۳</a:t>
            </a:r>
            <a:endParaRPr lang="fa-IR" sz="1800" dirty="0"/>
          </a:p>
        </p:txBody>
      </p:sp>
      <p:sp>
        <p:nvSpPr>
          <p:cNvPr id="19" name="Text 16"/>
          <p:cNvSpPr txBox="1"/>
          <p:nvPr/>
        </p:nvSpPr>
        <p:spPr>
          <a:xfrm>
            <a:off x="822960" y="3657600"/>
            <a:ext cx="9722815" cy="457200"/>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منتقد درونی دقیقاً چه گفت؟</a:t>
            </a:r>
            <a:endParaRPr lang="fa-IR" sz="2400" dirty="0"/>
          </a:p>
        </p:txBody>
      </p:sp>
      <p:sp>
        <p:nvSpPr>
          <p:cNvPr id="20" name="rule"/>
          <p:cNvSpPr/>
          <p:nvPr/>
        </p:nvSpPr>
        <p:spPr>
          <a:xfrm>
            <a:off x="822960" y="4352544"/>
            <a:ext cx="10545775" cy="0"/>
          </a:xfrm>
          <a:prstGeom prst="line">
            <a:avLst/>
          </a:prstGeom>
          <a:noFill/>
          <a:ln w="9525">
            <a:solidFill>
              <a:schemeClr val="accent4"/>
            </a:solidFill>
            <a:prstDash val="solid"/>
          </a:ln>
        </p:spPr>
      </p:sp>
      <p:sp>
        <p:nvSpPr>
          <p:cNvPr id="21" name="marker"/>
          <p:cNvSpPr/>
          <p:nvPr/>
        </p:nvSpPr>
        <p:spPr>
          <a:xfrm>
            <a:off x="10911535" y="4480560"/>
            <a:ext cx="457200" cy="457200"/>
          </a:xfrm>
          <a:prstGeom prst="ellipse">
            <a:avLst/>
          </a:prstGeom>
          <a:solidFill>
            <a:schemeClr val="accent2"/>
          </a:solidFill>
          <a:ln/>
        </p:spPr>
      </p:sp>
      <p:sp>
        <p:nvSpPr>
          <p:cNvPr id="22" name="Text 19"/>
          <p:cNvSpPr txBox="1"/>
          <p:nvPr/>
        </p:nvSpPr>
        <p:spPr>
          <a:xfrm>
            <a:off x="10911535" y="4480560"/>
            <a:ext cx="457200" cy="457200"/>
          </a:xfrm>
          <a:prstGeom prst="rect">
            <a:avLst/>
          </a:prstGeom>
          <a:noFill/>
          <a:ln/>
        </p:spPr>
        <p:txBody>
          <a:bodyPr wrap="square" lIns="0" tIns="0" rIns="0" bIns="0" rtlCol="0" anchor="ctr"/>
          <a:lstStyle/>
          <a:p>
            <a:pPr rtl="1" algn="ctr" indent="0" marL="0">
              <a:buNone/>
            </a:pPr>
            <a:r>
              <a:rPr lang="fa-IR" altLang="en-US" sz="1800" b="1" dirty="0">
                <a:solidFill>
                  <a:schemeClr val="bg1"/>
                </a:solidFill>
                <a:latin typeface="Arial" pitchFamily="34" charset="0"/>
                <a:cs typeface="Arial" pitchFamily="34" charset="178"/>
              </a:rPr>
              <a:t>۴</a:t>
            </a:r>
            <a:endParaRPr lang="fa-IR" sz="1800" dirty="0"/>
          </a:p>
        </p:txBody>
      </p:sp>
      <p:sp>
        <p:nvSpPr>
          <p:cNvPr id="23" name="Text 20"/>
          <p:cNvSpPr txBox="1"/>
          <p:nvPr/>
        </p:nvSpPr>
        <p:spPr>
          <a:xfrm>
            <a:off x="822960" y="4443984"/>
            <a:ext cx="9722815" cy="457200"/>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این صدا بیشتر شبیه کدام الگو بود؟</a:t>
            </a:r>
            <a:endParaRPr lang="fa-IR" sz="2400" dirty="0"/>
          </a:p>
        </p:txBody>
      </p:sp>
      <p:sp>
        <p:nvSpPr>
          <p:cNvPr id="24" name="rule"/>
          <p:cNvSpPr/>
          <p:nvPr/>
        </p:nvSpPr>
        <p:spPr>
          <a:xfrm>
            <a:off x="822960" y="5138928"/>
            <a:ext cx="10545775" cy="0"/>
          </a:xfrm>
          <a:prstGeom prst="line">
            <a:avLst/>
          </a:prstGeom>
          <a:noFill/>
          <a:ln w="9525">
            <a:solidFill>
              <a:schemeClr val="accent4"/>
            </a:solidFill>
            <a:prstDash val="solid"/>
          </a:ln>
        </p:spPr>
      </p:sp>
      <p:sp>
        <p:nvSpPr>
          <p:cNvPr id="25" name="marker"/>
          <p:cNvSpPr/>
          <p:nvPr/>
        </p:nvSpPr>
        <p:spPr>
          <a:xfrm>
            <a:off x="10911535" y="5266944"/>
            <a:ext cx="457200" cy="457200"/>
          </a:xfrm>
          <a:prstGeom prst="ellipse">
            <a:avLst/>
          </a:prstGeom>
          <a:solidFill>
            <a:schemeClr val="accent2"/>
          </a:solidFill>
          <a:ln/>
        </p:spPr>
      </p:sp>
      <p:sp>
        <p:nvSpPr>
          <p:cNvPr id="26" name="Text 23"/>
          <p:cNvSpPr txBox="1"/>
          <p:nvPr/>
        </p:nvSpPr>
        <p:spPr>
          <a:xfrm>
            <a:off x="10911535" y="5266944"/>
            <a:ext cx="457200" cy="457200"/>
          </a:xfrm>
          <a:prstGeom prst="rect">
            <a:avLst/>
          </a:prstGeom>
          <a:noFill/>
          <a:ln/>
        </p:spPr>
        <p:txBody>
          <a:bodyPr wrap="square" lIns="0" tIns="0" rIns="0" bIns="0" rtlCol="0" anchor="ctr"/>
          <a:lstStyle/>
          <a:p>
            <a:pPr rtl="1" algn="ctr" indent="0" marL="0">
              <a:buNone/>
            </a:pPr>
            <a:r>
              <a:rPr lang="fa-IR" altLang="en-US" sz="1800" b="1" dirty="0">
                <a:solidFill>
                  <a:schemeClr val="bg1"/>
                </a:solidFill>
                <a:latin typeface="Arial" pitchFamily="34" charset="0"/>
                <a:cs typeface="Arial" pitchFamily="34" charset="178"/>
              </a:rPr>
              <a:t>۵</a:t>
            </a:r>
            <a:endParaRPr lang="fa-IR" sz="1800" dirty="0"/>
          </a:p>
        </p:txBody>
      </p:sp>
      <p:sp>
        <p:nvSpPr>
          <p:cNvPr id="27" name="Text 24"/>
          <p:cNvSpPr txBox="1"/>
          <p:nvPr/>
        </p:nvSpPr>
        <p:spPr>
          <a:xfrm>
            <a:off x="822960" y="5230368"/>
            <a:ext cx="9722815" cy="457200"/>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اگر قرار نبود خودتان را تنبیه کنید، چه نیازی داشتید؟</a:t>
            </a:r>
            <a:endParaRPr lang="fa-IR" sz="2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822960" y="914400"/>
            <a:ext cx="10545775" cy="548640"/>
          </a:xfrm>
          <a:prstGeom prst="rect">
            <a:avLst/>
          </a:prstGeom>
          <a:noFill/>
          <a:ln/>
        </p:spPr>
        <p:txBody>
          <a:bodyPr wrap="square" lIns="0" tIns="0" rIns="0" bIns="0" rtlCol="0" anchor="t"/>
          <a:lstStyle/>
          <a:p>
            <a:pPr rtl="1" algn="r" indent="0" marL="0">
              <a:buNone/>
            </a:pPr>
            <a:r>
              <a:rPr lang="fa-IR" altLang="en-US" sz="2400" dirty="0">
                <a:solidFill>
                  <a:schemeClr val="accent5"/>
                </a:solidFill>
                <a:latin typeface="Arial" pitchFamily="34" charset="0"/>
                <a:cs typeface="Arial" pitchFamily="34" charset="178"/>
              </a:rPr>
              <a:t>اما چرا بعد از تمام شدن اتفاق، ذهن ادامه می‌دهد؟</a:t>
            </a:r>
            <a:endParaRPr lang="fa-IR" sz="2400" dirty="0"/>
          </a:p>
        </p:txBody>
      </p:sp>
      <p:sp>
        <p:nvSpPr>
          <p:cNvPr id="4" name="Text 1"/>
          <p:cNvSpPr txBox="1"/>
          <p:nvPr/>
        </p:nvSpPr>
        <p:spPr>
          <a:xfrm>
            <a:off x="822960" y="2468880"/>
            <a:ext cx="10545775" cy="1645920"/>
          </a:xfrm>
          <a:prstGeom prst="rect">
            <a:avLst/>
          </a:prstGeom>
          <a:noFill/>
          <a:ln/>
        </p:spPr>
        <p:txBody>
          <a:bodyPr wrap="square" lIns="0" tIns="0" rIns="0" bIns="0" rtlCol="0" anchor="ctr"/>
          <a:lstStyle/>
          <a:p>
            <a:pPr rtl="1" algn="r" indent="0" marL="0">
              <a:buNone/>
            </a:pPr>
            <a:r>
              <a:rPr lang="fa-IR" altLang="en-US" sz="6600" b="1" dirty="0">
                <a:solidFill>
                  <a:schemeClr val="accent1"/>
                </a:solidFill>
                <a:latin typeface="Arial" pitchFamily="34" charset="0"/>
                <a:cs typeface="Arial" pitchFamily="34" charset="178"/>
              </a:rPr>
              <a:t>«من باید بفهمم چرا.»</a:t>
            </a:r>
            <a:endParaRPr lang="fa-IR" sz="6600" dirty="0"/>
          </a:p>
        </p:txBody>
      </p:sp>
      <p:sp>
        <p:nvSpPr>
          <p:cNvPr id="5" name="Text 2"/>
          <p:cNvSpPr txBox="1"/>
          <p:nvPr/>
        </p:nvSpPr>
        <p:spPr>
          <a:xfrm>
            <a:off x="822960" y="4572000"/>
            <a:ext cx="10545775" cy="548640"/>
          </a:xfrm>
          <a:prstGeom prst="rect">
            <a:avLst/>
          </a:prstGeom>
          <a:noFill/>
          <a:ln/>
        </p:spPr>
        <p:txBody>
          <a:bodyPr wrap="square" lIns="0" tIns="0" rIns="0" bIns="0" rtlCol="0" anchor="t"/>
          <a:lstStyle/>
          <a:p>
            <a:pPr rtl="1" algn="r" indent="0" marL="0">
              <a:buNone/>
            </a:pPr>
            <a:r>
              <a:rPr lang="fa-IR" altLang="en-US" sz="2400" dirty="0">
                <a:solidFill>
                  <a:schemeClr val="tx1"/>
                </a:solidFill>
                <a:latin typeface="Arial" pitchFamily="34" charset="0"/>
                <a:cs typeface="Arial" pitchFamily="34" charset="178"/>
              </a:rPr>
              <a:t>و گاهی این تلاش برای فهمیدن، تبدیل به نشخوار می‌شود.</a:t>
            </a:r>
            <a:endParaRPr lang="fa-IR" sz="2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نشخوار فکری چرا این‌قدر قانع‌کننده است؟</a:t>
            </a:r>
            <a:endParaRPr lang="fa-IR" sz="3200" dirty="0"/>
          </a:p>
        </p:txBody>
      </p:sp>
      <p:sp>
        <p:nvSpPr>
          <p:cNvPr id="4" name="Text 1"/>
          <p:cNvSpPr txBox="1"/>
          <p:nvPr/>
        </p:nvSpPr>
        <p:spPr>
          <a:xfrm>
            <a:off x="8259775" y="2194560"/>
            <a:ext cx="3108960" cy="731520"/>
          </a:xfrm>
          <a:prstGeom prst="rect">
            <a:avLst/>
          </a:prstGeom>
          <a:noFill/>
          <a:ln/>
        </p:spPr>
        <p:txBody>
          <a:bodyPr wrap="square" lIns="0" tIns="0" rIns="0" bIns="0" rtlCol="0" anchor="t"/>
          <a:lstStyle/>
          <a:p>
            <a:pPr rtl="1" algn="ctr" indent="0" marL="0">
              <a:buNone/>
            </a:pPr>
            <a:r>
              <a:rPr lang="fa-IR" altLang="en-US" sz="4400" b="1" dirty="0">
                <a:solidFill>
                  <a:schemeClr val="accent1"/>
                </a:solidFill>
                <a:latin typeface="Arial" pitchFamily="34" charset="0"/>
                <a:cs typeface="Arial" pitchFamily="34" charset="178"/>
              </a:rPr>
              <a:t>۱</a:t>
            </a:r>
            <a:endParaRPr lang="fa-IR" sz="4400" dirty="0"/>
          </a:p>
        </p:txBody>
      </p:sp>
      <p:sp>
        <p:nvSpPr>
          <p:cNvPr id="5" name="Text 2"/>
          <p:cNvSpPr txBox="1"/>
          <p:nvPr/>
        </p:nvSpPr>
        <p:spPr>
          <a:xfrm>
            <a:off x="8259775" y="3063240"/>
            <a:ext cx="3108960" cy="502920"/>
          </a:xfrm>
          <a:prstGeom prst="rect">
            <a:avLst/>
          </a:prstGeom>
          <a:noFill/>
          <a:ln/>
        </p:spPr>
        <p:txBody>
          <a:bodyPr wrap="square" lIns="0" tIns="0" rIns="0" bIns="0" rtlCol="0" anchor="t"/>
          <a:lstStyle/>
          <a:p>
            <a:pPr rtl="1" algn="ctr" indent="0" marL="0">
              <a:buNone/>
            </a:pPr>
            <a:r>
              <a:rPr lang="fa-IR" altLang="en-US" sz="2800" b="1" dirty="0">
                <a:solidFill>
                  <a:schemeClr val="tx1"/>
                </a:solidFill>
                <a:latin typeface="Arial" pitchFamily="34" charset="0"/>
                <a:cs typeface="Arial" pitchFamily="34" charset="178"/>
              </a:rPr>
              <a:t>ابهام</a:t>
            </a:r>
            <a:endParaRPr lang="fa-IR" sz="2800" dirty="0"/>
          </a:p>
        </p:txBody>
      </p:sp>
      <p:sp>
        <p:nvSpPr>
          <p:cNvPr id="6" name="Text 3"/>
          <p:cNvSpPr txBox="1"/>
          <p:nvPr/>
        </p:nvSpPr>
        <p:spPr>
          <a:xfrm>
            <a:off x="8259775" y="3749040"/>
            <a:ext cx="3108960" cy="1371600"/>
          </a:xfrm>
          <a:prstGeom prst="rect">
            <a:avLst/>
          </a:prstGeom>
          <a:noFill/>
          <a:ln/>
        </p:spPr>
        <p:txBody>
          <a:bodyPr wrap="square" lIns="0" tIns="0" rIns="0" bIns="0" rtlCol="0" anchor="t"/>
          <a:lstStyle/>
          <a:p>
            <a:pPr rtl="1" algn="ctr" indent="0" marL="0">
              <a:lnSpc>
                <a:spcPct val="125000"/>
              </a:lnSpc>
              <a:buNone/>
            </a:pPr>
            <a:r>
              <a:rPr lang="fa-IR" altLang="en-US" sz="2000" dirty="0">
                <a:solidFill>
                  <a:schemeClr val="accent3"/>
                </a:solidFill>
                <a:latin typeface="Arial" pitchFamily="34" charset="0"/>
                <a:cs typeface="Arial" pitchFamily="34" charset="178"/>
              </a:rPr>
              <a:t>«من هنوز نمی‌فهمم چه اتفاقی افتاد.»</a:t>
            </a:r>
            <a:endParaRPr lang="fa-IR" sz="2000" dirty="0"/>
          </a:p>
        </p:txBody>
      </p:sp>
      <p:sp>
        <p:nvSpPr>
          <p:cNvPr id="7" name="arrow"/>
          <p:cNvSpPr/>
          <p:nvPr/>
        </p:nvSpPr>
        <p:spPr>
          <a:xfrm flipH="1">
            <a:off x="7741768" y="2578608"/>
            <a:ext cx="426568" cy="0"/>
          </a:xfrm>
          <a:prstGeom prst="line">
            <a:avLst/>
          </a:prstGeom>
          <a:noFill/>
          <a:ln w="12700">
            <a:solidFill>
              <a:schemeClr val="accent5"/>
            </a:solidFill>
            <a:prstDash val="solid"/>
            <a:tailEnd type="arrow"/>
          </a:ln>
        </p:spPr>
      </p:sp>
      <p:sp>
        <p:nvSpPr>
          <p:cNvPr id="8" name="Text 5"/>
          <p:cNvSpPr txBox="1"/>
          <p:nvPr/>
        </p:nvSpPr>
        <p:spPr>
          <a:xfrm>
            <a:off x="4541368" y="2194560"/>
            <a:ext cx="3108960" cy="731520"/>
          </a:xfrm>
          <a:prstGeom prst="rect">
            <a:avLst/>
          </a:prstGeom>
          <a:noFill/>
          <a:ln/>
        </p:spPr>
        <p:txBody>
          <a:bodyPr wrap="square" lIns="0" tIns="0" rIns="0" bIns="0" rtlCol="0" anchor="t"/>
          <a:lstStyle/>
          <a:p>
            <a:pPr rtl="1" algn="ctr" indent="0" marL="0">
              <a:buNone/>
            </a:pPr>
            <a:r>
              <a:rPr lang="fa-IR" altLang="en-US" sz="4400" b="1" dirty="0">
                <a:solidFill>
                  <a:schemeClr val="accent1"/>
                </a:solidFill>
                <a:latin typeface="Arial" pitchFamily="34" charset="0"/>
                <a:cs typeface="Arial" pitchFamily="34" charset="178"/>
              </a:rPr>
              <a:t>۲</a:t>
            </a:r>
            <a:endParaRPr lang="fa-IR" sz="4400" dirty="0"/>
          </a:p>
        </p:txBody>
      </p:sp>
      <p:sp>
        <p:nvSpPr>
          <p:cNvPr id="9" name="Text 6"/>
          <p:cNvSpPr txBox="1"/>
          <p:nvPr/>
        </p:nvSpPr>
        <p:spPr>
          <a:xfrm>
            <a:off x="4541368" y="3063240"/>
            <a:ext cx="3108960" cy="502920"/>
          </a:xfrm>
          <a:prstGeom prst="rect">
            <a:avLst/>
          </a:prstGeom>
          <a:noFill/>
          <a:ln/>
        </p:spPr>
        <p:txBody>
          <a:bodyPr wrap="square" lIns="0" tIns="0" rIns="0" bIns="0" rtlCol="0" anchor="t"/>
          <a:lstStyle/>
          <a:p>
            <a:pPr rtl="1" algn="ctr" indent="0" marL="0">
              <a:buNone/>
            </a:pPr>
            <a:r>
              <a:rPr lang="fa-IR" altLang="en-US" sz="2800" b="1" dirty="0">
                <a:solidFill>
                  <a:schemeClr val="tx1"/>
                </a:solidFill>
                <a:latin typeface="Arial" pitchFamily="34" charset="0"/>
                <a:cs typeface="Arial" pitchFamily="34" charset="178"/>
              </a:rPr>
              <a:t>تلاش برای معنا</a:t>
            </a:r>
            <a:endParaRPr lang="fa-IR" sz="2800" dirty="0"/>
          </a:p>
        </p:txBody>
      </p:sp>
      <p:sp>
        <p:nvSpPr>
          <p:cNvPr id="10" name="Text 7"/>
          <p:cNvSpPr txBox="1"/>
          <p:nvPr/>
        </p:nvSpPr>
        <p:spPr>
          <a:xfrm>
            <a:off x="4541368" y="3749040"/>
            <a:ext cx="3108960" cy="1371600"/>
          </a:xfrm>
          <a:prstGeom prst="rect">
            <a:avLst/>
          </a:prstGeom>
          <a:noFill/>
          <a:ln/>
        </p:spPr>
        <p:txBody>
          <a:bodyPr wrap="square" lIns="0" tIns="0" rIns="0" bIns="0" rtlCol="0" anchor="t"/>
          <a:lstStyle/>
          <a:p>
            <a:pPr rtl="1" algn="ctr" indent="0" marL="0">
              <a:lnSpc>
                <a:spcPct val="125000"/>
              </a:lnSpc>
              <a:buNone/>
            </a:pPr>
            <a:r>
              <a:rPr lang="fa-IR" altLang="en-US" sz="2000" dirty="0">
                <a:solidFill>
                  <a:schemeClr val="accent3"/>
                </a:solidFill>
                <a:latin typeface="Arial" pitchFamily="34" charset="0"/>
                <a:cs typeface="Arial" pitchFamily="34" charset="178"/>
              </a:rPr>
              <a:t>«اگر بیشتر فکر کنم، شاید بفهمم.»</a:t>
            </a:r>
            <a:endParaRPr lang="fa-IR" sz="2000" dirty="0"/>
          </a:p>
        </p:txBody>
      </p:sp>
      <p:sp>
        <p:nvSpPr>
          <p:cNvPr id="11" name="arrow"/>
          <p:cNvSpPr/>
          <p:nvPr/>
        </p:nvSpPr>
        <p:spPr>
          <a:xfrm flipH="1">
            <a:off x="4023360" y="2578608"/>
            <a:ext cx="426568" cy="0"/>
          </a:xfrm>
          <a:prstGeom prst="line">
            <a:avLst/>
          </a:prstGeom>
          <a:noFill/>
          <a:ln w="12700">
            <a:solidFill>
              <a:schemeClr val="accent5"/>
            </a:solidFill>
            <a:prstDash val="solid"/>
            <a:tailEnd type="arrow"/>
          </a:ln>
        </p:spPr>
      </p:sp>
      <p:sp>
        <p:nvSpPr>
          <p:cNvPr id="12" name="Text 9"/>
          <p:cNvSpPr txBox="1"/>
          <p:nvPr/>
        </p:nvSpPr>
        <p:spPr>
          <a:xfrm>
            <a:off x="822960" y="2194560"/>
            <a:ext cx="3108960" cy="731520"/>
          </a:xfrm>
          <a:prstGeom prst="rect">
            <a:avLst/>
          </a:prstGeom>
          <a:noFill/>
          <a:ln/>
        </p:spPr>
        <p:txBody>
          <a:bodyPr wrap="square" lIns="0" tIns="0" rIns="0" bIns="0" rtlCol="0" anchor="t"/>
          <a:lstStyle/>
          <a:p>
            <a:pPr rtl="1" algn="ctr" indent="0" marL="0">
              <a:buNone/>
            </a:pPr>
            <a:r>
              <a:rPr lang="fa-IR" altLang="en-US" sz="4400" b="1" dirty="0">
                <a:solidFill>
                  <a:schemeClr val="accent1"/>
                </a:solidFill>
                <a:latin typeface="Arial" pitchFamily="34" charset="0"/>
                <a:cs typeface="Arial" pitchFamily="34" charset="178"/>
              </a:rPr>
              <a:t>۳</a:t>
            </a:r>
            <a:endParaRPr lang="fa-IR" sz="4400" dirty="0"/>
          </a:p>
        </p:txBody>
      </p:sp>
      <p:sp>
        <p:nvSpPr>
          <p:cNvPr id="13" name="Text 10"/>
          <p:cNvSpPr txBox="1"/>
          <p:nvPr/>
        </p:nvSpPr>
        <p:spPr>
          <a:xfrm>
            <a:off x="822960" y="3063240"/>
            <a:ext cx="3108960" cy="502920"/>
          </a:xfrm>
          <a:prstGeom prst="rect">
            <a:avLst/>
          </a:prstGeom>
          <a:noFill/>
          <a:ln/>
        </p:spPr>
        <p:txBody>
          <a:bodyPr wrap="square" lIns="0" tIns="0" rIns="0" bIns="0" rtlCol="0" anchor="t"/>
          <a:lstStyle/>
          <a:p>
            <a:pPr rtl="1" algn="ctr" indent="0" marL="0">
              <a:buNone/>
            </a:pPr>
            <a:r>
              <a:rPr lang="fa-IR" altLang="en-US" sz="2800" b="1" dirty="0">
                <a:solidFill>
                  <a:schemeClr val="tx1"/>
                </a:solidFill>
                <a:latin typeface="Arial" pitchFamily="34" charset="0"/>
                <a:cs typeface="Arial" pitchFamily="34" charset="178"/>
              </a:rPr>
              <a:t>گیر افتادن</a:t>
            </a:r>
            <a:endParaRPr lang="fa-IR" sz="2800" dirty="0"/>
          </a:p>
        </p:txBody>
      </p:sp>
      <p:sp>
        <p:nvSpPr>
          <p:cNvPr id="14" name="Text 11"/>
          <p:cNvSpPr txBox="1"/>
          <p:nvPr/>
        </p:nvSpPr>
        <p:spPr>
          <a:xfrm>
            <a:off x="822960" y="3749040"/>
            <a:ext cx="3108960" cy="1371600"/>
          </a:xfrm>
          <a:prstGeom prst="rect">
            <a:avLst/>
          </a:prstGeom>
          <a:noFill/>
          <a:ln/>
        </p:spPr>
        <p:txBody>
          <a:bodyPr wrap="square" lIns="0" tIns="0" rIns="0" bIns="0" rtlCol="0" anchor="t"/>
          <a:lstStyle/>
          <a:p>
            <a:pPr rtl="1" algn="ctr" indent="0" marL="0">
              <a:lnSpc>
                <a:spcPct val="125000"/>
              </a:lnSpc>
              <a:buNone/>
            </a:pPr>
            <a:r>
              <a:rPr lang="fa-IR" altLang="en-US" sz="2000" dirty="0">
                <a:solidFill>
                  <a:schemeClr val="accent3"/>
                </a:solidFill>
                <a:latin typeface="Arial" pitchFamily="34" charset="0"/>
                <a:cs typeface="Arial" pitchFamily="34" charset="178"/>
              </a:rPr>
              <a:t>فکر تکراری</a:t>
            </a:r>
            <a:endParaRPr lang="fa-IR" sz="2000" dirty="0"/>
          </a:p>
          <a:p>
            <a:pPr rtl="1" algn="ctr" indent="0" marL="0">
              <a:lnSpc>
                <a:spcPct val="125000"/>
              </a:lnSpc>
              <a:buNone/>
            </a:pPr>
            <a:r>
              <a:rPr lang="fa-IR" altLang="en-US" sz="2000" dirty="0">
                <a:solidFill>
                  <a:schemeClr val="accent3"/>
                </a:solidFill>
                <a:latin typeface="Arial" pitchFamily="34" charset="0"/>
                <a:cs typeface="Arial" pitchFamily="34" charset="178"/>
              </a:rPr>
              <a:t>فاصله از تجربه</a:t>
            </a:r>
            <a:endParaRPr lang="fa-IR" sz="2000" dirty="0"/>
          </a:p>
          <a:p>
            <a:pPr rtl="1" algn="ctr" indent="0" marL="0">
              <a:lnSpc>
                <a:spcPct val="125000"/>
              </a:lnSpc>
              <a:buNone/>
            </a:pPr>
            <a:r>
              <a:rPr lang="fa-IR" altLang="en-US" sz="2000" dirty="0">
                <a:solidFill>
                  <a:schemeClr val="accent3"/>
                </a:solidFill>
                <a:latin typeface="Arial" pitchFamily="34" charset="0"/>
                <a:cs typeface="Arial" pitchFamily="34" charset="178"/>
              </a:rPr>
              <a:t>احساس گیرکردن</a:t>
            </a:r>
            <a:endParaRPr lang="fa-IR" sz="2000" dirty="0"/>
          </a:p>
        </p:txBody>
      </p:sp>
      <p:sp>
        <p:nvSpPr>
          <p:cNvPr id="15" name="Text 12"/>
          <p:cNvSpPr txBox="1"/>
          <p:nvPr/>
        </p:nvSpPr>
        <p:spPr>
          <a:xfrm>
            <a:off x="4114800" y="6355080"/>
            <a:ext cx="7253935" cy="274320"/>
          </a:xfrm>
          <a:prstGeom prst="rect">
            <a:avLst/>
          </a:prstGeom>
          <a:noFill/>
          <a:ln/>
        </p:spPr>
        <p:txBody>
          <a:bodyPr wrap="square" lIns="0" tIns="0" rIns="0" bIns="0" rtlCol="0" anchor="ctr"/>
          <a:lstStyle/>
          <a:p>
            <a:pPr rtl="1" algn="r" indent="0" marL="0">
              <a:buNone/>
            </a:pPr>
            <a:r>
              <a:rPr lang="fa-IR" altLang="en-US" sz="1200" dirty="0">
                <a:solidFill>
                  <a:schemeClr val="accent5"/>
                </a:solidFill>
                <a:latin typeface="Arial" pitchFamily="34" charset="0"/>
                <a:cs typeface="Arial" pitchFamily="34" charset="178"/>
              </a:rPr>
              <a:t>Oblak et al., 2026</a:t>
            </a:r>
            <a:endParaRPr lang="fa-IR" sz="12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فکر کردن یا نشخوار؟</a:t>
            </a:r>
            <a:endParaRPr lang="fa-IR" sz="3200" dirty="0"/>
          </a:p>
        </p:txBody>
      </p:sp>
      <p:sp>
        <p:nvSpPr>
          <p:cNvPr id="4" name="Text 1"/>
          <p:cNvSpPr txBox="1"/>
          <p:nvPr/>
        </p:nvSpPr>
        <p:spPr>
          <a:xfrm>
            <a:off x="6705295" y="2103120"/>
            <a:ext cx="4663440" cy="548640"/>
          </a:xfrm>
          <a:prstGeom prst="rect">
            <a:avLst/>
          </a:prstGeom>
          <a:noFill/>
          <a:ln/>
        </p:spPr>
        <p:txBody>
          <a:bodyPr wrap="square" lIns="0" tIns="0" rIns="0" bIns="0" rtlCol="0" anchor="t"/>
          <a:lstStyle/>
          <a:p>
            <a:pPr rtl="1" algn="r" indent="0" marL="0">
              <a:buNone/>
            </a:pPr>
            <a:r>
              <a:rPr lang="fa-IR" altLang="en-US" sz="2800" b="1" dirty="0">
                <a:solidFill>
                  <a:schemeClr val="accent2"/>
                </a:solidFill>
                <a:latin typeface="Arial" pitchFamily="34" charset="0"/>
                <a:cs typeface="Arial" pitchFamily="34" charset="178"/>
              </a:rPr>
              <a:t>فکر کردن برای فهمیدن</a:t>
            </a:r>
            <a:endParaRPr lang="fa-IR" sz="2800" dirty="0"/>
          </a:p>
        </p:txBody>
      </p:sp>
      <p:sp>
        <p:nvSpPr>
          <p:cNvPr id="5" name="marker"/>
          <p:cNvSpPr/>
          <p:nvPr/>
        </p:nvSpPr>
        <p:spPr>
          <a:xfrm>
            <a:off x="11222431" y="3200400"/>
            <a:ext cx="146304" cy="146304"/>
          </a:xfrm>
          <a:prstGeom prst="ellipse">
            <a:avLst/>
          </a:prstGeom>
          <a:solidFill>
            <a:schemeClr val="accent2"/>
          </a:solidFill>
          <a:ln/>
        </p:spPr>
      </p:sp>
      <p:sp>
        <p:nvSpPr>
          <p:cNvPr id="6" name="Text 3"/>
          <p:cNvSpPr txBox="1"/>
          <p:nvPr/>
        </p:nvSpPr>
        <p:spPr>
          <a:xfrm>
            <a:off x="6705295" y="301752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سؤال مشخص</a:t>
            </a:r>
            <a:endParaRPr lang="fa-IR" sz="2200" dirty="0"/>
          </a:p>
        </p:txBody>
      </p:sp>
      <p:sp>
        <p:nvSpPr>
          <p:cNvPr id="7" name="marker"/>
          <p:cNvSpPr/>
          <p:nvPr/>
        </p:nvSpPr>
        <p:spPr>
          <a:xfrm>
            <a:off x="11222431" y="3840480"/>
            <a:ext cx="146304" cy="146304"/>
          </a:xfrm>
          <a:prstGeom prst="ellipse">
            <a:avLst/>
          </a:prstGeom>
          <a:solidFill>
            <a:schemeClr val="accent2"/>
          </a:solidFill>
          <a:ln/>
        </p:spPr>
      </p:sp>
      <p:sp>
        <p:nvSpPr>
          <p:cNvPr id="8" name="Text 5"/>
          <p:cNvSpPr txBox="1"/>
          <p:nvPr/>
        </p:nvSpPr>
        <p:spPr>
          <a:xfrm>
            <a:off x="6705295" y="365760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اطلاعات تازه</a:t>
            </a:r>
            <a:endParaRPr lang="fa-IR" sz="2200" dirty="0"/>
          </a:p>
        </p:txBody>
      </p:sp>
      <p:sp>
        <p:nvSpPr>
          <p:cNvPr id="9" name="marker"/>
          <p:cNvSpPr/>
          <p:nvPr/>
        </p:nvSpPr>
        <p:spPr>
          <a:xfrm>
            <a:off x="11222431" y="4480560"/>
            <a:ext cx="146304" cy="146304"/>
          </a:xfrm>
          <a:prstGeom prst="ellipse">
            <a:avLst/>
          </a:prstGeom>
          <a:solidFill>
            <a:schemeClr val="accent2"/>
          </a:solidFill>
          <a:ln/>
        </p:spPr>
      </p:sp>
      <p:sp>
        <p:nvSpPr>
          <p:cNvPr id="10" name="Text 7"/>
          <p:cNvSpPr txBox="1"/>
          <p:nvPr/>
        </p:nvSpPr>
        <p:spPr>
          <a:xfrm>
            <a:off x="6705295" y="429768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تصمیم</a:t>
            </a:r>
            <a:endParaRPr lang="fa-IR" sz="2200" dirty="0"/>
          </a:p>
        </p:txBody>
      </p:sp>
      <p:sp>
        <p:nvSpPr>
          <p:cNvPr id="11" name="marker"/>
          <p:cNvSpPr/>
          <p:nvPr/>
        </p:nvSpPr>
        <p:spPr>
          <a:xfrm>
            <a:off x="11222431" y="5120640"/>
            <a:ext cx="146304" cy="146304"/>
          </a:xfrm>
          <a:prstGeom prst="ellipse">
            <a:avLst/>
          </a:prstGeom>
          <a:solidFill>
            <a:schemeClr val="accent2"/>
          </a:solidFill>
          <a:ln/>
        </p:spPr>
      </p:sp>
      <p:sp>
        <p:nvSpPr>
          <p:cNvPr id="12" name="Text 9"/>
          <p:cNvSpPr txBox="1"/>
          <p:nvPr/>
        </p:nvSpPr>
        <p:spPr>
          <a:xfrm>
            <a:off x="6705295" y="493776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امکان اقدام</a:t>
            </a:r>
            <a:endParaRPr lang="fa-IR" sz="2200" dirty="0"/>
          </a:p>
        </p:txBody>
      </p:sp>
      <p:sp>
        <p:nvSpPr>
          <p:cNvPr id="13" name="rule"/>
          <p:cNvSpPr/>
          <p:nvPr/>
        </p:nvSpPr>
        <p:spPr>
          <a:xfrm>
            <a:off x="6099048" y="2194560"/>
            <a:ext cx="0" cy="3291840"/>
          </a:xfrm>
          <a:prstGeom prst="line">
            <a:avLst/>
          </a:prstGeom>
          <a:noFill/>
          <a:ln w="9525">
            <a:solidFill>
              <a:schemeClr val="accent4"/>
            </a:solidFill>
            <a:prstDash val="solid"/>
          </a:ln>
        </p:spPr>
      </p:sp>
      <p:sp>
        <p:nvSpPr>
          <p:cNvPr id="14" name="Text 11"/>
          <p:cNvSpPr txBox="1"/>
          <p:nvPr/>
        </p:nvSpPr>
        <p:spPr>
          <a:xfrm>
            <a:off x="1005840" y="2103120"/>
            <a:ext cx="4663440" cy="548640"/>
          </a:xfrm>
          <a:prstGeom prst="rect">
            <a:avLst/>
          </a:prstGeom>
          <a:noFill/>
          <a:ln/>
        </p:spPr>
        <p:txBody>
          <a:bodyPr wrap="square" lIns="0" tIns="0" rIns="0" bIns="0" rtlCol="0" anchor="t"/>
          <a:lstStyle/>
          <a:p>
            <a:pPr rtl="1" algn="r" indent="0" marL="0">
              <a:buNone/>
            </a:pPr>
            <a:r>
              <a:rPr lang="fa-IR" altLang="en-US" sz="2800" b="1" dirty="0">
                <a:solidFill>
                  <a:schemeClr val="accent1"/>
                </a:solidFill>
                <a:latin typeface="Arial" pitchFamily="34" charset="0"/>
                <a:cs typeface="Arial" pitchFamily="34" charset="178"/>
              </a:rPr>
              <a:t>نشخوار</a:t>
            </a:r>
            <a:endParaRPr lang="fa-IR" sz="2800" dirty="0"/>
          </a:p>
        </p:txBody>
      </p:sp>
      <p:sp>
        <p:nvSpPr>
          <p:cNvPr id="15" name="marker"/>
          <p:cNvSpPr/>
          <p:nvPr/>
        </p:nvSpPr>
        <p:spPr>
          <a:xfrm>
            <a:off x="5522976" y="3200400"/>
            <a:ext cx="146304" cy="146304"/>
          </a:xfrm>
          <a:prstGeom prst="ellipse">
            <a:avLst/>
          </a:prstGeom>
          <a:solidFill>
            <a:schemeClr val="accent1"/>
          </a:solidFill>
          <a:ln/>
        </p:spPr>
      </p:sp>
      <p:sp>
        <p:nvSpPr>
          <p:cNvPr id="16" name="Text 13"/>
          <p:cNvSpPr txBox="1"/>
          <p:nvPr/>
        </p:nvSpPr>
        <p:spPr>
          <a:xfrm>
            <a:off x="1005840" y="301752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تکرار همان سؤال</a:t>
            </a:r>
            <a:endParaRPr lang="fa-IR" sz="2200" dirty="0"/>
          </a:p>
        </p:txBody>
      </p:sp>
      <p:sp>
        <p:nvSpPr>
          <p:cNvPr id="17" name="marker"/>
          <p:cNvSpPr/>
          <p:nvPr/>
        </p:nvSpPr>
        <p:spPr>
          <a:xfrm>
            <a:off x="5522976" y="3840480"/>
            <a:ext cx="146304" cy="146304"/>
          </a:xfrm>
          <a:prstGeom prst="ellipse">
            <a:avLst/>
          </a:prstGeom>
          <a:solidFill>
            <a:schemeClr val="accent1"/>
          </a:solidFill>
          <a:ln/>
        </p:spPr>
      </p:sp>
      <p:sp>
        <p:nvSpPr>
          <p:cNvPr id="18" name="Text 15"/>
          <p:cNvSpPr txBox="1"/>
          <p:nvPr/>
        </p:nvSpPr>
        <p:spPr>
          <a:xfrm>
            <a:off x="1005840" y="365760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بازپخش گذشته</a:t>
            </a:r>
            <a:endParaRPr lang="fa-IR" sz="2200" dirty="0"/>
          </a:p>
        </p:txBody>
      </p:sp>
      <p:sp>
        <p:nvSpPr>
          <p:cNvPr id="19" name="marker"/>
          <p:cNvSpPr/>
          <p:nvPr/>
        </p:nvSpPr>
        <p:spPr>
          <a:xfrm>
            <a:off x="5522976" y="4480560"/>
            <a:ext cx="146304" cy="146304"/>
          </a:xfrm>
          <a:prstGeom prst="ellipse">
            <a:avLst/>
          </a:prstGeom>
          <a:solidFill>
            <a:schemeClr val="accent1"/>
          </a:solidFill>
          <a:ln/>
        </p:spPr>
      </p:sp>
      <p:sp>
        <p:nvSpPr>
          <p:cNvPr id="20" name="Text 17"/>
          <p:cNvSpPr txBox="1"/>
          <p:nvPr/>
        </p:nvSpPr>
        <p:spPr>
          <a:xfrm>
            <a:off x="1005840" y="429768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برچسب‌زدن به خود</a:t>
            </a:r>
            <a:endParaRPr lang="fa-IR" sz="2200" dirty="0"/>
          </a:p>
        </p:txBody>
      </p:sp>
      <p:sp>
        <p:nvSpPr>
          <p:cNvPr id="21" name="marker"/>
          <p:cNvSpPr/>
          <p:nvPr/>
        </p:nvSpPr>
        <p:spPr>
          <a:xfrm>
            <a:off x="5522976" y="5120640"/>
            <a:ext cx="146304" cy="146304"/>
          </a:xfrm>
          <a:prstGeom prst="ellipse">
            <a:avLst/>
          </a:prstGeom>
          <a:solidFill>
            <a:schemeClr val="accent1"/>
          </a:solidFill>
          <a:ln/>
        </p:spPr>
      </p:sp>
      <p:sp>
        <p:nvSpPr>
          <p:cNvPr id="22" name="Text 19"/>
          <p:cNvSpPr txBox="1"/>
          <p:nvPr/>
        </p:nvSpPr>
        <p:spPr>
          <a:xfrm>
            <a:off x="1005840" y="4937760"/>
            <a:ext cx="4297680"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احساس گیر افتادن</a:t>
            </a:r>
            <a:endParaRPr lang="fa-IR" sz="2200" dirty="0"/>
          </a:p>
        </p:txBody>
      </p:sp>
      <p:sp>
        <p:nvSpPr>
          <p:cNvPr id="23" name="Text 20"/>
          <p:cNvSpPr txBox="1"/>
          <p:nvPr/>
        </p:nvSpPr>
        <p:spPr>
          <a:xfrm>
            <a:off x="822960" y="5852160"/>
            <a:ext cx="10545775" cy="365760"/>
          </a:xfrm>
          <a:prstGeom prst="rect">
            <a:avLst/>
          </a:prstGeom>
          <a:noFill/>
          <a:ln/>
        </p:spPr>
        <p:txBody>
          <a:bodyPr wrap="square" lIns="0" tIns="0" rIns="0" bIns="0" rtlCol="0" anchor="ctr"/>
          <a:lstStyle/>
          <a:p>
            <a:pPr rtl="1" algn="r" indent="0" marL="0">
              <a:buNone/>
            </a:pPr>
            <a:r>
              <a:rPr lang="fa-IR" altLang="en-US" sz="1400" dirty="0">
                <a:solidFill>
                  <a:schemeClr val="accent5"/>
                </a:solidFill>
                <a:latin typeface="Arial" pitchFamily="34" charset="0"/>
                <a:cs typeface="Arial" pitchFamily="34" charset="178"/>
              </a:rPr>
              <a:t>این تمایز یک synthesis آموزشی از یافته‌های پژوهش است.</a:t>
            </a:r>
            <a:endParaRPr lang="fa-IR" sz="1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ag"/>
          <p:cNvSpPr/>
          <p:nvPr/>
        </p:nvSpPr>
        <p:spPr>
          <a:xfrm>
            <a:off x="10362895" y="347472"/>
            <a:ext cx="1005840" cy="347472"/>
          </a:xfrm>
          <a:prstGeom prst="roundRect">
            <a:avLst>
              <a:gd name="adj" fmla="val 50000"/>
            </a:avLst>
          </a:prstGeom>
          <a:solidFill>
            <a:schemeClr val="accent2"/>
          </a:solidFill>
          <a:ln w="12700">
            <a:solidFill>
              <a:schemeClr val="accent2"/>
            </a:solidFill>
            <a:prstDash val="solid"/>
          </a:ln>
        </p:spPr>
      </p:sp>
      <p:sp>
        <p:nvSpPr>
          <p:cNvPr id="4" name="Text 1"/>
          <p:cNvSpPr txBox="1"/>
          <p:nvPr/>
        </p:nvSpPr>
        <p:spPr>
          <a:xfrm>
            <a:off x="10362895" y="347472"/>
            <a:ext cx="1005840" cy="347472"/>
          </a:xfrm>
          <a:prstGeom prst="rect">
            <a:avLst/>
          </a:prstGeom>
          <a:noFill/>
          <a:ln/>
        </p:spPr>
        <p:txBody>
          <a:bodyPr wrap="square" lIns="0" tIns="0" rIns="0" bIns="0" rtlCol="0" anchor="ctr"/>
          <a:lstStyle/>
          <a:p>
            <a:pPr rtl="1" algn="ctr" indent="0" marL="0">
              <a:buNone/>
            </a:pPr>
            <a:r>
              <a:rPr lang="fa-IR" altLang="en-US" sz="1400" b="1" dirty="0">
                <a:solidFill>
                  <a:schemeClr val="bg1"/>
                </a:solidFill>
                <a:latin typeface="Arial" pitchFamily="34" charset="0"/>
                <a:cs typeface="Arial" pitchFamily="34" charset="178"/>
              </a:rPr>
              <a:t>تمرین</a:t>
            </a:r>
            <a:endParaRPr lang="fa-IR" sz="1400" dirty="0"/>
          </a:p>
        </p:txBody>
      </p:sp>
      <p:sp>
        <p:nvSpPr>
          <p:cNvPr id="5"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تمرین ۲ | این فکر واقعاً به کجا می‌رود؟</a:t>
            </a:r>
            <a:endParaRPr lang="fa-IR" sz="3200" dirty="0"/>
          </a:p>
        </p:txBody>
      </p:sp>
      <p:sp>
        <p:nvSpPr>
          <p:cNvPr id="6" name="Text 3"/>
          <p:cNvSpPr txBox="1"/>
          <p:nvPr/>
        </p:nvSpPr>
        <p:spPr>
          <a:xfrm>
            <a:off x="822960" y="2057400"/>
            <a:ext cx="10545775" cy="548640"/>
          </a:xfrm>
          <a:prstGeom prst="rect">
            <a:avLst/>
          </a:prstGeom>
          <a:noFill/>
          <a:ln/>
        </p:spPr>
        <p:txBody>
          <a:bodyPr wrap="square" lIns="0" tIns="0" rIns="0" bIns="0" rtlCol="0" anchor="ctr"/>
          <a:lstStyle/>
          <a:p>
            <a:pPr rtl="1" algn="r" indent="0" marL="0">
              <a:buNone/>
            </a:pPr>
            <a:r>
              <a:rPr lang="fa-IR" altLang="en-US" sz="2800" b="1" dirty="0">
                <a:solidFill>
                  <a:schemeClr val="accent2"/>
                </a:solidFill>
                <a:latin typeface="Arial" pitchFamily="34" charset="0"/>
                <a:cs typeface="Arial" pitchFamily="34" charset="178"/>
              </a:rPr>
              <a:t>یک فکر تکراری اخیر را بنویسید.</a:t>
            </a:r>
            <a:endParaRPr lang="fa-IR" sz="2800" dirty="0"/>
          </a:p>
        </p:txBody>
      </p:sp>
      <p:sp>
        <p:nvSpPr>
          <p:cNvPr id="7" name="marker"/>
          <p:cNvSpPr/>
          <p:nvPr/>
        </p:nvSpPr>
        <p:spPr>
          <a:xfrm>
            <a:off x="10957255" y="2962656"/>
            <a:ext cx="411480" cy="411480"/>
          </a:xfrm>
          <a:prstGeom prst="ellipse">
            <a:avLst/>
          </a:prstGeom>
          <a:solidFill>
            <a:schemeClr val="bg1"/>
          </a:solidFill>
          <a:ln w="15875">
            <a:solidFill>
              <a:schemeClr val="accent2"/>
            </a:solidFill>
            <a:prstDash val="solid"/>
          </a:ln>
        </p:spPr>
      </p:sp>
      <p:sp>
        <p:nvSpPr>
          <p:cNvPr id="8" name="Text 5"/>
          <p:cNvSpPr txBox="1"/>
          <p:nvPr/>
        </p:nvSpPr>
        <p:spPr>
          <a:xfrm>
            <a:off x="10957255" y="2962656"/>
            <a:ext cx="411480" cy="411480"/>
          </a:xfrm>
          <a:prstGeom prst="rect">
            <a:avLst/>
          </a:prstGeom>
          <a:noFill/>
          <a:ln/>
        </p:spPr>
        <p:txBody>
          <a:bodyPr wrap="square" lIns="0" tIns="0" rIns="0" bIns="0" rtlCol="0" anchor="ctr"/>
          <a:lstStyle/>
          <a:p>
            <a:pPr rtl="1" algn="ctr" indent="0" marL="0">
              <a:buNone/>
            </a:pPr>
            <a:r>
              <a:rPr lang="fa-IR" altLang="en-US" sz="1600" b="1" dirty="0">
                <a:solidFill>
                  <a:schemeClr val="accent2"/>
                </a:solidFill>
                <a:latin typeface="Arial" pitchFamily="34" charset="0"/>
                <a:cs typeface="Arial" pitchFamily="34" charset="178"/>
              </a:rPr>
              <a:t>۱</a:t>
            </a:r>
            <a:endParaRPr lang="fa-IR" sz="1600" dirty="0"/>
          </a:p>
        </p:txBody>
      </p:sp>
      <p:sp>
        <p:nvSpPr>
          <p:cNvPr id="9" name="Text 6"/>
          <p:cNvSpPr txBox="1"/>
          <p:nvPr/>
        </p:nvSpPr>
        <p:spPr>
          <a:xfrm>
            <a:off x="822960" y="2926080"/>
            <a:ext cx="9859975"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آیا سؤال جدیدی تولید می‌کند؟</a:t>
            </a:r>
            <a:endParaRPr lang="fa-IR" sz="2200" dirty="0"/>
          </a:p>
        </p:txBody>
      </p:sp>
      <p:sp>
        <p:nvSpPr>
          <p:cNvPr id="10" name="marker"/>
          <p:cNvSpPr/>
          <p:nvPr/>
        </p:nvSpPr>
        <p:spPr>
          <a:xfrm>
            <a:off x="10957255" y="3584448"/>
            <a:ext cx="411480" cy="411480"/>
          </a:xfrm>
          <a:prstGeom prst="ellipse">
            <a:avLst/>
          </a:prstGeom>
          <a:solidFill>
            <a:schemeClr val="bg1"/>
          </a:solidFill>
          <a:ln w="15875">
            <a:solidFill>
              <a:schemeClr val="accent2"/>
            </a:solidFill>
            <a:prstDash val="solid"/>
          </a:ln>
        </p:spPr>
      </p:sp>
      <p:sp>
        <p:nvSpPr>
          <p:cNvPr id="11" name="Text 8"/>
          <p:cNvSpPr txBox="1"/>
          <p:nvPr/>
        </p:nvSpPr>
        <p:spPr>
          <a:xfrm>
            <a:off x="10957255" y="3584448"/>
            <a:ext cx="411480" cy="411480"/>
          </a:xfrm>
          <a:prstGeom prst="rect">
            <a:avLst/>
          </a:prstGeom>
          <a:noFill/>
          <a:ln/>
        </p:spPr>
        <p:txBody>
          <a:bodyPr wrap="square" lIns="0" tIns="0" rIns="0" bIns="0" rtlCol="0" anchor="ctr"/>
          <a:lstStyle/>
          <a:p>
            <a:pPr rtl="1" algn="ctr" indent="0" marL="0">
              <a:buNone/>
            </a:pPr>
            <a:r>
              <a:rPr lang="fa-IR" altLang="en-US" sz="1600" b="1" dirty="0">
                <a:solidFill>
                  <a:schemeClr val="accent2"/>
                </a:solidFill>
                <a:latin typeface="Arial" pitchFamily="34" charset="0"/>
                <a:cs typeface="Arial" pitchFamily="34" charset="178"/>
              </a:rPr>
              <a:t>۲</a:t>
            </a:r>
            <a:endParaRPr lang="fa-IR" sz="1600" dirty="0"/>
          </a:p>
        </p:txBody>
      </p:sp>
      <p:sp>
        <p:nvSpPr>
          <p:cNvPr id="12" name="Text 9"/>
          <p:cNvSpPr txBox="1"/>
          <p:nvPr/>
        </p:nvSpPr>
        <p:spPr>
          <a:xfrm>
            <a:off x="822960" y="3547872"/>
            <a:ext cx="9859975"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آیا پاسخ تازه‌ای پیدا می‌کنید؟</a:t>
            </a:r>
            <a:endParaRPr lang="fa-IR" sz="2200" dirty="0"/>
          </a:p>
        </p:txBody>
      </p:sp>
      <p:sp>
        <p:nvSpPr>
          <p:cNvPr id="13" name="marker"/>
          <p:cNvSpPr/>
          <p:nvPr/>
        </p:nvSpPr>
        <p:spPr>
          <a:xfrm>
            <a:off x="10957255" y="4206240"/>
            <a:ext cx="411480" cy="411480"/>
          </a:xfrm>
          <a:prstGeom prst="ellipse">
            <a:avLst/>
          </a:prstGeom>
          <a:solidFill>
            <a:schemeClr val="bg1"/>
          </a:solidFill>
          <a:ln w="15875">
            <a:solidFill>
              <a:schemeClr val="accent2"/>
            </a:solidFill>
            <a:prstDash val="solid"/>
          </a:ln>
        </p:spPr>
      </p:sp>
      <p:sp>
        <p:nvSpPr>
          <p:cNvPr id="14" name="Text 11"/>
          <p:cNvSpPr txBox="1"/>
          <p:nvPr/>
        </p:nvSpPr>
        <p:spPr>
          <a:xfrm>
            <a:off x="10957255" y="4206240"/>
            <a:ext cx="411480" cy="411480"/>
          </a:xfrm>
          <a:prstGeom prst="rect">
            <a:avLst/>
          </a:prstGeom>
          <a:noFill/>
          <a:ln/>
        </p:spPr>
        <p:txBody>
          <a:bodyPr wrap="square" lIns="0" tIns="0" rIns="0" bIns="0" rtlCol="0" anchor="ctr"/>
          <a:lstStyle/>
          <a:p>
            <a:pPr rtl="1" algn="ctr" indent="0" marL="0">
              <a:buNone/>
            </a:pPr>
            <a:r>
              <a:rPr lang="fa-IR" altLang="en-US" sz="1600" b="1" dirty="0">
                <a:solidFill>
                  <a:schemeClr val="accent2"/>
                </a:solidFill>
                <a:latin typeface="Arial" pitchFamily="34" charset="0"/>
                <a:cs typeface="Arial" pitchFamily="34" charset="178"/>
              </a:rPr>
              <a:t>۳</a:t>
            </a:r>
            <a:endParaRPr lang="fa-IR" sz="1600" dirty="0"/>
          </a:p>
        </p:txBody>
      </p:sp>
      <p:sp>
        <p:nvSpPr>
          <p:cNvPr id="15" name="Text 12"/>
          <p:cNvSpPr txBox="1"/>
          <p:nvPr/>
        </p:nvSpPr>
        <p:spPr>
          <a:xfrm>
            <a:off x="822960" y="4169664"/>
            <a:ext cx="9859975" cy="502920"/>
          </a:xfrm>
          <a:prstGeom prst="rect">
            <a:avLst/>
          </a:prstGeom>
          <a:noFill/>
          <a:ln/>
        </p:spPr>
        <p:txBody>
          <a:bodyPr wrap="square" lIns="0" tIns="0" rIns="0" bIns="0" rtlCol="0" anchor="ctr"/>
          <a:lstStyle/>
          <a:p>
            <a:pPr rtl="1" algn="r" indent="0" marL="0">
              <a:buNone/>
            </a:pPr>
            <a:r>
              <a:rPr lang="fa-IR" altLang="en-US" sz="2200" dirty="0">
                <a:solidFill>
                  <a:schemeClr val="tx1"/>
                </a:solidFill>
                <a:latin typeface="Arial" pitchFamily="34" charset="0"/>
                <a:cs typeface="Arial" pitchFamily="34" charset="178"/>
              </a:rPr>
              <a:t>آیا در پایان به یک اقدام مشخص می‌رسید؟</a:t>
            </a:r>
            <a:endParaRPr lang="fa-IR" sz="2200" dirty="0"/>
          </a:p>
        </p:txBody>
      </p:sp>
      <p:sp>
        <p:nvSpPr>
          <p:cNvPr id="16" name="card"/>
          <p:cNvSpPr/>
          <p:nvPr/>
        </p:nvSpPr>
        <p:spPr>
          <a:xfrm>
            <a:off x="822960" y="4937760"/>
            <a:ext cx="10545775" cy="777240"/>
          </a:xfrm>
          <a:prstGeom prst="roundRect">
            <a:avLst>
              <a:gd name="adj" fmla="val 11765"/>
            </a:avLst>
          </a:prstGeom>
          <a:solidFill>
            <a:schemeClr val="bg2"/>
          </a:solidFill>
          <a:ln w="12700">
            <a:solidFill>
              <a:schemeClr val="accent1"/>
            </a:solidFill>
            <a:prstDash val="solid"/>
          </a:ln>
        </p:spPr>
      </p:sp>
      <p:sp>
        <p:nvSpPr>
          <p:cNvPr id="17" name="Text 14"/>
          <p:cNvSpPr txBox="1"/>
          <p:nvPr/>
        </p:nvSpPr>
        <p:spPr>
          <a:xfrm>
            <a:off x="1143000" y="4937760"/>
            <a:ext cx="9905695" cy="777240"/>
          </a:xfrm>
          <a:prstGeom prst="rect">
            <a:avLst/>
          </a:prstGeom>
          <a:noFill/>
          <a:ln/>
        </p:spPr>
        <p:txBody>
          <a:bodyPr wrap="square" lIns="0" tIns="0" rIns="0" bIns="0" rtlCol="0" anchor="ctr"/>
          <a:lstStyle/>
          <a:p>
            <a:pPr rtl="1" algn="r" indent="0" marL="0">
              <a:buNone/>
            </a:pPr>
            <a:r>
              <a:rPr lang="fa-IR" altLang="en-US" sz="2200" b="1" dirty="0">
                <a:solidFill>
                  <a:schemeClr val="accent1"/>
                </a:solidFill>
                <a:latin typeface="Arial" pitchFamily="34" charset="0"/>
                <a:cs typeface="Arial" pitchFamily="34" charset="178"/>
              </a:rPr>
              <a:t>اگر نه، آیا ممکن است فکر کردن جای اقدام را گرفته باشد؟</a:t>
            </a:r>
            <a:endParaRPr lang="fa-IR" sz="2200" dirty="0"/>
          </a:p>
        </p:txBody>
      </p:sp>
      <p:sp>
        <p:nvSpPr>
          <p:cNvPr id="18" name="Text 15"/>
          <p:cNvSpPr txBox="1"/>
          <p:nvPr/>
        </p:nvSpPr>
        <p:spPr>
          <a:xfrm>
            <a:off x="822960" y="5943600"/>
            <a:ext cx="10545775" cy="365760"/>
          </a:xfrm>
          <a:prstGeom prst="rect">
            <a:avLst/>
          </a:prstGeom>
          <a:noFill/>
          <a:ln/>
        </p:spPr>
        <p:txBody>
          <a:bodyPr wrap="square" lIns="0" tIns="0" rIns="0" bIns="0" rtlCol="0" anchor="ctr"/>
          <a:lstStyle/>
          <a:p>
            <a:pPr rtl="1" algn="r" indent="0" marL="0">
              <a:buNone/>
            </a:pPr>
            <a:r>
              <a:rPr lang="fa-IR" altLang="en-US" sz="1400" dirty="0">
                <a:solidFill>
                  <a:schemeClr val="accent5"/>
                </a:solidFill>
                <a:latin typeface="Arial" pitchFamily="34" charset="0"/>
                <a:cs typeface="Arial" pitchFamily="34" charset="178"/>
              </a:rPr>
              <a:t>این تمرین خودمشاهده‌گری است، نه ابزار تشخیص.</a:t>
            </a:r>
            <a:endParaRPr lang="fa-IR" sz="1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وقتی هیجان و نشخوار وارد یک چرخه می‌شوند</a:t>
            </a:r>
            <a:endParaRPr lang="fa-IR" sz="3200" dirty="0"/>
          </a:p>
        </p:txBody>
      </p:sp>
      <p:sp>
        <p:nvSpPr>
          <p:cNvPr id="4" name="card"/>
          <p:cNvSpPr/>
          <p:nvPr/>
        </p:nvSpPr>
        <p:spPr>
          <a:xfrm>
            <a:off x="9539935" y="2331720"/>
            <a:ext cx="1828800" cy="960120"/>
          </a:xfrm>
          <a:prstGeom prst="roundRect">
            <a:avLst>
              <a:gd name="adj" fmla="val 9524"/>
            </a:avLst>
          </a:prstGeom>
          <a:solidFill>
            <a:schemeClr val="bg1"/>
          </a:solidFill>
          <a:ln w="9525">
            <a:solidFill>
              <a:schemeClr val="accent4"/>
            </a:solidFill>
            <a:prstDash val="solid"/>
          </a:ln>
        </p:spPr>
      </p:sp>
      <p:sp>
        <p:nvSpPr>
          <p:cNvPr id="5" name="Text 2"/>
          <p:cNvSpPr txBox="1"/>
          <p:nvPr/>
        </p:nvSpPr>
        <p:spPr>
          <a:xfrm>
            <a:off x="9677095" y="2331720"/>
            <a:ext cx="1554480" cy="960120"/>
          </a:xfrm>
          <a:prstGeom prst="rect">
            <a:avLst/>
          </a:prstGeom>
          <a:noFill/>
          <a:ln/>
        </p:spPr>
        <p:txBody>
          <a:bodyPr wrap="square" lIns="0" tIns="0" rIns="0" bIns="0" rtlCol="0" anchor="ctr"/>
          <a:lstStyle/>
          <a:p>
            <a:pPr rtl="1" algn="ctr" indent="0" marL="0">
              <a:buNone/>
            </a:pPr>
            <a:r>
              <a:rPr lang="fa-IR" altLang="en-US" sz="1900" dirty="0">
                <a:solidFill>
                  <a:schemeClr val="tx1"/>
                </a:solidFill>
                <a:latin typeface="Arial" pitchFamily="34" charset="0"/>
                <a:cs typeface="Arial" pitchFamily="34" charset="178"/>
              </a:rPr>
              <a:t>هیجان شدید</a:t>
            </a:r>
            <a:endParaRPr lang="fa-IR" sz="1900" dirty="0"/>
          </a:p>
        </p:txBody>
      </p:sp>
      <p:sp>
        <p:nvSpPr>
          <p:cNvPr id="6" name="arrow"/>
          <p:cNvSpPr/>
          <p:nvPr/>
        </p:nvSpPr>
        <p:spPr>
          <a:xfrm flipH="1">
            <a:off x="9244355" y="2811780"/>
            <a:ext cx="240716" cy="0"/>
          </a:xfrm>
          <a:prstGeom prst="line">
            <a:avLst/>
          </a:prstGeom>
          <a:noFill/>
          <a:ln w="12700">
            <a:solidFill>
              <a:schemeClr val="accent5"/>
            </a:solidFill>
            <a:prstDash val="solid"/>
            <a:tailEnd type="arrow"/>
          </a:ln>
        </p:spPr>
      </p:sp>
      <p:sp>
        <p:nvSpPr>
          <p:cNvPr id="7" name="card"/>
          <p:cNvSpPr/>
          <p:nvPr/>
        </p:nvSpPr>
        <p:spPr>
          <a:xfrm>
            <a:off x="7360691" y="2331720"/>
            <a:ext cx="1828800" cy="960120"/>
          </a:xfrm>
          <a:prstGeom prst="roundRect">
            <a:avLst>
              <a:gd name="adj" fmla="val 9524"/>
            </a:avLst>
          </a:prstGeom>
          <a:solidFill>
            <a:schemeClr val="bg1"/>
          </a:solidFill>
          <a:ln w="9525">
            <a:solidFill>
              <a:schemeClr val="accent4"/>
            </a:solidFill>
            <a:prstDash val="solid"/>
          </a:ln>
        </p:spPr>
      </p:sp>
      <p:sp>
        <p:nvSpPr>
          <p:cNvPr id="8" name="Text 5"/>
          <p:cNvSpPr txBox="1"/>
          <p:nvPr/>
        </p:nvSpPr>
        <p:spPr>
          <a:xfrm>
            <a:off x="7497851" y="2331720"/>
            <a:ext cx="1554480" cy="960120"/>
          </a:xfrm>
          <a:prstGeom prst="rect">
            <a:avLst/>
          </a:prstGeom>
          <a:noFill/>
          <a:ln/>
        </p:spPr>
        <p:txBody>
          <a:bodyPr wrap="square" lIns="0" tIns="0" rIns="0" bIns="0" rtlCol="0" anchor="ctr"/>
          <a:lstStyle/>
          <a:p>
            <a:pPr rtl="1" algn="ctr" indent="0" marL="0">
              <a:buNone/>
            </a:pPr>
            <a:r>
              <a:rPr lang="fa-IR" altLang="en-US" sz="1900" dirty="0">
                <a:solidFill>
                  <a:schemeClr val="tx1"/>
                </a:solidFill>
                <a:latin typeface="Arial" pitchFamily="34" charset="0"/>
                <a:cs typeface="Arial" pitchFamily="34" charset="178"/>
              </a:rPr>
              <a:t>تحمل پایین پریشانی</a:t>
            </a:r>
            <a:endParaRPr lang="fa-IR" sz="1900" dirty="0"/>
          </a:p>
        </p:txBody>
      </p:sp>
      <p:sp>
        <p:nvSpPr>
          <p:cNvPr id="9" name="arrow"/>
          <p:cNvSpPr/>
          <p:nvPr/>
        </p:nvSpPr>
        <p:spPr>
          <a:xfrm flipH="1">
            <a:off x="7065112" y="2811780"/>
            <a:ext cx="240716" cy="0"/>
          </a:xfrm>
          <a:prstGeom prst="line">
            <a:avLst/>
          </a:prstGeom>
          <a:noFill/>
          <a:ln w="12700">
            <a:solidFill>
              <a:schemeClr val="accent5"/>
            </a:solidFill>
            <a:prstDash val="solid"/>
            <a:tailEnd type="arrow"/>
          </a:ln>
        </p:spPr>
      </p:sp>
      <p:sp>
        <p:nvSpPr>
          <p:cNvPr id="10" name="card"/>
          <p:cNvSpPr/>
          <p:nvPr/>
        </p:nvSpPr>
        <p:spPr>
          <a:xfrm>
            <a:off x="5181448" y="2331720"/>
            <a:ext cx="1828800" cy="960120"/>
          </a:xfrm>
          <a:prstGeom prst="roundRect">
            <a:avLst>
              <a:gd name="adj" fmla="val 9524"/>
            </a:avLst>
          </a:prstGeom>
          <a:solidFill>
            <a:schemeClr val="bg1"/>
          </a:solidFill>
          <a:ln w="9525">
            <a:solidFill>
              <a:schemeClr val="accent4"/>
            </a:solidFill>
            <a:prstDash val="solid"/>
          </a:ln>
        </p:spPr>
      </p:sp>
      <p:sp>
        <p:nvSpPr>
          <p:cNvPr id="11" name="Text 8"/>
          <p:cNvSpPr txBox="1"/>
          <p:nvPr/>
        </p:nvSpPr>
        <p:spPr>
          <a:xfrm>
            <a:off x="5318608" y="2331720"/>
            <a:ext cx="1554480" cy="960120"/>
          </a:xfrm>
          <a:prstGeom prst="rect">
            <a:avLst/>
          </a:prstGeom>
          <a:noFill/>
          <a:ln/>
        </p:spPr>
        <p:txBody>
          <a:bodyPr wrap="square" lIns="0" tIns="0" rIns="0" bIns="0" rtlCol="0" anchor="ctr"/>
          <a:lstStyle/>
          <a:p>
            <a:pPr rtl="1" algn="ctr" indent="0" marL="0">
              <a:buNone/>
            </a:pPr>
            <a:r>
              <a:rPr lang="fa-IR" altLang="en-US" sz="1900" dirty="0">
                <a:solidFill>
                  <a:schemeClr val="tx1"/>
                </a:solidFill>
                <a:latin typeface="Arial" pitchFamily="34" charset="0"/>
                <a:cs typeface="Arial" pitchFamily="34" charset="178"/>
              </a:rPr>
              <a:t>فکرهای تکراری</a:t>
            </a:r>
            <a:endParaRPr lang="fa-IR" sz="1900" dirty="0"/>
          </a:p>
        </p:txBody>
      </p:sp>
      <p:sp>
        <p:nvSpPr>
          <p:cNvPr id="12" name="arrow"/>
          <p:cNvSpPr/>
          <p:nvPr/>
        </p:nvSpPr>
        <p:spPr>
          <a:xfrm flipH="1">
            <a:off x="4885868" y="2811780"/>
            <a:ext cx="240716" cy="0"/>
          </a:xfrm>
          <a:prstGeom prst="line">
            <a:avLst/>
          </a:prstGeom>
          <a:noFill/>
          <a:ln w="12700">
            <a:solidFill>
              <a:schemeClr val="accent5"/>
            </a:solidFill>
            <a:prstDash val="solid"/>
            <a:tailEnd type="arrow"/>
          </a:ln>
        </p:spPr>
      </p:sp>
      <p:sp>
        <p:nvSpPr>
          <p:cNvPr id="13" name="card"/>
          <p:cNvSpPr/>
          <p:nvPr/>
        </p:nvSpPr>
        <p:spPr>
          <a:xfrm>
            <a:off x="3002204" y="2331720"/>
            <a:ext cx="1828800" cy="960120"/>
          </a:xfrm>
          <a:prstGeom prst="roundRect">
            <a:avLst>
              <a:gd name="adj" fmla="val 9524"/>
            </a:avLst>
          </a:prstGeom>
          <a:solidFill>
            <a:schemeClr val="bg1"/>
          </a:solidFill>
          <a:ln w="9525">
            <a:solidFill>
              <a:schemeClr val="accent4"/>
            </a:solidFill>
            <a:prstDash val="solid"/>
          </a:ln>
        </p:spPr>
      </p:sp>
      <p:sp>
        <p:nvSpPr>
          <p:cNvPr id="14" name="Text 11"/>
          <p:cNvSpPr txBox="1"/>
          <p:nvPr/>
        </p:nvSpPr>
        <p:spPr>
          <a:xfrm>
            <a:off x="3139364" y="2331720"/>
            <a:ext cx="1554480" cy="960120"/>
          </a:xfrm>
          <a:prstGeom prst="rect">
            <a:avLst/>
          </a:prstGeom>
          <a:noFill/>
          <a:ln/>
        </p:spPr>
        <p:txBody>
          <a:bodyPr wrap="square" lIns="0" tIns="0" rIns="0" bIns="0" rtlCol="0" anchor="ctr"/>
          <a:lstStyle/>
          <a:p>
            <a:pPr rtl="1" algn="ctr" indent="0" marL="0">
              <a:buNone/>
            </a:pPr>
            <a:r>
              <a:rPr lang="fa-IR" altLang="en-US" sz="1900" dirty="0">
                <a:solidFill>
                  <a:schemeClr val="tx1"/>
                </a:solidFill>
                <a:latin typeface="Arial" pitchFamily="34" charset="0"/>
                <a:cs typeface="Arial" pitchFamily="34" charset="178"/>
              </a:rPr>
              <a:t>هیجان شدیدتر</a:t>
            </a:r>
            <a:endParaRPr lang="fa-IR" sz="1900" dirty="0"/>
          </a:p>
        </p:txBody>
      </p:sp>
      <p:sp>
        <p:nvSpPr>
          <p:cNvPr id="15" name="arrow"/>
          <p:cNvSpPr/>
          <p:nvPr/>
        </p:nvSpPr>
        <p:spPr>
          <a:xfrm flipH="1">
            <a:off x="2706624" y="2811780"/>
            <a:ext cx="240716" cy="0"/>
          </a:xfrm>
          <a:prstGeom prst="line">
            <a:avLst/>
          </a:prstGeom>
          <a:noFill/>
          <a:ln w="12700">
            <a:solidFill>
              <a:schemeClr val="accent5"/>
            </a:solidFill>
            <a:prstDash val="solid"/>
            <a:tailEnd type="arrow"/>
          </a:ln>
        </p:spPr>
      </p:sp>
      <p:sp>
        <p:nvSpPr>
          <p:cNvPr id="16" name="card"/>
          <p:cNvSpPr/>
          <p:nvPr/>
        </p:nvSpPr>
        <p:spPr>
          <a:xfrm>
            <a:off x="822960" y="2331720"/>
            <a:ext cx="1828800" cy="960120"/>
          </a:xfrm>
          <a:prstGeom prst="roundRect">
            <a:avLst>
              <a:gd name="adj" fmla="val 9524"/>
            </a:avLst>
          </a:prstGeom>
          <a:solidFill>
            <a:schemeClr val="bg1"/>
          </a:solidFill>
          <a:ln w="15875">
            <a:solidFill>
              <a:schemeClr val="accent1"/>
            </a:solidFill>
            <a:prstDash val="solid"/>
          </a:ln>
        </p:spPr>
      </p:sp>
      <p:sp>
        <p:nvSpPr>
          <p:cNvPr id="17" name="Text 14"/>
          <p:cNvSpPr txBox="1"/>
          <p:nvPr/>
        </p:nvSpPr>
        <p:spPr>
          <a:xfrm>
            <a:off x="960120" y="2331720"/>
            <a:ext cx="1554480" cy="960120"/>
          </a:xfrm>
          <a:prstGeom prst="rect">
            <a:avLst/>
          </a:prstGeom>
          <a:noFill/>
          <a:ln/>
        </p:spPr>
        <p:txBody>
          <a:bodyPr wrap="square" lIns="0" tIns="0" rIns="0" bIns="0" rtlCol="0" anchor="ctr"/>
          <a:lstStyle/>
          <a:p>
            <a:pPr rtl="1" algn="ctr" indent="0" marL="0">
              <a:buNone/>
            </a:pPr>
            <a:r>
              <a:rPr lang="fa-IR" altLang="en-US" sz="1900" b="1" dirty="0">
                <a:solidFill>
                  <a:schemeClr val="accent1"/>
                </a:solidFill>
                <a:latin typeface="Arial" pitchFamily="34" charset="0"/>
                <a:cs typeface="Arial" pitchFamily="34" charset="178"/>
              </a:rPr>
              <a:t>فشار بیشتر</a:t>
            </a:r>
            <a:endParaRPr lang="fa-IR" sz="1900" dirty="0"/>
          </a:p>
        </p:txBody>
      </p:sp>
      <p:sp>
        <p:nvSpPr>
          <p:cNvPr id="18" name="rule"/>
          <p:cNvSpPr/>
          <p:nvPr/>
        </p:nvSpPr>
        <p:spPr>
          <a:xfrm>
            <a:off x="1737360" y="3291840"/>
            <a:ext cx="0" cy="457200"/>
          </a:xfrm>
          <a:prstGeom prst="line">
            <a:avLst/>
          </a:prstGeom>
          <a:noFill/>
          <a:ln w="12700">
            <a:solidFill>
              <a:schemeClr val="accent1"/>
            </a:solidFill>
            <a:prstDash val="solid"/>
          </a:ln>
        </p:spPr>
      </p:sp>
      <p:sp>
        <p:nvSpPr>
          <p:cNvPr id="19" name="rule"/>
          <p:cNvSpPr/>
          <p:nvPr/>
        </p:nvSpPr>
        <p:spPr>
          <a:xfrm>
            <a:off x="1737360" y="3749040"/>
            <a:ext cx="8716975" cy="0"/>
          </a:xfrm>
          <a:prstGeom prst="line">
            <a:avLst/>
          </a:prstGeom>
          <a:noFill/>
          <a:ln w="12700">
            <a:solidFill>
              <a:schemeClr val="accent1"/>
            </a:solidFill>
            <a:prstDash val="solid"/>
          </a:ln>
        </p:spPr>
      </p:sp>
      <p:sp>
        <p:nvSpPr>
          <p:cNvPr id="20" name="arrow"/>
          <p:cNvSpPr/>
          <p:nvPr/>
        </p:nvSpPr>
        <p:spPr>
          <a:xfrm flipV="1">
            <a:off x="10454335" y="3291840"/>
            <a:ext cx="0" cy="457200"/>
          </a:xfrm>
          <a:prstGeom prst="line">
            <a:avLst/>
          </a:prstGeom>
          <a:noFill/>
          <a:ln w="12700">
            <a:solidFill>
              <a:schemeClr val="accent1"/>
            </a:solidFill>
            <a:prstDash val="solid"/>
            <a:tailEnd type="arrow"/>
          </a:ln>
        </p:spPr>
      </p:sp>
      <p:sp>
        <p:nvSpPr>
          <p:cNvPr id="21" name="Text 18"/>
          <p:cNvSpPr txBox="1"/>
          <p:nvPr/>
        </p:nvSpPr>
        <p:spPr>
          <a:xfrm>
            <a:off x="822960" y="4800600"/>
            <a:ext cx="10545775" cy="731520"/>
          </a:xfrm>
          <a:prstGeom prst="rect">
            <a:avLst/>
          </a:prstGeom>
          <a:noFill/>
          <a:ln/>
        </p:spPr>
        <p:txBody>
          <a:bodyPr wrap="square" lIns="0" tIns="0" rIns="0" bIns="0" rtlCol="0" anchor="t"/>
          <a:lstStyle/>
          <a:p>
            <a:pPr rtl="1" algn="r" indent="0" marL="0">
              <a:lnSpc>
                <a:spcPct val="120000"/>
              </a:lnSpc>
              <a:buNone/>
            </a:pPr>
            <a:r>
              <a:rPr lang="fa-IR" altLang="en-US" sz="1500" dirty="0">
                <a:solidFill>
                  <a:schemeClr val="accent5"/>
                </a:solidFill>
                <a:latin typeface="Arial" pitchFamily="34" charset="0"/>
                <a:cs typeface="Arial" pitchFamily="34" charset="178"/>
              </a:rPr>
              <a:t>یک مطالعه روی ۱۰ نفر دارای NSSI (خودآسیبی بدون قصد خودکشی)؛ برای توضیح «تشدید چرخه»، نه تعمیم به همه.</a:t>
            </a:r>
            <a:endParaRPr lang="fa-IR" sz="1500" dirty="0"/>
          </a:p>
        </p:txBody>
      </p:sp>
      <p:sp>
        <p:nvSpPr>
          <p:cNvPr id="22" name="Text 19"/>
          <p:cNvSpPr txBox="1"/>
          <p:nvPr/>
        </p:nvSpPr>
        <p:spPr>
          <a:xfrm>
            <a:off x="4114800" y="6355080"/>
            <a:ext cx="7253935" cy="274320"/>
          </a:xfrm>
          <a:prstGeom prst="rect">
            <a:avLst/>
          </a:prstGeom>
          <a:noFill/>
          <a:ln/>
        </p:spPr>
        <p:txBody>
          <a:bodyPr wrap="square" lIns="0" tIns="0" rIns="0" bIns="0" rtlCol="0" anchor="ctr"/>
          <a:lstStyle/>
          <a:p>
            <a:pPr rtl="1" algn="r" indent="0" marL="0">
              <a:buNone/>
            </a:pPr>
            <a:r>
              <a:rPr lang="fa-IR" altLang="en-US" sz="1200" dirty="0">
                <a:solidFill>
                  <a:schemeClr val="accent5"/>
                </a:solidFill>
                <a:latin typeface="Arial" pitchFamily="34" charset="0"/>
                <a:cs typeface="Arial" pitchFamily="34" charset="178"/>
              </a:rPr>
              <a:t>Khan, Rehna &amp; Butt, 2024 | Original Research</a:t>
            </a:r>
            <a:endParaRPr lang="fa-IR" sz="12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نقشه کامل چرخه</a:t>
            </a:r>
            <a:endParaRPr lang="fa-IR" sz="3200" dirty="0"/>
          </a:p>
        </p:txBody>
      </p:sp>
      <p:sp>
        <p:nvSpPr>
          <p:cNvPr id="4" name="Text 1"/>
          <p:cNvSpPr txBox="1"/>
          <p:nvPr/>
        </p:nvSpPr>
        <p:spPr>
          <a:xfrm>
            <a:off x="6492240" y="1691640"/>
            <a:ext cx="4389120" cy="411480"/>
          </a:xfrm>
          <a:prstGeom prst="rect">
            <a:avLst/>
          </a:prstGeom>
          <a:noFill/>
          <a:ln/>
        </p:spPr>
        <p:txBody>
          <a:bodyPr wrap="square" lIns="0" tIns="0" rIns="0" bIns="0" rtlCol="0" anchor="ctr"/>
          <a:lstStyle/>
          <a:p>
            <a:pPr rtl="1" algn="ctr" indent="0" marL="0">
              <a:buNone/>
            </a:pPr>
            <a:r>
              <a:rPr lang="fa-IR" altLang="en-US" sz="2200" b="1" dirty="0">
                <a:solidFill>
                  <a:schemeClr val="accent1"/>
                </a:solidFill>
                <a:latin typeface="Arial" pitchFamily="34" charset="0"/>
                <a:cs typeface="Arial" pitchFamily="34" charset="178"/>
              </a:rPr>
              <a:t>مسیر حمله به خود</a:t>
            </a:r>
            <a:endParaRPr lang="fa-IR" sz="2200" dirty="0"/>
          </a:p>
        </p:txBody>
      </p:sp>
      <p:sp>
        <p:nvSpPr>
          <p:cNvPr id="5" name="Text 2"/>
          <p:cNvSpPr txBox="1"/>
          <p:nvPr/>
        </p:nvSpPr>
        <p:spPr>
          <a:xfrm>
            <a:off x="7132320" y="2194560"/>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اتفاق</a:t>
            </a:r>
            <a:endParaRPr lang="fa-IR" sz="2000" dirty="0"/>
          </a:p>
        </p:txBody>
      </p:sp>
      <p:sp>
        <p:nvSpPr>
          <p:cNvPr id="6" name="arrow"/>
          <p:cNvSpPr/>
          <p:nvPr/>
        </p:nvSpPr>
        <p:spPr>
          <a:xfrm>
            <a:off x="8686800" y="2560320"/>
            <a:ext cx="0" cy="146304"/>
          </a:xfrm>
          <a:prstGeom prst="line">
            <a:avLst/>
          </a:prstGeom>
          <a:noFill/>
          <a:ln w="12700">
            <a:solidFill>
              <a:schemeClr val="accent1"/>
            </a:solidFill>
            <a:prstDash val="solid"/>
            <a:tailEnd type="arrow"/>
          </a:ln>
        </p:spPr>
      </p:sp>
      <p:sp>
        <p:nvSpPr>
          <p:cNvPr id="7" name="Text 4"/>
          <p:cNvSpPr txBox="1"/>
          <p:nvPr/>
        </p:nvSpPr>
        <p:spPr>
          <a:xfrm>
            <a:off x="7132320" y="2724912"/>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احساس</a:t>
            </a:r>
            <a:endParaRPr lang="fa-IR" sz="2000" dirty="0"/>
          </a:p>
        </p:txBody>
      </p:sp>
      <p:sp>
        <p:nvSpPr>
          <p:cNvPr id="8" name="arrow"/>
          <p:cNvSpPr/>
          <p:nvPr/>
        </p:nvSpPr>
        <p:spPr>
          <a:xfrm>
            <a:off x="8686800" y="3090672"/>
            <a:ext cx="0" cy="146304"/>
          </a:xfrm>
          <a:prstGeom prst="line">
            <a:avLst/>
          </a:prstGeom>
          <a:noFill/>
          <a:ln w="12700">
            <a:solidFill>
              <a:schemeClr val="accent1"/>
            </a:solidFill>
            <a:prstDash val="solid"/>
            <a:tailEnd type="arrow"/>
          </a:ln>
        </p:spPr>
      </p:sp>
      <p:sp>
        <p:nvSpPr>
          <p:cNvPr id="9" name="Text 6"/>
          <p:cNvSpPr txBox="1"/>
          <p:nvPr/>
        </p:nvSpPr>
        <p:spPr>
          <a:xfrm>
            <a:off x="7132320" y="3255264"/>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«مشکل منم»</a:t>
            </a:r>
            <a:endParaRPr lang="fa-IR" sz="2000" dirty="0"/>
          </a:p>
        </p:txBody>
      </p:sp>
      <p:sp>
        <p:nvSpPr>
          <p:cNvPr id="10" name="arrow"/>
          <p:cNvSpPr/>
          <p:nvPr/>
        </p:nvSpPr>
        <p:spPr>
          <a:xfrm>
            <a:off x="8686800" y="3621024"/>
            <a:ext cx="0" cy="146304"/>
          </a:xfrm>
          <a:prstGeom prst="line">
            <a:avLst/>
          </a:prstGeom>
          <a:noFill/>
          <a:ln w="12700">
            <a:solidFill>
              <a:schemeClr val="accent1"/>
            </a:solidFill>
            <a:prstDash val="solid"/>
            <a:tailEnd type="arrow"/>
          </a:ln>
        </p:spPr>
      </p:sp>
      <p:sp>
        <p:nvSpPr>
          <p:cNvPr id="11" name="Text 8"/>
          <p:cNvSpPr txBox="1"/>
          <p:nvPr/>
        </p:nvSpPr>
        <p:spPr>
          <a:xfrm>
            <a:off x="7132320" y="3785616"/>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خودسرزنشی</a:t>
            </a:r>
            <a:endParaRPr lang="fa-IR" sz="2000" dirty="0"/>
          </a:p>
        </p:txBody>
      </p:sp>
      <p:sp>
        <p:nvSpPr>
          <p:cNvPr id="12" name="arrow"/>
          <p:cNvSpPr/>
          <p:nvPr/>
        </p:nvSpPr>
        <p:spPr>
          <a:xfrm>
            <a:off x="8686800" y="4151376"/>
            <a:ext cx="0" cy="146304"/>
          </a:xfrm>
          <a:prstGeom prst="line">
            <a:avLst/>
          </a:prstGeom>
          <a:noFill/>
          <a:ln w="12700">
            <a:solidFill>
              <a:schemeClr val="accent1"/>
            </a:solidFill>
            <a:prstDash val="solid"/>
            <a:tailEnd type="arrow"/>
          </a:ln>
        </p:spPr>
      </p:sp>
      <p:sp>
        <p:nvSpPr>
          <p:cNvPr id="13" name="Text 10"/>
          <p:cNvSpPr txBox="1"/>
          <p:nvPr/>
        </p:nvSpPr>
        <p:spPr>
          <a:xfrm>
            <a:off x="7132320" y="4315968"/>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نشخوار</a:t>
            </a:r>
            <a:endParaRPr lang="fa-IR" sz="2000" dirty="0"/>
          </a:p>
        </p:txBody>
      </p:sp>
      <p:sp>
        <p:nvSpPr>
          <p:cNvPr id="14" name="arrow"/>
          <p:cNvSpPr/>
          <p:nvPr/>
        </p:nvSpPr>
        <p:spPr>
          <a:xfrm>
            <a:off x="8686800" y="4681728"/>
            <a:ext cx="0" cy="146304"/>
          </a:xfrm>
          <a:prstGeom prst="line">
            <a:avLst/>
          </a:prstGeom>
          <a:noFill/>
          <a:ln w="12700">
            <a:solidFill>
              <a:schemeClr val="accent1"/>
            </a:solidFill>
            <a:prstDash val="solid"/>
            <a:tailEnd type="arrow"/>
          </a:ln>
        </p:spPr>
      </p:sp>
      <p:sp>
        <p:nvSpPr>
          <p:cNvPr id="15" name="Text 12"/>
          <p:cNvSpPr txBox="1"/>
          <p:nvPr/>
        </p:nvSpPr>
        <p:spPr>
          <a:xfrm>
            <a:off x="7132320" y="4846320"/>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حمله به خود</a:t>
            </a:r>
            <a:endParaRPr lang="fa-IR" sz="2000" dirty="0"/>
          </a:p>
        </p:txBody>
      </p:sp>
      <p:sp>
        <p:nvSpPr>
          <p:cNvPr id="16" name="arrow"/>
          <p:cNvSpPr/>
          <p:nvPr/>
        </p:nvSpPr>
        <p:spPr>
          <a:xfrm>
            <a:off x="8686800" y="5212080"/>
            <a:ext cx="0" cy="109728"/>
          </a:xfrm>
          <a:prstGeom prst="line">
            <a:avLst/>
          </a:prstGeom>
          <a:noFill/>
          <a:ln w="12700">
            <a:solidFill>
              <a:schemeClr val="accent1"/>
            </a:solidFill>
            <a:prstDash val="solid"/>
            <a:tailEnd type="arrow"/>
          </a:ln>
        </p:spPr>
      </p:sp>
      <p:sp>
        <p:nvSpPr>
          <p:cNvPr id="17" name="end node"/>
          <p:cNvSpPr/>
          <p:nvPr/>
        </p:nvSpPr>
        <p:spPr>
          <a:xfrm>
            <a:off x="7132320" y="5349240"/>
            <a:ext cx="3108960" cy="402336"/>
          </a:xfrm>
          <a:prstGeom prst="roundRect">
            <a:avLst>
              <a:gd name="adj" fmla="val 22727"/>
            </a:avLst>
          </a:prstGeom>
          <a:solidFill>
            <a:schemeClr val="accent1"/>
          </a:solidFill>
          <a:ln w="9525">
            <a:solidFill>
              <a:schemeClr val="accent1"/>
            </a:solidFill>
            <a:prstDash val="solid"/>
          </a:ln>
        </p:spPr>
      </p:sp>
      <p:sp>
        <p:nvSpPr>
          <p:cNvPr id="18" name="Text 15"/>
          <p:cNvSpPr txBox="1"/>
          <p:nvPr/>
        </p:nvSpPr>
        <p:spPr>
          <a:xfrm>
            <a:off x="7132320" y="5376672"/>
            <a:ext cx="3108960" cy="347472"/>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Arial" pitchFamily="34" charset="0"/>
                <a:cs typeface="Arial" pitchFamily="34" charset="178"/>
              </a:rPr>
              <a:t>پریشانی</a:t>
            </a:r>
            <a:endParaRPr lang="fa-IR" sz="2000" dirty="0"/>
          </a:p>
        </p:txBody>
      </p:sp>
      <p:sp>
        <p:nvSpPr>
          <p:cNvPr id="19" name="rule"/>
          <p:cNvSpPr/>
          <p:nvPr/>
        </p:nvSpPr>
        <p:spPr>
          <a:xfrm>
            <a:off x="6099048" y="1783080"/>
            <a:ext cx="0" cy="3977640"/>
          </a:xfrm>
          <a:prstGeom prst="line">
            <a:avLst/>
          </a:prstGeom>
          <a:noFill/>
          <a:ln w="9525">
            <a:solidFill>
              <a:schemeClr val="accent4"/>
            </a:solidFill>
            <a:prstDash val="solid"/>
          </a:ln>
        </p:spPr>
      </p:sp>
      <p:sp>
        <p:nvSpPr>
          <p:cNvPr id="20" name="Text 17"/>
          <p:cNvSpPr txBox="1"/>
          <p:nvPr/>
        </p:nvSpPr>
        <p:spPr>
          <a:xfrm>
            <a:off x="1325880" y="1691640"/>
            <a:ext cx="4389120" cy="411480"/>
          </a:xfrm>
          <a:prstGeom prst="rect">
            <a:avLst/>
          </a:prstGeom>
          <a:noFill/>
          <a:ln/>
        </p:spPr>
        <p:txBody>
          <a:bodyPr wrap="square" lIns="0" tIns="0" rIns="0" bIns="0" rtlCol="0" anchor="ctr"/>
          <a:lstStyle/>
          <a:p>
            <a:pPr rtl="1" algn="ctr" indent="0" marL="0">
              <a:buNone/>
            </a:pPr>
            <a:r>
              <a:rPr lang="fa-IR" altLang="en-US" sz="2200" b="1" dirty="0">
                <a:solidFill>
                  <a:schemeClr val="accent2"/>
                </a:solidFill>
                <a:latin typeface="Arial" pitchFamily="34" charset="0"/>
                <a:cs typeface="Arial" pitchFamily="34" charset="178"/>
              </a:rPr>
              <a:t>مسیر پردازش و اقدام</a:t>
            </a:r>
            <a:endParaRPr lang="fa-IR" sz="2200" dirty="0"/>
          </a:p>
        </p:txBody>
      </p:sp>
      <p:sp>
        <p:nvSpPr>
          <p:cNvPr id="21" name="Text 18"/>
          <p:cNvSpPr txBox="1"/>
          <p:nvPr/>
        </p:nvSpPr>
        <p:spPr>
          <a:xfrm>
            <a:off x="1965960" y="2194560"/>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اتفاق</a:t>
            </a:r>
            <a:endParaRPr lang="fa-IR" sz="2000" dirty="0"/>
          </a:p>
        </p:txBody>
      </p:sp>
      <p:sp>
        <p:nvSpPr>
          <p:cNvPr id="22" name="arrow"/>
          <p:cNvSpPr/>
          <p:nvPr/>
        </p:nvSpPr>
        <p:spPr>
          <a:xfrm>
            <a:off x="3520440" y="2560320"/>
            <a:ext cx="0" cy="146304"/>
          </a:xfrm>
          <a:prstGeom prst="line">
            <a:avLst/>
          </a:prstGeom>
          <a:noFill/>
          <a:ln w="12700">
            <a:solidFill>
              <a:schemeClr val="accent2"/>
            </a:solidFill>
            <a:prstDash val="solid"/>
            <a:tailEnd type="arrow"/>
          </a:ln>
        </p:spPr>
      </p:sp>
      <p:sp>
        <p:nvSpPr>
          <p:cNvPr id="23" name="Text 20"/>
          <p:cNvSpPr txBox="1"/>
          <p:nvPr/>
        </p:nvSpPr>
        <p:spPr>
          <a:xfrm>
            <a:off x="1965960" y="2724912"/>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احساس</a:t>
            </a:r>
            <a:endParaRPr lang="fa-IR" sz="2000" dirty="0"/>
          </a:p>
        </p:txBody>
      </p:sp>
      <p:sp>
        <p:nvSpPr>
          <p:cNvPr id="24" name="arrow"/>
          <p:cNvSpPr/>
          <p:nvPr/>
        </p:nvSpPr>
        <p:spPr>
          <a:xfrm>
            <a:off x="3520440" y="3090672"/>
            <a:ext cx="0" cy="146304"/>
          </a:xfrm>
          <a:prstGeom prst="line">
            <a:avLst/>
          </a:prstGeom>
          <a:noFill/>
          <a:ln w="12700">
            <a:solidFill>
              <a:schemeClr val="accent2"/>
            </a:solidFill>
            <a:prstDash val="solid"/>
            <a:tailEnd type="arrow"/>
          </a:ln>
        </p:spPr>
      </p:sp>
      <p:sp>
        <p:nvSpPr>
          <p:cNvPr id="25" name="Text 22"/>
          <p:cNvSpPr txBox="1"/>
          <p:nvPr/>
        </p:nvSpPr>
        <p:spPr>
          <a:xfrm>
            <a:off x="1965960" y="3255264"/>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نیاز</a:t>
            </a:r>
            <a:endParaRPr lang="fa-IR" sz="2000" dirty="0"/>
          </a:p>
        </p:txBody>
      </p:sp>
      <p:sp>
        <p:nvSpPr>
          <p:cNvPr id="26" name="arrow"/>
          <p:cNvSpPr/>
          <p:nvPr/>
        </p:nvSpPr>
        <p:spPr>
          <a:xfrm>
            <a:off x="3520440" y="3621024"/>
            <a:ext cx="0" cy="146304"/>
          </a:xfrm>
          <a:prstGeom prst="line">
            <a:avLst/>
          </a:prstGeom>
          <a:noFill/>
          <a:ln w="12700">
            <a:solidFill>
              <a:schemeClr val="accent2"/>
            </a:solidFill>
            <a:prstDash val="solid"/>
            <a:tailEnd type="arrow"/>
          </a:ln>
        </p:spPr>
      </p:sp>
      <p:sp>
        <p:nvSpPr>
          <p:cNvPr id="27" name="Text 24"/>
          <p:cNvSpPr txBox="1"/>
          <p:nvPr/>
        </p:nvSpPr>
        <p:spPr>
          <a:xfrm>
            <a:off x="1965960" y="3785616"/>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خودحمایتی</a:t>
            </a:r>
            <a:endParaRPr lang="fa-IR" sz="2000" dirty="0"/>
          </a:p>
        </p:txBody>
      </p:sp>
      <p:sp>
        <p:nvSpPr>
          <p:cNvPr id="28" name="arrow"/>
          <p:cNvSpPr/>
          <p:nvPr/>
        </p:nvSpPr>
        <p:spPr>
          <a:xfrm>
            <a:off x="3520440" y="4151376"/>
            <a:ext cx="0" cy="146304"/>
          </a:xfrm>
          <a:prstGeom prst="line">
            <a:avLst/>
          </a:prstGeom>
          <a:noFill/>
          <a:ln w="12700">
            <a:solidFill>
              <a:schemeClr val="accent2"/>
            </a:solidFill>
            <a:prstDash val="solid"/>
            <a:tailEnd type="arrow"/>
          </a:ln>
        </p:spPr>
      </p:sp>
      <p:sp>
        <p:nvSpPr>
          <p:cNvPr id="29" name="Text 26"/>
          <p:cNvSpPr txBox="1"/>
          <p:nvPr/>
        </p:nvSpPr>
        <p:spPr>
          <a:xfrm>
            <a:off x="1965960" y="4315968"/>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خشم قاطعانه / محافظتی</a:t>
            </a:r>
            <a:endParaRPr lang="fa-IR" sz="2000" dirty="0"/>
          </a:p>
        </p:txBody>
      </p:sp>
      <p:sp>
        <p:nvSpPr>
          <p:cNvPr id="30" name="arrow"/>
          <p:cNvSpPr/>
          <p:nvPr/>
        </p:nvSpPr>
        <p:spPr>
          <a:xfrm>
            <a:off x="3520440" y="4681728"/>
            <a:ext cx="0" cy="146304"/>
          </a:xfrm>
          <a:prstGeom prst="line">
            <a:avLst/>
          </a:prstGeom>
          <a:noFill/>
          <a:ln w="12700">
            <a:solidFill>
              <a:schemeClr val="accent2"/>
            </a:solidFill>
            <a:prstDash val="solid"/>
            <a:tailEnd type="arrow"/>
          </a:ln>
        </p:spPr>
      </p:sp>
      <p:sp>
        <p:nvSpPr>
          <p:cNvPr id="31" name="Text 28"/>
          <p:cNvSpPr txBox="1"/>
          <p:nvPr/>
        </p:nvSpPr>
        <p:spPr>
          <a:xfrm>
            <a:off x="1965960" y="4846320"/>
            <a:ext cx="3108960" cy="347472"/>
          </a:xfrm>
          <a:prstGeom prst="rect">
            <a:avLst/>
          </a:prstGeom>
          <a:noFill/>
          <a:ln/>
        </p:spPr>
        <p:txBody>
          <a:bodyPr wrap="square" lIns="0" tIns="0" rIns="0" bIns="0" rtlCol="0" anchor="ctr"/>
          <a:lstStyle/>
          <a:p>
            <a:pPr rtl="1" algn="ctr" indent="0" marL="0">
              <a:buNone/>
            </a:pPr>
            <a:r>
              <a:rPr lang="fa-IR" altLang="en-US" sz="2000" dirty="0">
                <a:solidFill>
                  <a:schemeClr val="tx1"/>
                </a:solidFill>
                <a:latin typeface="Arial" pitchFamily="34" charset="0"/>
                <a:cs typeface="Arial" pitchFamily="34" charset="178"/>
              </a:rPr>
              <a:t>مرز</a:t>
            </a:r>
            <a:endParaRPr lang="fa-IR" sz="2000" dirty="0"/>
          </a:p>
        </p:txBody>
      </p:sp>
      <p:sp>
        <p:nvSpPr>
          <p:cNvPr id="32" name="arrow"/>
          <p:cNvSpPr/>
          <p:nvPr/>
        </p:nvSpPr>
        <p:spPr>
          <a:xfrm>
            <a:off x="3520440" y="5212080"/>
            <a:ext cx="0" cy="109728"/>
          </a:xfrm>
          <a:prstGeom prst="line">
            <a:avLst/>
          </a:prstGeom>
          <a:noFill/>
          <a:ln w="12700">
            <a:solidFill>
              <a:schemeClr val="accent2"/>
            </a:solidFill>
            <a:prstDash val="solid"/>
            <a:tailEnd type="arrow"/>
          </a:ln>
        </p:spPr>
      </p:sp>
      <p:sp>
        <p:nvSpPr>
          <p:cNvPr id="33" name="end node"/>
          <p:cNvSpPr/>
          <p:nvPr/>
        </p:nvSpPr>
        <p:spPr>
          <a:xfrm>
            <a:off x="1965960" y="5349240"/>
            <a:ext cx="3108960" cy="402336"/>
          </a:xfrm>
          <a:prstGeom prst="roundRect">
            <a:avLst>
              <a:gd name="adj" fmla="val 22727"/>
            </a:avLst>
          </a:prstGeom>
          <a:solidFill>
            <a:schemeClr val="accent3"/>
          </a:solidFill>
          <a:ln w="9525">
            <a:solidFill>
              <a:schemeClr val="accent3"/>
            </a:solidFill>
            <a:prstDash val="solid"/>
          </a:ln>
        </p:spPr>
      </p:sp>
      <p:sp>
        <p:nvSpPr>
          <p:cNvPr id="34" name="Text 31"/>
          <p:cNvSpPr txBox="1"/>
          <p:nvPr/>
        </p:nvSpPr>
        <p:spPr>
          <a:xfrm>
            <a:off x="1965960" y="5376672"/>
            <a:ext cx="3108960" cy="347472"/>
          </a:xfrm>
          <a:prstGeom prst="rect">
            <a:avLst/>
          </a:prstGeom>
          <a:noFill/>
          <a:ln/>
        </p:spPr>
        <p:txBody>
          <a:bodyPr wrap="square" lIns="0" tIns="0" rIns="0" bIns="0" rtlCol="0" anchor="ctr"/>
          <a:lstStyle/>
          <a:p>
            <a:pPr rtl="1" algn="ctr" indent="0" marL="0">
              <a:buNone/>
            </a:pPr>
            <a:r>
              <a:rPr lang="fa-IR" altLang="en-US" sz="2000" b="1" dirty="0">
                <a:solidFill>
                  <a:schemeClr val="bg1"/>
                </a:solidFill>
                <a:latin typeface="Arial" pitchFamily="34" charset="0"/>
                <a:cs typeface="Arial" pitchFamily="34" charset="178"/>
              </a:rPr>
              <a:t>اقدام</a:t>
            </a:r>
            <a:endParaRPr lang="fa-IR" sz="2000" dirty="0"/>
          </a:p>
        </p:txBody>
      </p:sp>
      <p:sp>
        <p:nvSpPr>
          <p:cNvPr id="35" name="accent dot"/>
          <p:cNvSpPr/>
          <p:nvPr/>
        </p:nvSpPr>
        <p:spPr>
          <a:xfrm>
            <a:off x="6876288" y="5495544"/>
            <a:ext cx="109728" cy="109728"/>
          </a:xfrm>
          <a:prstGeom prst="ellipse">
            <a:avLst/>
          </a:prstGeom>
          <a:solidFill>
            <a:schemeClr val="accent6"/>
          </a:solidFill>
          <a:ln/>
        </p:spPr>
      </p:sp>
      <p:sp>
        <p:nvSpPr>
          <p:cNvPr id="36" name="Text 33"/>
          <p:cNvSpPr txBox="1"/>
          <p:nvPr/>
        </p:nvSpPr>
        <p:spPr>
          <a:xfrm>
            <a:off x="822960" y="5989320"/>
            <a:ext cx="10545775" cy="274320"/>
          </a:xfrm>
          <a:prstGeom prst="rect">
            <a:avLst/>
          </a:prstGeom>
          <a:noFill/>
          <a:ln/>
        </p:spPr>
        <p:txBody>
          <a:bodyPr wrap="square" lIns="0" tIns="0" rIns="0" bIns="0" rtlCol="0" anchor="ctr"/>
          <a:lstStyle/>
          <a:p>
            <a:pPr rtl="1" algn="r" indent="0" marL="0">
              <a:buNone/>
            </a:pPr>
            <a:r>
              <a:rPr lang="fa-IR" altLang="en-US" sz="1400" dirty="0">
                <a:solidFill>
                  <a:schemeClr val="accent5"/>
                </a:solidFill>
                <a:latin typeface="Arial" pitchFamily="34" charset="0"/>
                <a:cs typeface="Arial" pitchFamily="34" charset="178"/>
              </a:rPr>
              <a:t>این نقشه، ترکیب آموزشی سه پژوهش است؛ نه یک مدل واحد منتشرشده.</a:t>
            </a:r>
            <a:endParaRPr lang="fa-IR" sz="1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مسیر خروج از چرخه</a:t>
            </a:r>
            <a:endParaRPr lang="fa-IR" sz="3200" dirty="0"/>
          </a:p>
        </p:txBody>
      </p:sp>
      <p:sp>
        <p:nvSpPr>
          <p:cNvPr id="4" name="Text 1"/>
          <p:cNvSpPr txBox="1"/>
          <p:nvPr/>
        </p:nvSpPr>
        <p:spPr>
          <a:xfrm>
            <a:off x="10225735" y="1920240"/>
            <a:ext cx="914400" cy="713232"/>
          </a:xfrm>
          <a:prstGeom prst="rect">
            <a:avLst/>
          </a:prstGeom>
          <a:noFill/>
          <a:ln/>
        </p:spPr>
        <p:txBody>
          <a:bodyPr wrap="square" lIns="0" tIns="0" rIns="0" bIns="0" rtlCol="0" anchor="ctr"/>
          <a:lstStyle/>
          <a:p>
            <a:pPr rtl="1" algn="ctr" indent="0" marL="0">
              <a:buNone/>
            </a:pPr>
            <a:r>
              <a:rPr lang="fa-IR" altLang="en-US" sz="4000" b="1" dirty="0">
                <a:solidFill>
                  <a:schemeClr val="accent1"/>
                </a:solidFill>
                <a:latin typeface="Arial" pitchFamily="34" charset="0"/>
                <a:cs typeface="Arial" pitchFamily="34" charset="178"/>
              </a:rPr>
              <a:t>۱</a:t>
            </a:r>
            <a:endParaRPr lang="fa-IR" sz="4000" dirty="0"/>
          </a:p>
        </p:txBody>
      </p:sp>
      <p:sp>
        <p:nvSpPr>
          <p:cNvPr id="5" name="Text 2"/>
          <p:cNvSpPr txBox="1"/>
          <p:nvPr/>
        </p:nvSpPr>
        <p:spPr>
          <a:xfrm>
            <a:off x="822960" y="1956816"/>
            <a:ext cx="9174175" cy="384048"/>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منتقد را ببین</a:t>
            </a:r>
            <a:endParaRPr lang="fa-IR" sz="2400" dirty="0"/>
          </a:p>
        </p:txBody>
      </p:sp>
      <p:sp>
        <p:nvSpPr>
          <p:cNvPr id="6" name="Text 3"/>
          <p:cNvSpPr txBox="1"/>
          <p:nvPr/>
        </p:nvSpPr>
        <p:spPr>
          <a:xfrm>
            <a:off x="822960" y="2322576"/>
            <a:ext cx="9174175" cy="292608"/>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«الان چه صدایی فعال شده؟»</a:t>
            </a:r>
            <a:endParaRPr lang="fa-IR" sz="1600" dirty="0"/>
          </a:p>
        </p:txBody>
      </p:sp>
      <p:sp>
        <p:nvSpPr>
          <p:cNvPr id="7" name="rule"/>
          <p:cNvSpPr/>
          <p:nvPr/>
        </p:nvSpPr>
        <p:spPr>
          <a:xfrm>
            <a:off x="822960" y="2688336"/>
            <a:ext cx="10545775" cy="0"/>
          </a:xfrm>
          <a:prstGeom prst="line">
            <a:avLst/>
          </a:prstGeom>
          <a:noFill/>
          <a:ln w="9525">
            <a:solidFill>
              <a:schemeClr val="accent4"/>
            </a:solidFill>
            <a:prstDash val="solid"/>
          </a:ln>
        </p:spPr>
      </p:sp>
      <p:sp>
        <p:nvSpPr>
          <p:cNvPr id="8" name="Text 5"/>
          <p:cNvSpPr txBox="1"/>
          <p:nvPr/>
        </p:nvSpPr>
        <p:spPr>
          <a:xfrm>
            <a:off x="10225735" y="2743200"/>
            <a:ext cx="914400" cy="713232"/>
          </a:xfrm>
          <a:prstGeom prst="rect">
            <a:avLst/>
          </a:prstGeom>
          <a:noFill/>
          <a:ln/>
        </p:spPr>
        <p:txBody>
          <a:bodyPr wrap="square" lIns="0" tIns="0" rIns="0" bIns="0" rtlCol="0" anchor="ctr"/>
          <a:lstStyle/>
          <a:p>
            <a:pPr rtl="1" algn="ctr" indent="0" marL="0">
              <a:buNone/>
            </a:pPr>
            <a:r>
              <a:rPr lang="fa-IR" altLang="en-US" sz="4000" b="1" dirty="0">
                <a:solidFill>
                  <a:schemeClr val="accent1"/>
                </a:solidFill>
                <a:latin typeface="Arial" pitchFamily="34" charset="0"/>
                <a:cs typeface="Arial" pitchFamily="34" charset="178"/>
              </a:rPr>
              <a:t>۲</a:t>
            </a:r>
            <a:endParaRPr lang="fa-IR" sz="4000" dirty="0"/>
          </a:p>
        </p:txBody>
      </p:sp>
      <p:sp>
        <p:nvSpPr>
          <p:cNvPr id="9" name="Text 6"/>
          <p:cNvSpPr txBox="1"/>
          <p:nvPr/>
        </p:nvSpPr>
        <p:spPr>
          <a:xfrm>
            <a:off x="822960" y="2779776"/>
            <a:ext cx="9174175" cy="384048"/>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احساس را نام ببر</a:t>
            </a:r>
            <a:endParaRPr lang="fa-IR" sz="2400" dirty="0"/>
          </a:p>
        </p:txBody>
      </p:sp>
      <p:sp>
        <p:nvSpPr>
          <p:cNvPr id="10" name="Text 7"/>
          <p:cNvSpPr txBox="1"/>
          <p:nvPr/>
        </p:nvSpPr>
        <p:spPr>
          <a:xfrm>
            <a:off x="822960" y="3145536"/>
            <a:ext cx="9174175" cy="292608"/>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«واقعاً چه احساسی دارم؟»</a:t>
            </a:r>
            <a:endParaRPr lang="fa-IR" sz="1600" dirty="0"/>
          </a:p>
        </p:txBody>
      </p:sp>
      <p:sp>
        <p:nvSpPr>
          <p:cNvPr id="11" name="rule"/>
          <p:cNvSpPr/>
          <p:nvPr/>
        </p:nvSpPr>
        <p:spPr>
          <a:xfrm>
            <a:off x="822960" y="3511296"/>
            <a:ext cx="10545775" cy="0"/>
          </a:xfrm>
          <a:prstGeom prst="line">
            <a:avLst/>
          </a:prstGeom>
          <a:noFill/>
          <a:ln w="9525">
            <a:solidFill>
              <a:schemeClr val="accent4"/>
            </a:solidFill>
            <a:prstDash val="solid"/>
          </a:ln>
        </p:spPr>
      </p:sp>
      <p:sp>
        <p:nvSpPr>
          <p:cNvPr id="12" name="Text 9"/>
          <p:cNvSpPr txBox="1"/>
          <p:nvPr/>
        </p:nvSpPr>
        <p:spPr>
          <a:xfrm>
            <a:off x="10225735" y="3566160"/>
            <a:ext cx="914400" cy="713232"/>
          </a:xfrm>
          <a:prstGeom prst="rect">
            <a:avLst/>
          </a:prstGeom>
          <a:noFill/>
          <a:ln/>
        </p:spPr>
        <p:txBody>
          <a:bodyPr wrap="square" lIns="0" tIns="0" rIns="0" bIns="0" rtlCol="0" anchor="ctr"/>
          <a:lstStyle/>
          <a:p>
            <a:pPr rtl="1" algn="ctr" indent="0" marL="0">
              <a:buNone/>
            </a:pPr>
            <a:r>
              <a:rPr lang="fa-IR" altLang="en-US" sz="4000" b="1" dirty="0">
                <a:solidFill>
                  <a:schemeClr val="accent1"/>
                </a:solidFill>
                <a:latin typeface="Arial" pitchFamily="34" charset="0"/>
                <a:cs typeface="Arial" pitchFamily="34" charset="178"/>
              </a:rPr>
              <a:t>۳</a:t>
            </a:r>
            <a:endParaRPr lang="fa-IR" sz="4000" dirty="0"/>
          </a:p>
        </p:txBody>
      </p:sp>
      <p:sp>
        <p:nvSpPr>
          <p:cNvPr id="13" name="Text 10"/>
          <p:cNvSpPr txBox="1"/>
          <p:nvPr/>
        </p:nvSpPr>
        <p:spPr>
          <a:xfrm>
            <a:off x="822960" y="3602736"/>
            <a:ext cx="9174175" cy="384048"/>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نیاز را پیدا کن</a:t>
            </a:r>
            <a:endParaRPr lang="fa-IR" sz="2400" dirty="0"/>
          </a:p>
        </p:txBody>
      </p:sp>
      <p:sp>
        <p:nvSpPr>
          <p:cNvPr id="14" name="Text 11"/>
          <p:cNvSpPr txBox="1"/>
          <p:nvPr/>
        </p:nvSpPr>
        <p:spPr>
          <a:xfrm>
            <a:off x="822960" y="3968496"/>
            <a:ext cx="9174175" cy="292608"/>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«چه چیزی برایم مهم بوده؟»</a:t>
            </a:r>
            <a:endParaRPr lang="fa-IR" sz="1600" dirty="0"/>
          </a:p>
        </p:txBody>
      </p:sp>
      <p:sp>
        <p:nvSpPr>
          <p:cNvPr id="15" name="rule"/>
          <p:cNvSpPr/>
          <p:nvPr/>
        </p:nvSpPr>
        <p:spPr>
          <a:xfrm>
            <a:off x="822960" y="4334256"/>
            <a:ext cx="10545775" cy="0"/>
          </a:xfrm>
          <a:prstGeom prst="line">
            <a:avLst/>
          </a:prstGeom>
          <a:noFill/>
          <a:ln w="9525">
            <a:solidFill>
              <a:schemeClr val="accent4"/>
            </a:solidFill>
            <a:prstDash val="solid"/>
          </a:ln>
        </p:spPr>
      </p:sp>
      <p:sp>
        <p:nvSpPr>
          <p:cNvPr id="16" name="Text 13"/>
          <p:cNvSpPr txBox="1"/>
          <p:nvPr/>
        </p:nvSpPr>
        <p:spPr>
          <a:xfrm>
            <a:off x="10225735" y="4389120"/>
            <a:ext cx="914400" cy="713232"/>
          </a:xfrm>
          <a:prstGeom prst="rect">
            <a:avLst/>
          </a:prstGeom>
          <a:noFill/>
          <a:ln/>
        </p:spPr>
        <p:txBody>
          <a:bodyPr wrap="square" lIns="0" tIns="0" rIns="0" bIns="0" rtlCol="0" anchor="ctr"/>
          <a:lstStyle/>
          <a:p>
            <a:pPr rtl="1" algn="ctr" indent="0" marL="0">
              <a:buNone/>
            </a:pPr>
            <a:r>
              <a:rPr lang="fa-IR" altLang="en-US" sz="4000" b="1" dirty="0">
                <a:solidFill>
                  <a:schemeClr val="accent1"/>
                </a:solidFill>
                <a:latin typeface="Arial" pitchFamily="34" charset="0"/>
                <a:cs typeface="Arial" pitchFamily="34" charset="178"/>
              </a:rPr>
              <a:t>۴</a:t>
            </a:r>
            <a:endParaRPr lang="fa-IR" sz="4000" dirty="0"/>
          </a:p>
        </p:txBody>
      </p:sp>
      <p:sp>
        <p:nvSpPr>
          <p:cNvPr id="17" name="Text 14"/>
          <p:cNvSpPr txBox="1"/>
          <p:nvPr/>
        </p:nvSpPr>
        <p:spPr>
          <a:xfrm>
            <a:off x="822960" y="4425696"/>
            <a:ext cx="9174175" cy="384048"/>
          </a:xfrm>
          <a:prstGeom prst="rect">
            <a:avLst/>
          </a:prstGeom>
          <a:noFill/>
          <a:ln/>
        </p:spPr>
        <p:txBody>
          <a:bodyPr wrap="square" lIns="0" tIns="0" rIns="0" bIns="0" rtlCol="0" anchor="ctr"/>
          <a:lstStyle/>
          <a:p>
            <a:pPr rtl="1" algn="r" indent="0" marL="0">
              <a:buNone/>
            </a:pPr>
            <a:r>
              <a:rPr lang="fa-IR" altLang="en-US" sz="2400" b="1" dirty="0">
                <a:solidFill>
                  <a:schemeClr val="tx1"/>
                </a:solidFill>
                <a:latin typeface="Arial" pitchFamily="34" charset="0"/>
                <a:cs typeface="Arial" pitchFamily="34" charset="178"/>
              </a:rPr>
              <a:t>از خودت محافظت کن</a:t>
            </a:r>
            <a:endParaRPr lang="fa-IR" sz="2400" dirty="0"/>
          </a:p>
        </p:txBody>
      </p:sp>
      <p:sp>
        <p:nvSpPr>
          <p:cNvPr id="18" name="Text 15"/>
          <p:cNvSpPr txBox="1"/>
          <p:nvPr/>
        </p:nvSpPr>
        <p:spPr>
          <a:xfrm>
            <a:off x="822960" y="4791456"/>
            <a:ext cx="9174175" cy="292608"/>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«چطور علیه خودم رفتار نکنم؟»</a:t>
            </a:r>
            <a:endParaRPr lang="fa-IR" sz="1600" dirty="0"/>
          </a:p>
        </p:txBody>
      </p:sp>
      <p:sp>
        <p:nvSpPr>
          <p:cNvPr id="19" name="card"/>
          <p:cNvSpPr/>
          <p:nvPr/>
        </p:nvSpPr>
        <p:spPr>
          <a:xfrm>
            <a:off x="822960" y="5166360"/>
            <a:ext cx="10545775" cy="804672"/>
          </a:xfrm>
          <a:prstGeom prst="roundRect">
            <a:avLst>
              <a:gd name="adj" fmla="val 11364"/>
            </a:avLst>
          </a:prstGeom>
          <a:solidFill>
            <a:schemeClr val="bg2"/>
          </a:solidFill>
          <a:ln w="12700">
            <a:solidFill>
              <a:schemeClr val="accent2"/>
            </a:solidFill>
            <a:prstDash val="solid"/>
          </a:ln>
        </p:spPr>
      </p:sp>
      <p:sp>
        <p:nvSpPr>
          <p:cNvPr id="20" name="Text 17"/>
          <p:cNvSpPr txBox="1"/>
          <p:nvPr/>
        </p:nvSpPr>
        <p:spPr>
          <a:xfrm>
            <a:off x="10225735" y="5212080"/>
            <a:ext cx="914400" cy="713232"/>
          </a:xfrm>
          <a:prstGeom prst="rect">
            <a:avLst/>
          </a:prstGeom>
          <a:noFill/>
          <a:ln/>
        </p:spPr>
        <p:txBody>
          <a:bodyPr wrap="square" lIns="0" tIns="0" rIns="0" bIns="0" rtlCol="0" anchor="ctr"/>
          <a:lstStyle/>
          <a:p>
            <a:pPr rtl="1" algn="ctr" indent="0" marL="0">
              <a:buNone/>
            </a:pPr>
            <a:r>
              <a:rPr lang="fa-IR" altLang="en-US" sz="4000" b="1" dirty="0">
                <a:solidFill>
                  <a:schemeClr val="accent2"/>
                </a:solidFill>
                <a:latin typeface="Arial" pitchFamily="34" charset="0"/>
                <a:cs typeface="Arial" pitchFamily="34" charset="178"/>
              </a:rPr>
              <a:t>۵</a:t>
            </a:r>
            <a:endParaRPr lang="fa-IR" sz="4000" dirty="0"/>
          </a:p>
        </p:txBody>
      </p:sp>
      <p:sp>
        <p:nvSpPr>
          <p:cNvPr id="21" name="Text 18"/>
          <p:cNvSpPr txBox="1"/>
          <p:nvPr/>
        </p:nvSpPr>
        <p:spPr>
          <a:xfrm>
            <a:off x="822960" y="5248656"/>
            <a:ext cx="9174175" cy="384048"/>
          </a:xfrm>
          <a:prstGeom prst="rect">
            <a:avLst/>
          </a:prstGeom>
          <a:noFill/>
          <a:ln/>
        </p:spPr>
        <p:txBody>
          <a:bodyPr wrap="square" lIns="0" tIns="0" rIns="0" bIns="0" rtlCol="0" anchor="ctr"/>
          <a:lstStyle/>
          <a:p>
            <a:pPr rtl="1" algn="r" indent="0" marL="0">
              <a:buNone/>
            </a:pPr>
            <a:r>
              <a:rPr lang="fa-IR" altLang="en-US" sz="2400" b="1" dirty="0">
                <a:solidFill>
                  <a:schemeClr val="accent3"/>
                </a:solidFill>
                <a:latin typeface="Arial" pitchFamily="34" charset="0"/>
                <a:cs typeface="Arial" pitchFamily="34" charset="178"/>
              </a:rPr>
              <a:t>به اقدام برس</a:t>
            </a:r>
            <a:endParaRPr lang="fa-IR" sz="2400" dirty="0"/>
          </a:p>
        </p:txBody>
      </p:sp>
      <p:sp>
        <p:nvSpPr>
          <p:cNvPr id="22" name="Text 19"/>
          <p:cNvSpPr txBox="1"/>
          <p:nvPr/>
        </p:nvSpPr>
        <p:spPr>
          <a:xfrm>
            <a:off x="822960" y="5614416"/>
            <a:ext cx="9174175" cy="292608"/>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«چه مرز یا خواسته‌ای دارم؟»</a:t>
            </a:r>
            <a:endParaRPr lang="fa-IR" sz="16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یک فرمول ساده برای بردن با خودتان</a:t>
            </a:r>
            <a:endParaRPr lang="fa-IR" sz="3200" dirty="0"/>
          </a:p>
        </p:txBody>
      </p:sp>
      <p:sp>
        <p:nvSpPr>
          <p:cNvPr id="4" name="Text 1"/>
          <p:cNvSpPr txBox="1"/>
          <p:nvPr/>
        </p:nvSpPr>
        <p:spPr>
          <a:xfrm>
            <a:off x="9174175" y="2286000"/>
            <a:ext cx="2194560" cy="1280160"/>
          </a:xfrm>
          <a:prstGeom prst="rect">
            <a:avLst/>
          </a:prstGeom>
          <a:noFill/>
          <a:ln/>
        </p:spPr>
        <p:txBody>
          <a:bodyPr wrap="none" lIns="0" tIns="0" rIns="0" bIns="0" rtlCol="0" anchor="ctr"/>
          <a:lstStyle/>
          <a:p>
            <a:pPr rtl="1" algn="ctr" indent="0" marL="0">
              <a:buNone/>
            </a:pPr>
            <a:r>
              <a:rPr lang="fa-IR" altLang="en-US" sz="4400" b="1" dirty="0">
                <a:solidFill>
                  <a:schemeClr val="accent2"/>
                </a:solidFill>
                <a:latin typeface="Arial" pitchFamily="34" charset="0"/>
                <a:cs typeface="Arial" pitchFamily="34" charset="178"/>
              </a:rPr>
              <a:t>احساس</a:t>
            </a:r>
            <a:endParaRPr lang="fa-IR" sz="4400" dirty="0"/>
          </a:p>
        </p:txBody>
      </p:sp>
      <p:sp>
        <p:nvSpPr>
          <p:cNvPr id="5" name="arrow"/>
          <p:cNvSpPr/>
          <p:nvPr/>
        </p:nvSpPr>
        <p:spPr>
          <a:xfrm flipH="1">
            <a:off x="8676437" y="2926080"/>
            <a:ext cx="406298" cy="0"/>
          </a:xfrm>
          <a:prstGeom prst="line">
            <a:avLst/>
          </a:prstGeom>
          <a:noFill/>
          <a:ln w="19050">
            <a:solidFill>
              <a:schemeClr val="accent5"/>
            </a:solidFill>
            <a:prstDash val="solid"/>
            <a:tailEnd type="arrow"/>
          </a:ln>
        </p:spPr>
      </p:sp>
      <p:sp>
        <p:nvSpPr>
          <p:cNvPr id="6" name="Text 3"/>
          <p:cNvSpPr txBox="1"/>
          <p:nvPr/>
        </p:nvSpPr>
        <p:spPr>
          <a:xfrm>
            <a:off x="6390437" y="2286000"/>
            <a:ext cx="2194560" cy="1280160"/>
          </a:xfrm>
          <a:prstGeom prst="rect">
            <a:avLst/>
          </a:prstGeom>
          <a:noFill/>
          <a:ln/>
        </p:spPr>
        <p:txBody>
          <a:bodyPr wrap="none" lIns="0" tIns="0" rIns="0" bIns="0" rtlCol="0" anchor="ctr"/>
          <a:lstStyle/>
          <a:p>
            <a:pPr rtl="1" algn="ctr" indent="0" marL="0">
              <a:buNone/>
            </a:pPr>
            <a:r>
              <a:rPr lang="fa-IR" altLang="en-US" sz="4400" b="1" dirty="0">
                <a:solidFill>
                  <a:schemeClr val="accent2"/>
                </a:solidFill>
                <a:latin typeface="Arial" pitchFamily="34" charset="0"/>
                <a:cs typeface="Arial" pitchFamily="34" charset="178"/>
              </a:rPr>
              <a:t>نیاز</a:t>
            </a:r>
            <a:endParaRPr lang="fa-IR" sz="4400" dirty="0"/>
          </a:p>
        </p:txBody>
      </p:sp>
      <p:sp>
        <p:nvSpPr>
          <p:cNvPr id="7" name="arrow"/>
          <p:cNvSpPr/>
          <p:nvPr/>
        </p:nvSpPr>
        <p:spPr>
          <a:xfrm flipH="1">
            <a:off x="5892698" y="2926080"/>
            <a:ext cx="406298" cy="0"/>
          </a:xfrm>
          <a:prstGeom prst="line">
            <a:avLst/>
          </a:prstGeom>
          <a:noFill/>
          <a:ln w="19050">
            <a:solidFill>
              <a:schemeClr val="accent5"/>
            </a:solidFill>
            <a:prstDash val="solid"/>
            <a:tailEnd type="arrow"/>
          </a:ln>
        </p:spPr>
      </p:sp>
      <p:sp>
        <p:nvSpPr>
          <p:cNvPr id="8" name="Text 5"/>
          <p:cNvSpPr txBox="1"/>
          <p:nvPr/>
        </p:nvSpPr>
        <p:spPr>
          <a:xfrm>
            <a:off x="3606698" y="2286000"/>
            <a:ext cx="2194560" cy="1280160"/>
          </a:xfrm>
          <a:prstGeom prst="rect">
            <a:avLst/>
          </a:prstGeom>
          <a:noFill/>
          <a:ln/>
        </p:spPr>
        <p:txBody>
          <a:bodyPr wrap="none" lIns="0" tIns="0" rIns="0" bIns="0" rtlCol="0" anchor="ctr"/>
          <a:lstStyle/>
          <a:p>
            <a:pPr rtl="1" algn="ctr" indent="0" marL="0">
              <a:buNone/>
            </a:pPr>
            <a:r>
              <a:rPr lang="fa-IR" altLang="en-US" sz="4400" b="1" dirty="0">
                <a:solidFill>
                  <a:schemeClr val="accent2"/>
                </a:solidFill>
                <a:latin typeface="Arial" pitchFamily="34" charset="0"/>
                <a:cs typeface="Arial" pitchFamily="34" charset="178"/>
              </a:rPr>
              <a:t>مرز</a:t>
            </a:r>
            <a:endParaRPr lang="fa-IR" sz="4400" dirty="0"/>
          </a:p>
        </p:txBody>
      </p:sp>
      <p:sp>
        <p:nvSpPr>
          <p:cNvPr id="9" name="arrow"/>
          <p:cNvSpPr/>
          <p:nvPr/>
        </p:nvSpPr>
        <p:spPr>
          <a:xfrm flipH="1">
            <a:off x="3108960" y="2926080"/>
            <a:ext cx="406298" cy="0"/>
          </a:xfrm>
          <a:prstGeom prst="line">
            <a:avLst/>
          </a:prstGeom>
          <a:noFill/>
          <a:ln w="19050">
            <a:solidFill>
              <a:schemeClr val="accent5"/>
            </a:solidFill>
            <a:prstDash val="solid"/>
            <a:tailEnd type="arrow"/>
          </a:ln>
        </p:spPr>
      </p:sp>
      <p:sp>
        <p:nvSpPr>
          <p:cNvPr id="10" name="Text 7"/>
          <p:cNvSpPr txBox="1"/>
          <p:nvPr/>
        </p:nvSpPr>
        <p:spPr>
          <a:xfrm>
            <a:off x="822960" y="2286000"/>
            <a:ext cx="2194560" cy="1280160"/>
          </a:xfrm>
          <a:prstGeom prst="rect">
            <a:avLst/>
          </a:prstGeom>
          <a:noFill/>
          <a:ln/>
        </p:spPr>
        <p:txBody>
          <a:bodyPr wrap="none" lIns="0" tIns="0" rIns="0" bIns="0" rtlCol="0" anchor="ctr"/>
          <a:lstStyle/>
          <a:p>
            <a:pPr rtl="1" algn="ctr" indent="0" marL="0">
              <a:buNone/>
            </a:pPr>
            <a:r>
              <a:rPr lang="fa-IR" altLang="en-US" sz="4400" b="1" dirty="0">
                <a:solidFill>
                  <a:schemeClr val="accent3"/>
                </a:solidFill>
                <a:latin typeface="Arial" pitchFamily="34" charset="0"/>
                <a:cs typeface="Arial" pitchFamily="34" charset="178"/>
              </a:rPr>
              <a:t>اقدام</a:t>
            </a:r>
            <a:endParaRPr lang="fa-IR" sz="4400" dirty="0"/>
          </a:p>
        </p:txBody>
      </p:sp>
      <p:sp>
        <p:nvSpPr>
          <p:cNvPr id="11" name="Text 8"/>
          <p:cNvSpPr txBox="1"/>
          <p:nvPr/>
        </p:nvSpPr>
        <p:spPr>
          <a:xfrm>
            <a:off x="822960" y="4297680"/>
            <a:ext cx="10545775" cy="411480"/>
          </a:xfrm>
          <a:prstGeom prst="rect">
            <a:avLst/>
          </a:prstGeom>
          <a:noFill/>
          <a:ln/>
        </p:spPr>
        <p:txBody>
          <a:bodyPr wrap="square" lIns="0" tIns="0" rIns="0" bIns="0" rtlCol="0" anchor="ctr"/>
          <a:lstStyle/>
          <a:p>
            <a:pPr rtl="1" algn="r" indent="0" marL="0">
              <a:buNone/>
            </a:pPr>
            <a:r>
              <a:rPr lang="fa-IR" altLang="en-US" sz="2000" b="1" dirty="0">
                <a:solidFill>
                  <a:schemeClr val="accent6"/>
                </a:solidFill>
                <a:latin typeface="Arial" pitchFamily="34" charset="0"/>
                <a:cs typeface="Arial" pitchFamily="34" charset="178"/>
              </a:rPr>
              <a:t>نه:</a:t>
            </a:r>
            <a:endParaRPr lang="fa-IR" sz="2000" dirty="0"/>
          </a:p>
        </p:txBody>
      </p:sp>
      <p:sp>
        <p:nvSpPr>
          <p:cNvPr id="12" name="Text 9"/>
          <p:cNvSpPr txBox="1"/>
          <p:nvPr/>
        </p:nvSpPr>
        <p:spPr>
          <a:xfrm>
            <a:off x="9174175" y="4846320"/>
            <a:ext cx="2194560" cy="640080"/>
          </a:xfrm>
          <a:prstGeom prst="rect">
            <a:avLst/>
          </a:prstGeom>
          <a:noFill/>
          <a:ln/>
        </p:spPr>
        <p:txBody>
          <a:bodyPr wrap="square" lIns="0" tIns="0" rIns="0" bIns="0" rtlCol="0" anchor="ctr"/>
          <a:lstStyle/>
          <a:p>
            <a:pPr rtl="1" algn="ctr" indent="0" marL="0">
              <a:buNone/>
            </a:pPr>
            <a:r>
              <a:rPr lang="fa-IR" altLang="en-US" sz="2400" dirty="0">
                <a:solidFill>
                  <a:schemeClr val="accent5"/>
                </a:solidFill>
                <a:latin typeface="Arial" pitchFamily="34" charset="0"/>
                <a:cs typeface="Arial" pitchFamily="34" charset="178"/>
              </a:rPr>
              <a:t>احساس</a:t>
            </a:r>
            <a:endParaRPr lang="fa-IR" sz="2400" dirty="0"/>
          </a:p>
        </p:txBody>
      </p:sp>
      <p:sp>
        <p:nvSpPr>
          <p:cNvPr id="13" name="arrow"/>
          <p:cNvSpPr/>
          <p:nvPr/>
        </p:nvSpPr>
        <p:spPr>
          <a:xfrm flipH="1">
            <a:off x="8676437" y="5166360"/>
            <a:ext cx="406298" cy="0"/>
          </a:xfrm>
          <a:prstGeom prst="line">
            <a:avLst/>
          </a:prstGeom>
          <a:noFill/>
          <a:ln w="12700">
            <a:solidFill>
              <a:schemeClr val="accent5"/>
            </a:solidFill>
            <a:prstDash val="solid"/>
            <a:tailEnd type="arrow"/>
          </a:ln>
        </p:spPr>
      </p:sp>
      <p:sp>
        <p:nvSpPr>
          <p:cNvPr id="14" name="Text 11"/>
          <p:cNvSpPr txBox="1"/>
          <p:nvPr/>
        </p:nvSpPr>
        <p:spPr>
          <a:xfrm>
            <a:off x="6390437" y="4846320"/>
            <a:ext cx="2194560" cy="640080"/>
          </a:xfrm>
          <a:prstGeom prst="rect">
            <a:avLst/>
          </a:prstGeom>
          <a:noFill/>
          <a:ln/>
        </p:spPr>
        <p:txBody>
          <a:bodyPr wrap="square" lIns="0" tIns="0" rIns="0" bIns="0" rtlCol="0" anchor="ctr"/>
          <a:lstStyle/>
          <a:p>
            <a:pPr rtl="1" algn="ctr" indent="0" marL="0">
              <a:buNone/>
            </a:pPr>
            <a:r>
              <a:rPr lang="fa-IR" altLang="en-US" sz="2400" dirty="0">
                <a:solidFill>
                  <a:schemeClr val="accent5"/>
                </a:solidFill>
                <a:latin typeface="Arial" pitchFamily="34" charset="0"/>
                <a:cs typeface="Arial" pitchFamily="34" charset="178"/>
              </a:rPr>
              <a:t>قضاوت خود</a:t>
            </a:r>
            <a:endParaRPr lang="fa-IR" sz="2400" dirty="0"/>
          </a:p>
        </p:txBody>
      </p:sp>
      <p:sp>
        <p:nvSpPr>
          <p:cNvPr id="15" name="arrow"/>
          <p:cNvSpPr/>
          <p:nvPr/>
        </p:nvSpPr>
        <p:spPr>
          <a:xfrm flipH="1">
            <a:off x="5892698" y="5166360"/>
            <a:ext cx="406298" cy="0"/>
          </a:xfrm>
          <a:prstGeom prst="line">
            <a:avLst/>
          </a:prstGeom>
          <a:noFill/>
          <a:ln w="12700">
            <a:solidFill>
              <a:schemeClr val="accent5"/>
            </a:solidFill>
            <a:prstDash val="solid"/>
            <a:tailEnd type="arrow"/>
          </a:ln>
        </p:spPr>
      </p:sp>
      <p:sp>
        <p:nvSpPr>
          <p:cNvPr id="16" name="Text 13"/>
          <p:cNvSpPr txBox="1"/>
          <p:nvPr/>
        </p:nvSpPr>
        <p:spPr>
          <a:xfrm>
            <a:off x="3606698" y="4846320"/>
            <a:ext cx="2194560" cy="640080"/>
          </a:xfrm>
          <a:prstGeom prst="rect">
            <a:avLst/>
          </a:prstGeom>
          <a:noFill/>
          <a:ln/>
        </p:spPr>
        <p:txBody>
          <a:bodyPr wrap="square" lIns="0" tIns="0" rIns="0" bIns="0" rtlCol="0" anchor="ctr"/>
          <a:lstStyle/>
          <a:p>
            <a:pPr rtl="1" algn="ctr" indent="0" marL="0">
              <a:buNone/>
            </a:pPr>
            <a:r>
              <a:rPr lang="fa-IR" altLang="en-US" sz="2400" dirty="0">
                <a:solidFill>
                  <a:schemeClr val="accent5"/>
                </a:solidFill>
                <a:latin typeface="Arial" pitchFamily="34" charset="0"/>
                <a:cs typeface="Arial" pitchFamily="34" charset="178"/>
              </a:rPr>
              <a:t>نشخوار</a:t>
            </a:r>
            <a:endParaRPr lang="fa-IR" sz="2400" dirty="0"/>
          </a:p>
        </p:txBody>
      </p:sp>
      <p:sp>
        <p:nvSpPr>
          <p:cNvPr id="17" name="arrow"/>
          <p:cNvSpPr/>
          <p:nvPr/>
        </p:nvSpPr>
        <p:spPr>
          <a:xfrm flipH="1">
            <a:off x="3108960" y="5166360"/>
            <a:ext cx="406298" cy="0"/>
          </a:xfrm>
          <a:prstGeom prst="line">
            <a:avLst/>
          </a:prstGeom>
          <a:noFill/>
          <a:ln w="12700">
            <a:solidFill>
              <a:schemeClr val="accent5"/>
            </a:solidFill>
            <a:prstDash val="solid"/>
            <a:tailEnd type="arrow"/>
          </a:ln>
        </p:spPr>
      </p:sp>
      <p:sp>
        <p:nvSpPr>
          <p:cNvPr id="18" name="Text 15"/>
          <p:cNvSpPr txBox="1"/>
          <p:nvPr/>
        </p:nvSpPr>
        <p:spPr>
          <a:xfrm>
            <a:off x="822960" y="4846320"/>
            <a:ext cx="2194560" cy="640080"/>
          </a:xfrm>
          <a:prstGeom prst="rect">
            <a:avLst/>
          </a:prstGeom>
          <a:noFill/>
          <a:ln/>
        </p:spPr>
        <p:txBody>
          <a:bodyPr wrap="square" lIns="0" tIns="0" rIns="0" bIns="0" rtlCol="0" anchor="ctr"/>
          <a:lstStyle/>
          <a:p>
            <a:pPr rtl="1" algn="ctr" indent="0" marL="0">
              <a:buNone/>
            </a:pPr>
            <a:r>
              <a:rPr lang="fa-IR" altLang="en-US" sz="2400" dirty="0">
                <a:solidFill>
                  <a:schemeClr val="accent5"/>
                </a:solidFill>
                <a:latin typeface="Arial" pitchFamily="34" charset="0"/>
                <a:cs typeface="Arial" pitchFamily="34" charset="178"/>
              </a:rPr>
              <a:t>حمله به خود</a:t>
            </a:r>
            <a:endParaRPr lang="fa-IR" sz="24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ag"/>
          <p:cNvSpPr/>
          <p:nvPr/>
        </p:nvSpPr>
        <p:spPr>
          <a:xfrm>
            <a:off x="10362895" y="347472"/>
            <a:ext cx="1005840" cy="347472"/>
          </a:xfrm>
          <a:prstGeom prst="roundRect">
            <a:avLst>
              <a:gd name="adj" fmla="val 50000"/>
            </a:avLst>
          </a:prstGeom>
          <a:solidFill>
            <a:schemeClr val="accent2"/>
          </a:solidFill>
          <a:ln w="12700">
            <a:solidFill>
              <a:schemeClr val="accent2"/>
            </a:solidFill>
            <a:prstDash val="solid"/>
          </a:ln>
        </p:spPr>
      </p:sp>
      <p:sp>
        <p:nvSpPr>
          <p:cNvPr id="4" name="Text 1"/>
          <p:cNvSpPr txBox="1"/>
          <p:nvPr/>
        </p:nvSpPr>
        <p:spPr>
          <a:xfrm>
            <a:off x="10362895" y="347472"/>
            <a:ext cx="1005840" cy="347472"/>
          </a:xfrm>
          <a:prstGeom prst="rect">
            <a:avLst/>
          </a:prstGeom>
          <a:noFill/>
          <a:ln/>
        </p:spPr>
        <p:txBody>
          <a:bodyPr wrap="square" lIns="0" tIns="0" rIns="0" bIns="0" rtlCol="0" anchor="ctr"/>
          <a:lstStyle/>
          <a:p>
            <a:pPr rtl="1" algn="ctr" indent="0" marL="0">
              <a:buNone/>
            </a:pPr>
            <a:r>
              <a:rPr lang="fa-IR" altLang="en-US" sz="1400" b="1" dirty="0">
                <a:solidFill>
                  <a:schemeClr val="bg1"/>
                </a:solidFill>
                <a:latin typeface="Arial" pitchFamily="34" charset="0"/>
                <a:cs typeface="Arial" pitchFamily="34" charset="178"/>
              </a:rPr>
              <a:t>تمرین</a:t>
            </a:r>
            <a:endParaRPr lang="fa-IR" sz="1400" dirty="0"/>
          </a:p>
        </p:txBody>
      </p:sp>
      <p:sp>
        <p:nvSpPr>
          <p:cNvPr id="5"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تمرین نهایی | نقشه چرخه شخصی من</a:t>
            </a:r>
            <a:endParaRPr lang="fa-IR" sz="3200" dirty="0"/>
          </a:p>
        </p:txBody>
      </p:sp>
      <p:sp>
        <p:nvSpPr>
          <p:cNvPr id="6" name="card"/>
          <p:cNvSpPr/>
          <p:nvPr/>
        </p:nvSpPr>
        <p:spPr>
          <a:xfrm>
            <a:off x="8076895" y="2011680"/>
            <a:ext cx="3291840" cy="1783080"/>
          </a:xfrm>
          <a:prstGeom prst="roundRect">
            <a:avLst>
              <a:gd name="adj" fmla="val 5128"/>
            </a:avLst>
          </a:prstGeom>
          <a:solidFill>
            <a:schemeClr val="bg1"/>
          </a:solidFill>
          <a:ln w="9525">
            <a:solidFill>
              <a:schemeClr val="accent4"/>
            </a:solidFill>
            <a:prstDash val="solid"/>
          </a:ln>
        </p:spPr>
      </p:sp>
      <p:sp>
        <p:nvSpPr>
          <p:cNvPr id="7" name="Text 4"/>
          <p:cNvSpPr txBox="1"/>
          <p:nvPr/>
        </p:nvSpPr>
        <p:spPr>
          <a:xfrm>
            <a:off x="8351215" y="2240280"/>
            <a:ext cx="2743200" cy="457200"/>
          </a:xfrm>
          <a:prstGeom prst="rect">
            <a:avLst/>
          </a:prstGeom>
          <a:noFill/>
          <a:ln/>
        </p:spPr>
        <p:txBody>
          <a:bodyPr wrap="square" lIns="0" tIns="0" rIns="0" bIns="0" rtlCol="0" anchor="t"/>
          <a:lstStyle/>
          <a:p>
            <a:pPr rtl="1" algn="r" indent="0" marL="0">
              <a:buNone/>
            </a:pPr>
            <a:r>
              <a:rPr lang="fa-IR" altLang="en-US" sz="2400" b="1" dirty="0">
                <a:solidFill>
                  <a:schemeClr val="accent1"/>
                </a:solidFill>
                <a:latin typeface="Arial" pitchFamily="34" charset="0"/>
                <a:cs typeface="Arial" pitchFamily="34" charset="178"/>
              </a:rPr>
              <a:t>اتفاق</a:t>
            </a:r>
            <a:endParaRPr lang="fa-IR" sz="2400" dirty="0"/>
          </a:p>
        </p:txBody>
      </p:sp>
      <p:sp>
        <p:nvSpPr>
          <p:cNvPr id="8" name="Text 5"/>
          <p:cNvSpPr txBox="1"/>
          <p:nvPr/>
        </p:nvSpPr>
        <p:spPr>
          <a:xfrm>
            <a:off x="8351215" y="2788920"/>
            <a:ext cx="2743200" cy="822960"/>
          </a:xfrm>
          <a:prstGeom prst="rect">
            <a:avLst/>
          </a:prstGeom>
          <a:noFill/>
          <a:ln/>
        </p:spPr>
        <p:txBody>
          <a:bodyPr wrap="square" lIns="0" tIns="0" rIns="0" bIns="0" rtlCol="0" anchor="t"/>
          <a:lstStyle/>
          <a:p>
            <a:pPr rtl="1" algn="r" indent="0" marL="0">
              <a:lnSpc>
                <a:spcPct val="115000"/>
              </a:lnSpc>
              <a:buNone/>
            </a:pPr>
            <a:r>
              <a:rPr lang="fa-IR" altLang="en-US" sz="1700" dirty="0">
                <a:solidFill>
                  <a:schemeClr val="accent5"/>
                </a:solidFill>
                <a:latin typeface="Arial" pitchFamily="34" charset="0"/>
                <a:cs typeface="Arial" pitchFamily="34" charset="178"/>
              </a:rPr>
              <a:t>چه شد؟</a:t>
            </a:r>
            <a:endParaRPr lang="fa-IR" sz="1700" dirty="0"/>
          </a:p>
        </p:txBody>
      </p:sp>
      <p:sp>
        <p:nvSpPr>
          <p:cNvPr id="9" name="card"/>
          <p:cNvSpPr/>
          <p:nvPr/>
        </p:nvSpPr>
        <p:spPr>
          <a:xfrm>
            <a:off x="4449470" y="2011680"/>
            <a:ext cx="3291840" cy="1783080"/>
          </a:xfrm>
          <a:prstGeom prst="roundRect">
            <a:avLst>
              <a:gd name="adj" fmla="val 5128"/>
            </a:avLst>
          </a:prstGeom>
          <a:solidFill>
            <a:schemeClr val="bg1"/>
          </a:solidFill>
          <a:ln w="9525">
            <a:solidFill>
              <a:schemeClr val="accent4"/>
            </a:solidFill>
            <a:prstDash val="solid"/>
          </a:ln>
        </p:spPr>
      </p:sp>
      <p:sp>
        <p:nvSpPr>
          <p:cNvPr id="10" name="Text 7"/>
          <p:cNvSpPr txBox="1"/>
          <p:nvPr/>
        </p:nvSpPr>
        <p:spPr>
          <a:xfrm>
            <a:off x="4723790" y="2240280"/>
            <a:ext cx="2743200" cy="457200"/>
          </a:xfrm>
          <a:prstGeom prst="rect">
            <a:avLst/>
          </a:prstGeom>
          <a:noFill/>
          <a:ln/>
        </p:spPr>
        <p:txBody>
          <a:bodyPr wrap="square" lIns="0" tIns="0" rIns="0" bIns="0" rtlCol="0" anchor="t"/>
          <a:lstStyle/>
          <a:p>
            <a:pPr rtl="1" algn="r" indent="0" marL="0">
              <a:buNone/>
            </a:pPr>
            <a:r>
              <a:rPr lang="fa-IR" altLang="en-US" sz="2400" b="1" dirty="0">
                <a:solidFill>
                  <a:schemeClr val="accent1"/>
                </a:solidFill>
                <a:latin typeface="Arial" pitchFamily="34" charset="0"/>
                <a:cs typeface="Arial" pitchFamily="34" charset="178"/>
              </a:rPr>
              <a:t>احساس</a:t>
            </a:r>
            <a:endParaRPr lang="fa-IR" sz="2400" dirty="0"/>
          </a:p>
        </p:txBody>
      </p:sp>
      <p:sp>
        <p:nvSpPr>
          <p:cNvPr id="11" name="Text 8"/>
          <p:cNvSpPr txBox="1"/>
          <p:nvPr/>
        </p:nvSpPr>
        <p:spPr>
          <a:xfrm>
            <a:off x="4723790" y="2788920"/>
            <a:ext cx="2743200" cy="822960"/>
          </a:xfrm>
          <a:prstGeom prst="rect">
            <a:avLst/>
          </a:prstGeom>
          <a:noFill/>
          <a:ln/>
        </p:spPr>
        <p:txBody>
          <a:bodyPr wrap="square" lIns="0" tIns="0" rIns="0" bIns="0" rtlCol="0" anchor="t"/>
          <a:lstStyle/>
          <a:p>
            <a:pPr rtl="1" algn="r" indent="0" marL="0">
              <a:lnSpc>
                <a:spcPct val="115000"/>
              </a:lnSpc>
              <a:buNone/>
            </a:pPr>
            <a:r>
              <a:rPr lang="fa-IR" altLang="en-US" sz="1700" dirty="0">
                <a:solidFill>
                  <a:schemeClr val="accent5"/>
                </a:solidFill>
                <a:latin typeface="Arial" pitchFamily="34" charset="0"/>
                <a:cs typeface="Arial" pitchFamily="34" charset="178"/>
              </a:rPr>
              <a:t>چه احساسی داشتم؟</a:t>
            </a:r>
            <a:endParaRPr lang="fa-IR" sz="1700" dirty="0"/>
          </a:p>
        </p:txBody>
      </p:sp>
      <p:sp>
        <p:nvSpPr>
          <p:cNvPr id="12" name="card"/>
          <p:cNvSpPr/>
          <p:nvPr/>
        </p:nvSpPr>
        <p:spPr>
          <a:xfrm>
            <a:off x="822046" y="2011680"/>
            <a:ext cx="3291840" cy="1783080"/>
          </a:xfrm>
          <a:prstGeom prst="roundRect">
            <a:avLst>
              <a:gd name="adj" fmla="val 5128"/>
            </a:avLst>
          </a:prstGeom>
          <a:solidFill>
            <a:schemeClr val="bg1"/>
          </a:solidFill>
          <a:ln w="9525">
            <a:solidFill>
              <a:schemeClr val="accent4"/>
            </a:solidFill>
            <a:prstDash val="solid"/>
          </a:ln>
        </p:spPr>
      </p:sp>
      <p:sp>
        <p:nvSpPr>
          <p:cNvPr id="13" name="Text 10"/>
          <p:cNvSpPr txBox="1"/>
          <p:nvPr/>
        </p:nvSpPr>
        <p:spPr>
          <a:xfrm>
            <a:off x="1096366" y="2240280"/>
            <a:ext cx="2743200" cy="457200"/>
          </a:xfrm>
          <a:prstGeom prst="rect">
            <a:avLst/>
          </a:prstGeom>
          <a:noFill/>
          <a:ln/>
        </p:spPr>
        <p:txBody>
          <a:bodyPr wrap="square" lIns="0" tIns="0" rIns="0" bIns="0" rtlCol="0" anchor="t"/>
          <a:lstStyle/>
          <a:p>
            <a:pPr rtl="1" algn="r" indent="0" marL="0">
              <a:buNone/>
            </a:pPr>
            <a:r>
              <a:rPr lang="fa-IR" altLang="en-US" sz="2400" b="1" dirty="0">
                <a:solidFill>
                  <a:schemeClr val="accent1"/>
                </a:solidFill>
                <a:latin typeface="Arial" pitchFamily="34" charset="0"/>
                <a:cs typeface="Arial" pitchFamily="34" charset="178"/>
              </a:rPr>
              <a:t>منتقد</a:t>
            </a:r>
            <a:endParaRPr lang="fa-IR" sz="2400" dirty="0"/>
          </a:p>
        </p:txBody>
      </p:sp>
      <p:sp>
        <p:nvSpPr>
          <p:cNvPr id="14" name="Text 11"/>
          <p:cNvSpPr txBox="1"/>
          <p:nvPr/>
        </p:nvSpPr>
        <p:spPr>
          <a:xfrm>
            <a:off x="1096366" y="2788920"/>
            <a:ext cx="2743200" cy="822960"/>
          </a:xfrm>
          <a:prstGeom prst="rect">
            <a:avLst/>
          </a:prstGeom>
          <a:noFill/>
          <a:ln/>
        </p:spPr>
        <p:txBody>
          <a:bodyPr wrap="square" lIns="0" tIns="0" rIns="0" bIns="0" rtlCol="0" anchor="t"/>
          <a:lstStyle/>
          <a:p>
            <a:pPr rtl="1" algn="r" indent="0" marL="0">
              <a:lnSpc>
                <a:spcPct val="115000"/>
              </a:lnSpc>
              <a:buNone/>
            </a:pPr>
            <a:r>
              <a:rPr lang="fa-IR" altLang="en-US" sz="1700" dirty="0">
                <a:solidFill>
                  <a:schemeClr val="accent5"/>
                </a:solidFill>
                <a:latin typeface="Arial" pitchFamily="34" charset="0"/>
                <a:cs typeface="Arial" pitchFamily="34" charset="178"/>
              </a:rPr>
              <a:t>دقیقاً چه گفت؟</a:t>
            </a:r>
            <a:endParaRPr lang="fa-IR" sz="1700" dirty="0"/>
          </a:p>
        </p:txBody>
      </p:sp>
      <p:sp>
        <p:nvSpPr>
          <p:cNvPr id="15" name="card"/>
          <p:cNvSpPr/>
          <p:nvPr/>
        </p:nvSpPr>
        <p:spPr>
          <a:xfrm>
            <a:off x="8076895" y="4023360"/>
            <a:ext cx="3291840" cy="1783080"/>
          </a:xfrm>
          <a:prstGeom prst="roundRect">
            <a:avLst>
              <a:gd name="adj" fmla="val 5128"/>
            </a:avLst>
          </a:prstGeom>
          <a:solidFill>
            <a:schemeClr val="bg1"/>
          </a:solidFill>
          <a:ln w="9525">
            <a:solidFill>
              <a:schemeClr val="accent4"/>
            </a:solidFill>
            <a:prstDash val="solid"/>
          </a:ln>
        </p:spPr>
      </p:sp>
      <p:sp>
        <p:nvSpPr>
          <p:cNvPr id="16" name="Text 13"/>
          <p:cNvSpPr txBox="1"/>
          <p:nvPr/>
        </p:nvSpPr>
        <p:spPr>
          <a:xfrm>
            <a:off x="8351215" y="4251960"/>
            <a:ext cx="2743200" cy="457200"/>
          </a:xfrm>
          <a:prstGeom prst="rect">
            <a:avLst/>
          </a:prstGeom>
          <a:noFill/>
          <a:ln/>
        </p:spPr>
        <p:txBody>
          <a:bodyPr wrap="square" lIns="0" tIns="0" rIns="0" bIns="0" rtlCol="0" anchor="t"/>
          <a:lstStyle/>
          <a:p>
            <a:pPr rtl="1" algn="r" indent="0" marL="0">
              <a:buNone/>
            </a:pPr>
            <a:r>
              <a:rPr lang="fa-IR" altLang="en-US" sz="2400" b="1" dirty="0">
                <a:solidFill>
                  <a:schemeClr val="accent1"/>
                </a:solidFill>
                <a:latin typeface="Arial" pitchFamily="34" charset="0"/>
                <a:cs typeface="Arial" pitchFamily="34" charset="178"/>
              </a:rPr>
              <a:t>نیاز</a:t>
            </a:r>
            <a:endParaRPr lang="fa-IR" sz="2400" dirty="0"/>
          </a:p>
        </p:txBody>
      </p:sp>
      <p:sp>
        <p:nvSpPr>
          <p:cNvPr id="17" name="Text 14"/>
          <p:cNvSpPr txBox="1"/>
          <p:nvPr/>
        </p:nvSpPr>
        <p:spPr>
          <a:xfrm>
            <a:off x="8351215" y="4800600"/>
            <a:ext cx="2743200" cy="822960"/>
          </a:xfrm>
          <a:prstGeom prst="rect">
            <a:avLst/>
          </a:prstGeom>
          <a:noFill/>
          <a:ln/>
        </p:spPr>
        <p:txBody>
          <a:bodyPr wrap="square" lIns="0" tIns="0" rIns="0" bIns="0" rtlCol="0" anchor="t"/>
          <a:lstStyle/>
          <a:p>
            <a:pPr rtl="1" algn="r" indent="0" marL="0">
              <a:lnSpc>
                <a:spcPct val="115000"/>
              </a:lnSpc>
              <a:buNone/>
            </a:pPr>
            <a:r>
              <a:rPr lang="fa-IR" altLang="en-US" sz="1700" dirty="0">
                <a:solidFill>
                  <a:schemeClr val="accent5"/>
                </a:solidFill>
                <a:latin typeface="Arial" pitchFamily="34" charset="0"/>
                <a:cs typeface="Arial" pitchFamily="34" charset="178"/>
              </a:rPr>
              <a:t>چه چیزی برایم مهم بود؟</a:t>
            </a:r>
            <a:endParaRPr lang="fa-IR" sz="1700" dirty="0"/>
          </a:p>
        </p:txBody>
      </p:sp>
      <p:sp>
        <p:nvSpPr>
          <p:cNvPr id="18" name="card"/>
          <p:cNvSpPr/>
          <p:nvPr/>
        </p:nvSpPr>
        <p:spPr>
          <a:xfrm>
            <a:off x="4449470" y="4023360"/>
            <a:ext cx="3291840" cy="1783080"/>
          </a:xfrm>
          <a:prstGeom prst="roundRect">
            <a:avLst>
              <a:gd name="adj" fmla="val 5128"/>
            </a:avLst>
          </a:prstGeom>
          <a:solidFill>
            <a:schemeClr val="bg1"/>
          </a:solidFill>
          <a:ln w="9525">
            <a:solidFill>
              <a:schemeClr val="accent4"/>
            </a:solidFill>
            <a:prstDash val="solid"/>
          </a:ln>
        </p:spPr>
      </p:sp>
      <p:sp>
        <p:nvSpPr>
          <p:cNvPr id="19" name="Text 16"/>
          <p:cNvSpPr txBox="1"/>
          <p:nvPr/>
        </p:nvSpPr>
        <p:spPr>
          <a:xfrm>
            <a:off x="4723790" y="4251960"/>
            <a:ext cx="2743200" cy="457200"/>
          </a:xfrm>
          <a:prstGeom prst="rect">
            <a:avLst/>
          </a:prstGeom>
          <a:noFill/>
          <a:ln/>
        </p:spPr>
        <p:txBody>
          <a:bodyPr wrap="square" lIns="0" tIns="0" rIns="0" bIns="0" rtlCol="0" anchor="t"/>
          <a:lstStyle/>
          <a:p>
            <a:pPr rtl="1" algn="r" indent="0" marL="0">
              <a:buNone/>
            </a:pPr>
            <a:r>
              <a:rPr lang="fa-IR" altLang="en-US" sz="2400" b="1" dirty="0">
                <a:solidFill>
                  <a:schemeClr val="accent1"/>
                </a:solidFill>
                <a:latin typeface="Arial" pitchFamily="34" charset="0"/>
                <a:cs typeface="Arial" pitchFamily="34" charset="178"/>
              </a:rPr>
              <a:t>محافظت</a:t>
            </a:r>
            <a:endParaRPr lang="fa-IR" sz="2400" dirty="0"/>
          </a:p>
        </p:txBody>
      </p:sp>
      <p:sp>
        <p:nvSpPr>
          <p:cNvPr id="20" name="Text 17"/>
          <p:cNvSpPr txBox="1"/>
          <p:nvPr/>
        </p:nvSpPr>
        <p:spPr>
          <a:xfrm>
            <a:off x="4723790" y="4800600"/>
            <a:ext cx="2743200" cy="822960"/>
          </a:xfrm>
          <a:prstGeom prst="rect">
            <a:avLst/>
          </a:prstGeom>
          <a:noFill/>
          <a:ln/>
        </p:spPr>
        <p:txBody>
          <a:bodyPr wrap="square" lIns="0" tIns="0" rIns="0" bIns="0" rtlCol="0" anchor="t"/>
          <a:lstStyle/>
          <a:p>
            <a:pPr rtl="1" algn="r" indent="0" marL="0">
              <a:lnSpc>
                <a:spcPct val="115000"/>
              </a:lnSpc>
              <a:buNone/>
            </a:pPr>
            <a:r>
              <a:rPr lang="fa-IR" altLang="en-US" sz="1700" dirty="0">
                <a:solidFill>
                  <a:schemeClr val="accent5"/>
                </a:solidFill>
                <a:latin typeface="Arial" pitchFamily="34" charset="0"/>
                <a:cs typeface="Arial" pitchFamily="34" charset="178"/>
              </a:rPr>
              <a:t>چطور بدون حمله به خودم از خودم حمایت کنم؟</a:t>
            </a:r>
            <a:endParaRPr lang="fa-IR" sz="1700" dirty="0"/>
          </a:p>
        </p:txBody>
      </p:sp>
      <p:sp>
        <p:nvSpPr>
          <p:cNvPr id="21" name="card"/>
          <p:cNvSpPr/>
          <p:nvPr/>
        </p:nvSpPr>
        <p:spPr>
          <a:xfrm>
            <a:off x="822046" y="4023360"/>
            <a:ext cx="3291840" cy="1783080"/>
          </a:xfrm>
          <a:prstGeom prst="roundRect">
            <a:avLst>
              <a:gd name="adj" fmla="val 5128"/>
            </a:avLst>
          </a:prstGeom>
          <a:solidFill>
            <a:schemeClr val="bg1"/>
          </a:solidFill>
          <a:ln w="9525">
            <a:solidFill>
              <a:schemeClr val="accent4"/>
            </a:solidFill>
            <a:prstDash val="solid"/>
          </a:ln>
        </p:spPr>
      </p:sp>
      <p:sp>
        <p:nvSpPr>
          <p:cNvPr id="22" name="Text 19"/>
          <p:cNvSpPr txBox="1"/>
          <p:nvPr/>
        </p:nvSpPr>
        <p:spPr>
          <a:xfrm>
            <a:off x="1096366" y="4251960"/>
            <a:ext cx="2743200" cy="457200"/>
          </a:xfrm>
          <a:prstGeom prst="rect">
            <a:avLst/>
          </a:prstGeom>
          <a:noFill/>
          <a:ln/>
        </p:spPr>
        <p:txBody>
          <a:bodyPr wrap="square" lIns="0" tIns="0" rIns="0" bIns="0" rtlCol="0" anchor="t"/>
          <a:lstStyle/>
          <a:p>
            <a:pPr rtl="1" algn="r" indent="0" marL="0">
              <a:buNone/>
            </a:pPr>
            <a:r>
              <a:rPr lang="fa-IR" altLang="en-US" sz="2400" b="1" dirty="0">
                <a:solidFill>
                  <a:schemeClr val="accent1"/>
                </a:solidFill>
                <a:latin typeface="Arial" pitchFamily="34" charset="0"/>
                <a:cs typeface="Arial" pitchFamily="34" charset="178"/>
              </a:rPr>
              <a:t>اقدام</a:t>
            </a:r>
            <a:endParaRPr lang="fa-IR" sz="2400" dirty="0"/>
          </a:p>
        </p:txBody>
      </p:sp>
      <p:sp>
        <p:nvSpPr>
          <p:cNvPr id="23" name="Text 20"/>
          <p:cNvSpPr txBox="1"/>
          <p:nvPr/>
        </p:nvSpPr>
        <p:spPr>
          <a:xfrm>
            <a:off x="1096366" y="4800600"/>
            <a:ext cx="2743200" cy="822960"/>
          </a:xfrm>
          <a:prstGeom prst="rect">
            <a:avLst/>
          </a:prstGeom>
          <a:noFill/>
          <a:ln/>
        </p:spPr>
        <p:txBody>
          <a:bodyPr wrap="square" lIns="0" tIns="0" rIns="0" bIns="0" rtlCol="0" anchor="t"/>
          <a:lstStyle/>
          <a:p>
            <a:pPr rtl="1" algn="r" indent="0" marL="0">
              <a:lnSpc>
                <a:spcPct val="115000"/>
              </a:lnSpc>
              <a:buNone/>
            </a:pPr>
            <a:r>
              <a:rPr lang="fa-IR" altLang="en-US" sz="1700" dirty="0">
                <a:solidFill>
                  <a:schemeClr val="accent5"/>
                </a:solidFill>
                <a:latin typeface="Arial" pitchFamily="34" charset="0"/>
                <a:cs typeface="Arial" pitchFamily="34" charset="178"/>
              </a:rPr>
              <a:t>قدم بعدی من چیست؟</a:t>
            </a:r>
            <a:endParaRPr lang="fa-IR" sz="17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کجا در این چرخه گیر کرده‌اید؟</a:t>
            </a:r>
            <a:endParaRPr lang="fa-IR" sz="3200" dirty="0"/>
          </a:p>
        </p:txBody>
      </p:sp>
      <p:sp>
        <p:nvSpPr>
          <p:cNvPr id="4" name="card"/>
          <p:cNvSpPr/>
          <p:nvPr/>
        </p:nvSpPr>
        <p:spPr>
          <a:xfrm>
            <a:off x="9448495" y="2057400"/>
            <a:ext cx="1920240" cy="3337560"/>
          </a:xfrm>
          <a:prstGeom prst="roundRect">
            <a:avLst>
              <a:gd name="adj" fmla="val 4762"/>
            </a:avLst>
          </a:prstGeom>
          <a:solidFill>
            <a:schemeClr val="bg2"/>
          </a:solidFill>
          <a:ln w="9525">
            <a:solidFill>
              <a:schemeClr val="accent4"/>
            </a:solidFill>
            <a:prstDash val="solid"/>
          </a:ln>
        </p:spPr>
      </p:sp>
      <p:sp>
        <p:nvSpPr>
          <p:cNvPr id="5" name="Text 2"/>
          <p:cNvSpPr txBox="1"/>
          <p:nvPr/>
        </p:nvSpPr>
        <p:spPr>
          <a:xfrm>
            <a:off x="9649663" y="2240280"/>
            <a:ext cx="1517904" cy="640080"/>
          </a:xfrm>
          <a:prstGeom prst="rect">
            <a:avLst/>
          </a:prstGeom>
          <a:noFill/>
          <a:ln/>
        </p:spPr>
        <p:txBody>
          <a:bodyPr wrap="square" lIns="0" tIns="0" rIns="0" bIns="0" rtlCol="0" anchor="t"/>
          <a:lstStyle/>
          <a:p>
            <a:pPr rtl="1" algn="r" indent="0" marL="0">
              <a:buNone/>
            </a:pPr>
            <a:r>
              <a:rPr lang="fa-IR" altLang="en-US" sz="3400" b="1" dirty="0">
                <a:solidFill>
                  <a:schemeClr val="accent1"/>
                </a:solidFill>
                <a:latin typeface="Arial" pitchFamily="34" charset="0"/>
                <a:cs typeface="Arial" pitchFamily="34" charset="178"/>
              </a:rPr>
              <a:t>۱</a:t>
            </a:r>
            <a:endParaRPr lang="fa-IR" sz="3400" dirty="0"/>
          </a:p>
        </p:txBody>
      </p:sp>
      <p:sp>
        <p:nvSpPr>
          <p:cNvPr id="6" name="Text 3"/>
          <p:cNvSpPr txBox="1"/>
          <p:nvPr/>
        </p:nvSpPr>
        <p:spPr>
          <a:xfrm>
            <a:off x="9585655" y="2971800"/>
            <a:ext cx="1645920" cy="731520"/>
          </a:xfrm>
          <a:prstGeom prst="rect">
            <a:avLst/>
          </a:prstGeom>
          <a:noFill/>
          <a:ln/>
        </p:spPr>
        <p:txBody>
          <a:bodyPr wrap="square" lIns="0" tIns="0" rIns="0" bIns="0" rtlCol="0" anchor="t"/>
          <a:lstStyle/>
          <a:p>
            <a:pPr rtl="1" algn="r" indent="0" marL="0">
              <a:lnSpc>
                <a:spcPct val="100000"/>
              </a:lnSpc>
              <a:buNone/>
            </a:pPr>
            <a:r>
              <a:rPr lang="fa-IR" altLang="en-US" sz="1800" b="1" dirty="0">
                <a:solidFill>
                  <a:schemeClr val="tx1"/>
                </a:solidFill>
                <a:latin typeface="Arial" pitchFamily="34" charset="0"/>
                <a:cs typeface="Arial" pitchFamily="34" charset="178"/>
              </a:rPr>
              <a:t>احساس</a:t>
            </a:r>
            <a:endParaRPr lang="fa-IR" sz="1800" dirty="0"/>
          </a:p>
        </p:txBody>
      </p:sp>
      <p:sp>
        <p:nvSpPr>
          <p:cNvPr id="7" name="Text 4"/>
          <p:cNvSpPr txBox="1"/>
          <p:nvPr/>
        </p:nvSpPr>
        <p:spPr>
          <a:xfrm>
            <a:off x="9585655" y="3657600"/>
            <a:ext cx="1645920" cy="1600200"/>
          </a:xfrm>
          <a:prstGeom prst="rect">
            <a:avLst/>
          </a:prstGeom>
          <a:noFill/>
          <a:ln/>
        </p:spPr>
        <p:txBody>
          <a:bodyPr wrap="square" lIns="0" tIns="0" rIns="0" bIns="0" rtlCol="0" anchor="t"/>
          <a:lstStyle/>
          <a:p>
            <a:pPr rtl="1" algn="r" indent="0" marL="0">
              <a:lnSpc>
                <a:spcPct val="120000"/>
              </a:lnSpc>
              <a:buNone/>
            </a:pPr>
            <a:r>
              <a:rPr lang="fa-IR" altLang="en-US" sz="1600" dirty="0">
                <a:solidFill>
                  <a:schemeClr val="accent3"/>
                </a:solidFill>
                <a:latin typeface="Arial" pitchFamily="34" charset="0"/>
                <a:cs typeface="Arial" pitchFamily="34" charset="178"/>
              </a:rPr>
              <a:t>نمی‌فهمم واقعاً چه احساسی دارم.</a:t>
            </a:r>
            <a:endParaRPr lang="fa-IR" sz="1600" dirty="0"/>
          </a:p>
        </p:txBody>
      </p:sp>
      <p:sp>
        <p:nvSpPr>
          <p:cNvPr id="8" name="card"/>
          <p:cNvSpPr/>
          <p:nvPr/>
        </p:nvSpPr>
        <p:spPr>
          <a:xfrm>
            <a:off x="7292111" y="2057400"/>
            <a:ext cx="1920240" cy="3337560"/>
          </a:xfrm>
          <a:prstGeom prst="roundRect">
            <a:avLst>
              <a:gd name="adj" fmla="val 4762"/>
            </a:avLst>
          </a:prstGeom>
          <a:solidFill>
            <a:schemeClr val="bg2"/>
          </a:solidFill>
          <a:ln w="9525">
            <a:solidFill>
              <a:schemeClr val="accent4"/>
            </a:solidFill>
            <a:prstDash val="solid"/>
          </a:ln>
        </p:spPr>
      </p:sp>
      <p:sp>
        <p:nvSpPr>
          <p:cNvPr id="9" name="Text 6"/>
          <p:cNvSpPr txBox="1"/>
          <p:nvPr/>
        </p:nvSpPr>
        <p:spPr>
          <a:xfrm>
            <a:off x="7493279" y="2240280"/>
            <a:ext cx="1517904" cy="640080"/>
          </a:xfrm>
          <a:prstGeom prst="rect">
            <a:avLst/>
          </a:prstGeom>
          <a:noFill/>
          <a:ln/>
        </p:spPr>
        <p:txBody>
          <a:bodyPr wrap="square" lIns="0" tIns="0" rIns="0" bIns="0" rtlCol="0" anchor="t"/>
          <a:lstStyle/>
          <a:p>
            <a:pPr rtl="1" algn="r" indent="0" marL="0">
              <a:buNone/>
            </a:pPr>
            <a:r>
              <a:rPr lang="fa-IR" altLang="en-US" sz="3400" b="1" dirty="0">
                <a:solidFill>
                  <a:schemeClr val="accent1"/>
                </a:solidFill>
                <a:latin typeface="Arial" pitchFamily="34" charset="0"/>
                <a:cs typeface="Arial" pitchFamily="34" charset="178"/>
              </a:rPr>
              <a:t>۲</a:t>
            </a:r>
            <a:endParaRPr lang="fa-IR" sz="3400" dirty="0"/>
          </a:p>
        </p:txBody>
      </p:sp>
      <p:sp>
        <p:nvSpPr>
          <p:cNvPr id="10" name="Text 7"/>
          <p:cNvSpPr txBox="1"/>
          <p:nvPr/>
        </p:nvSpPr>
        <p:spPr>
          <a:xfrm>
            <a:off x="7429271" y="2971800"/>
            <a:ext cx="1645920" cy="731520"/>
          </a:xfrm>
          <a:prstGeom prst="rect">
            <a:avLst/>
          </a:prstGeom>
          <a:noFill/>
          <a:ln/>
        </p:spPr>
        <p:txBody>
          <a:bodyPr wrap="square" lIns="0" tIns="0" rIns="0" bIns="0" rtlCol="0" anchor="t"/>
          <a:lstStyle/>
          <a:p>
            <a:pPr rtl="1" algn="r" indent="0" marL="0">
              <a:lnSpc>
                <a:spcPct val="100000"/>
              </a:lnSpc>
              <a:buNone/>
            </a:pPr>
            <a:r>
              <a:rPr lang="fa-IR" altLang="en-US" sz="1800" b="1" dirty="0">
                <a:solidFill>
                  <a:schemeClr val="tx1"/>
                </a:solidFill>
                <a:latin typeface="Arial" pitchFamily="34" charset="0"/>
                <a:cs typeface="Arial" pitchFamily="34" charset="178"/>
              </a:rPr>
              <a:t>خودسرزنشی</a:t>
            </a:r>
            <a:endParaRPr lang="fa-IR" sz="1800" dirty="0"/>
          </a:p>
        </p:txBody>
      </p:sp>
      <p:sp>
        <p:nvSpPr>
          <p:cNvPr id="11" name="Text 8"/>
          <p:cNvSpPr txBox="1"/>
          <p:nvPr/>
        </p:nvSpPr>
        <p:spPr>
          <a:xfrm>
            <a:off x="7429271" y="3657600"/>
            <a:ext cx="1645920" cy="1600200"/>
          </a:xfrm>
          <a:prstGeom prst="rect">
            <a:avLst/>
          </a:prstGeom>
          <a:noFill/>
          <a:ln/>
        </p:spPr>
        <p:txBody>
          <a:bodyPr wrap="square" lIns="0" tIns="0" rIns="0" bIns="0" rtlCol="0" anchor="t"/>
          <a:lstStyle/>
          <a:p>
            <a:pPr rtl="1" algn="r" indent="0" marL="0">
              <a:lnSpc>
                <a:spcPct val="120000"/>
              </a:lnSpc>
              <a:buNone/>
            </a:pPr>
            <a:r>
              <a:rPr lang="fa-IR" altLang="en-US" sz="1600" dirty="0">
                <a:solidFill>
                  <a:schemeClr val="accent3"/>
                </a:solidFill>
                <a:latin typeface="Arial" pitchFamily="34" charset="0"/>
                <a:cs typeface="Arial" pitchFamily="34" charset="178"/>
              </a:rPr>
              <a:t>احساس را می‌فهمم، اما خودم را مقصر می‌کنم.</a:t>
            </a:r>
            <a:endParaRPr lang="fa-IR" sz="1600" dirty="0"/>
          </a:p>
        </p:txBody>
      </p:sp>
      <p:sp>
        <p:nvSpPr>
          <p:cNvPr id="12" name="card"/>
          <p:cNvSpPr/>
          <p:nvPr/>
        </p:nvSpPr>
        <p:spPr>
          <a:xfrm>
            <a:off x="5135728" y="2057400"/>
            <a:ext cx="1920240" cy="3337560"/>
          </a:xfrm>
          <a:prstGeom prst="roundRect">
            <a:avLst>
              <a:gd name="adj" fmla="val 4762"/>
            </a:avLst>
          </a:prstGeom>
          <a:solidFill>
            <a:schemeClr val="bg2"/>
          </a:solidFill>
          <a:ln w="9525">
            <a:solidFill>
              <a:schemeClr val="accent4"/>
            </a:solidFill>
            <a:prstDash val="solid"/>
          </a:ln>
        </p:spPr>
      </p:sp>
      <p:sp>
        <p:nvSpPr>
          <p:cNvPr id="13" name="Text 10"/>
          <p:cNvSpPr txBox="1"/>
          <p:nvPr/>
        </p:nvSpPr>
        <p:spPr>
          <a:xfrm>
            <a:off x="5336896" y="2240280"/>
            <a:ext cx="1517904" cy="640080"/>
          </a:xfrm>
          <a:prstGeom prst="rect">
            <a:avLst/>
          </a:prstGeom>
          <a:noFill/>
          <a:ln/>
        </p:spPr>
        <p:txBody>
          <a:bodyPr wrap="square" lIns="0" tIns="0" rIns="0" bIns="0" rtlCol="0" anchor="t"/>
          <a:lstStyle/>
          <a:p>
            <a:pPr rtl="1" algn="r" indent="0" marL="0">
              <a:buNone/>
            </a:pPr>
            <a:r>
              <a:rPr lang="fa-IR" altLang="en-US" sz="3400" b="1" dirty="0">
                <a:solidFill>
                  <a:schemeClr val="accent1"/>
                </a:solidFill>
                <a:latin typeface="Arial" pitchFamily="34" charset="0"/>
                <a:cs typeface="Arial" pitchFamily="34" charset="178"/>
              </a:rPr>
              <a:t>۳</a:t>
            </a:r>
            <a:endParaRPr lang="fa-IR" sz="3400" dirty="0"/>
          </a:p>
        </p:txBody>
      </p:sp>
      <p:sp>
        <p:nvSpPr>
          <p:cNvPr id="14" name="Text 11"/>
          <p:cNvSpPr txBox="1"/>
          <p:nvPr/>
        </p:nvSpPr>
        <p:spPr>
          <a:xfrm>
            <a:off x="5272888" y="2971800"/>
            <a:ext cx="1645920" cy="731520"/>
          </a:xfrm>
          <a:prstGeom prst="rect">
            <a:avLst/>
          </a:prstGeom>
          <a:noFill/>
          <a:ln/>
        </p:spPr>
        <p:txBody>
          <a:bodyPr wrap="square" lIns="0" tIns="0" rIns="0" bIns="0" rtlCol="0" anchor="t"/>
          <a:lstStyle/>
          <a:p>
            <a:pPr rtl="1" algn="r" indent="0" marL="0">
              <a:lnSpc>
                <a:spcPct val="100000"/>
              </a:lnSpc>
              <a:buNone/>
            </a:pPr>
            <a:r>
              <a:rPr lang="fa-IR" altLang="en-US" sz="1800" b="1" dirty="0">
                <a:solidFill>
                  <a:schemeClr val="tx1"/>
                </a:solidFill>
                <a:latin typeface="Arial" pitchFamily="34" charset="0"/>
                <a:cs typeface="Arial" pitchFamily="34" charset="178"/>
              </a:rPr>
              <a:t>نشخوار</a:t>
            </a:r>
            <a:endParaRPr lang="fa-IR" sz="1800" dirty="0"/>
          </a:p>
        </p:txBody>
      </p:sp>
      <p:sp>
        <p:nvSpPr>
          <p:cNvPr id="15" name="Text 12"/>
          <p:cNvSpPr txBox="1"/>
          <p:nvPr/>
        </p:nvSpPr>
        <p:spPr>
          <a:xfrm>
            <a:off x="5272888" y="3657600"/>
            <a:ext cx="1645920" cy="1600200"/>
          </a:xfrm>
          <a:prstGeom prst="rect">
            <a:avLst/>
          </a:prstGeom>
          <a:noFill/>
          <a:ln/>
        </p:spPr>
        <p:txBody>
          <a:bodyPr wrap="square" lIns="0" tIns="0" rIns="0" bIns="0" rtlCol="0" anchor="t"/>
          <a:lstStyle/>
          <a:p>
            <a:pPr rtl="1" algn="r" indent="0" marL="0">
              <a:lnSpc>
                <a:spcPct val="120000"/>
              </a:lnSpc>
              <a:buNone/>
            </a:pPr>
            <a:r>
              <a:rPr lang="fa-IR" altLang="en-US" sz="1600" dirty="0">
                <a:solidFill>
                  <a:schemeClr val="accent3"/>
                </a:solidFill>
                <a:latin typeface="Arial" pitchFamily="34" charset="0"/>
                <a:cs typeface="Arial" pitchFamily="34" charset="178"/>
              </a:rPr>
              <a:t>می‌فهمم ناراحتم، اما نمی‌توانم از فکر کردن بیرون بیایم.</a:t>
            </a:r>
            <a:endParaRPr lang="fa-IR" sz="1600" dirty="0"/>
          </a:p>
        </p:txBody>
      </p:sp>
      <p:sp>
        <p:nvSpPr>
          <p:cNvPr id="16" name="card"/>
          <p:cNvSpPr/>
          <p:nvPr/>
        </p:nvSpPr>
        <p:spPr>
          <a:xfrm>
            <a:off x="2979344" y="2057400"/>
            <a:ext cx="1920240" cy="3337560"/>
          </a:xfrm>
          <a:prstGeom prst="roundRect">
            <a:avLst>
              <a:gd name="adj" fmla="val 4762"/>
            </a:avLst>
          </a:prstGeom>
          <a:solidFill>
            <a:schemeClr val="bg2"/>
          </a:solidFill>
          <a:ln w="9525">
            <a:solidFill>
              <a:schemeClr val="accent4"/>
            </a:solidFill>
            <a:prstDash val="solid"/>
          </a:ln>
        </p:spPr>
      </p:sp>
      <p:sp>
        <p:nvSpPr>
          <p:cNvPr id="17" name="Text 14"/>
          <p:cNvSpPr txBox="1"/>
          <p:nvPr/>
        </p:nvSpPr>
        <p:spPr>
          <a:xfrm>
            <a:off x="3180512" y="2240280"/>
            <a:ext cx="1517904" cy="640080"/>
          </a:xfrm>
          <a:prstGeom prst="rect">
            <a:avLst/>
          </a:prstGeom>
          <a:noFill/>
          <a:ln/>
        </p:spPr>
        <p:txBody>
          <a:bodyPr wrap="square" lIns="0" tIns="0" rIns="0" bIns="0" rtlCol="0" anchor="t"/>
          <a:lstStyle/>
          <a:p>
            <a:pPr rtl="1" algn="r" indent="0" marL="0">
              <a:buNone/>
            </a:pPr>
            <a:r>
              <a:rPr lang="fa-IR" altLang="en-US" sz="3400" b="1" dirty="0">
                <a:solidFill>
                  <a:schemeClr val="accent1"/>
                </a:solidFill>
                <a:latin typeface="Arial" pitchFamily="34" charset="0"/>
                <a:cs typeface="Arial" pitchFamily="34" charset="178"/>
              </a:rPr>
              <a:t>۴</a:t>
            </a:r>
            <a:endParaRPr lang="fa-IR" sz="3400" dirty="0"/>
          </a:p>
        </p:txBody>
      </p:sp>
      <p:sp>
        <p:nvSpPr>
          <p:cNvPr id="18" name="Text 15"/>
          <p:cNvSpPr txBox="1"/>
          <p:nvPr/>
        </p:nvSpPr>
        <p:spPr>
          <a:xfrm>
            <a:off x="3116504" y="2971800"/>
            <a:ext cx="1645920" cy="731520"/>
          </a:xfrm>
          <a:prstGeom prst="rect">
            <a:avLst/>
          </a:prstGeom>
          <a:noFill/>
          <a:ln/>
        </p:spPr>
        <p:txBody>
          <a:bodyPr wrap="square" lIns="0" tIns="0" rIns="0" bIns="0" rtlCol="0" anchor="t"/>
          <a:lstStyle/>
          <a:p>
            <a:pPr rtl="1" algn="r" indent="0" marL="0">
              <a:lnSpc>
                <a:spcPct val="100000"/>
              </a:lnSpc>
              <a:buNone/>
            </a:pPr>
            <a:r>
              <a:rPr lang="fa-IR" altLang="en-US" sz="1800" b="1" dirty="0">
                <a:solidFill>
                  <a:schemeClr val="tx1"/>
                </a:solidFill>
                <a:latin typeface="Arial" pitchFamily="34" charset="0"/>
                <a:cs typeface="Arial" pitchFamily="34" charset="178"/>
              </a:rPr>
              <a:t>اقدام</a:t>
            </a:r>
            <a:endParaRPr lang="fa-IR" sz="1800" dirty="0"/>
          </a:p>
        </p:txBody>
      </p:sp>
      <p:sp>
        <p:nvSpPr>
          <p:cNvPr id="19" name="Text 16"/>
          <p:cNvSpPr txBox="1"/>
          <p:nvPr/>
        </p:nvSpPr>
        <p:spPr>
          <a:xfrm>
            <a:off x="3116504" y="3657600"/>
            <a:ext cx="1645920" cy="1600200"/>
          </a:xfrm>
          <a:prstGeom prst="rect">
            <a:avLst/>
          </a:prstGeom>
          <a:noFill/>
          <a:ln/>
        </p:spPr>
        <p:txBody>
          <a:bodyPr wrap="square" lIns="0" tIns="0" rIns="0" bIns="0" rtlCol="0" anchor="t"/>
          <a:lstStyle/>
          <a:p>
            <a:pPr rtl="1" algn="r" indent="0" marL="0">
              <a:lnSpc>
                <a:spcPct val="120000"/>
              </a:lnSpc>
              <a:buNone/>
            </a:pPr>
            <a:r>
              <a:rPr lang="fa-IR" altLang="en-US" sz="1600" dirty="0">
                <a:solidFill>
                  <a:schemeClr val="accent3"/>
                </a:solidFill>
                <a:latin typeface="Arial" pitchFamily="34" charset="0"/>
                <a:cs typeface="Arial" pitchFamily="34" charset="178"/>
              </a:rPr>
              <a:t>می‌دانم چه می‌خواهم، اما نمی‌توانم از خودم دفاع کنم.</a:t>
            </a:r>
            <a:endParaRPr lang="fa-IR" sz="1600" dirty="0"/>
          </a:p>
        </p:txBody>
      </p:sp>
      <p:sp>
        <p:nvSpPr>
          <p:cNvPr id="20" name="card"/>
          <p:cNvSpPr/>
          <p:nvPr/>
        </p:nvSpPr>
        <p:spPr>
          <a:xfrm>
            <a:off x="822960" y="2057400"/>
            <a:ext cx="1920240" cy="3337560"/>
          </a:xfrm>
          <a:prstGeom prst="roundRect">
            <a:avLst>
              <a:gd name="adj" fmla="val 4762"/>
            </a:avLst>
          </a:prstGeom>
          <a:solidFill>
            <a:schemeClr val="bg2"/>
          </a:solidFill>
          <a:ln w="19050">
            <a:solidFill>
              <a:schemeClr val="accent2"/>
            </a:solidFill>
            <a:prstDash val="solid"/>
          </a:ln>
        </p:spPr>
      </p:sp>
      <p:sp>
        <p:nvSpPr>
          <p:cNvPr id="21" name="Text 18"/>
          <p:cNvSpPr txBox="1"/>
          <p:nvPr/>
        </p:nvSpPr>
        <p:spPr>
          <a:xfrm>
            <a:off x="1024128" y="2240280"/>
            <a:ext cx="1517904" cy="640080"/>
          </a:xfrm>
          <a:prstGeom prst="rect">
            <a:avLst/>
          </a:prstGeom>
          <a:noFill/>
          <a:ln/>
        </p:spPr>
        <p:txBody>
          <a:bodyPr wrap="square" lIns="0" tIns="0" rIns="0" bIns="0" rtlCol="0" anchor="t"/>
          <a:lstStyle/>
          <a:p>
            <a:pPr rtl="1" algn="r" indent="0" marL="0">
              <a:buNone/>
            </a:pPr>
            <a:r>
              <a:rPr lang="fa-IR" altLang="en-US" sz="3400" b="1" dirty="0">
                <a:solidFill>
                  <a:schemeClr val="accent2"/>
                </a:solidFill>
                <a:latin typeface="Arial" pitchFamily="34" charset="0"/>
                <a:cs typeface="Arial" pitchFamily="34" charset="178"/>
              </a:rPr>
              <a:t>۵</a:t>
            </a:r>
            <a:endParaRPr lang="fa-IR" sz="3400" dirty="0"/>
          </a:p>
        </p:txBody>
      </p:sp>
      <p:sp>
        <p:nvSpPr>
          <p:cNvPr id="22" name="Text 19"/>
          <p:cNvSpPr txBox="1"/>
          <p:nvPr/>
        </p:nvSpPr>
        <p:spPr>
          <a:xfrm>
            <a:off x="960120" y="2971800"/>
            <a:ext cx="1645920" cy="731520"/>
          </a:xfrm>
          <a:prstGeom prst="rect">
            <a:avLst/>
          </a:prstGeom>
          <a:noFill/>
          <a:ln/>
        </p:spPr>
        <p:txBody>
          <a:bodyPr wrap="square" lIns="0" tIns="0" rIns="0" bIns="0" rtlCol="0" anchor="t"/>
          <a:lstStyle/>
          <a:p>
            <a:pPr rtl="1" algn="r" indent="0" marL="0">
              <a:lnSpc>
                <a:spcPct val="100000"/>
              </a:lnSpc>
              <a:buNone/>
            </a:pPr>
            <a:r>
              <a:rPr lang="fa-IR" altLang="en-US" sz="1800" b="1" dirty="0">
                <a:solidFill>
                  <a:schemeClr val="tx1"/>
                </a:solidFill>
                <a:latin typeface="Arial" pitchFamily="34" charset="0"/>
                <a:cs typeface="Arial" pitchFamily="34" charset="178"/>
              </a:rPr>
              <a:t>الگوی تکرارشونده</a:t>
            </a:r>
            <a:endParaRPr lang="fa-IR" sz="1800" dirty="0"/>
          </a:p>
        </p:txBody>
      </p:sp>
      <p:sp>
        <p:nvSpPr>
          <p:cNvPr id="23" name="Text 20"/>
          <p:cNvSpPr txBox="1"/>
          <p:nvPr/>
        </p:nvSpPr>
        <p:spPr>
          <a:xfrm>
            <a:off x="960120" y="3657600"/>
            <a:ext cx="1645920" cy="1600200"/>
          </a:xfrm>
          <a:prstGeom prst="rect">
            <a:avLst/>
          </a:prstGeom>
          <a:noFill/>
          <a:ln/>
        </p:spPr>
        <p:txBody>
          <a:bodyPr wrap="square" lIns="0" tIns="0" rIns="0" bIns="0" rtlCol="0" anchor="t"/>
          <a:lstStyle/>
          <a:p>
            <a:pPr rtl="1" algn="r" indent="0" marL="0">
              <a:lnSpc>
                <a:spcPct val="120000"/>
              </a:lnSpc>
              <a:buNone/>
            </a:pPr>
            <a:r>
              <a:rPr lang="fa-IR" altLang="en-US" sz="1600" dirty="0">
                <a:solidFill>
                  <a:schemeClr val="accent3"/>
                </a:solidFill>
                <a:latin typeface="Arial" pitchFamily="34" charset="0"/>
                <a:cs typeface="Arial" pitchFamily="34" charset="178"/>
              </a:rPr>
              <a:t>این چرخه بارها در روابط، کار یا تصمیم‌ها تکرار می‌شود.</a:t>
            </a:r>
            <a:endParaRPr lang="fa-IR" sz="1600" dirty="0"/>
          </a:p>
        </p:txBody>
      </p:sp>
      <p:sp>
        <p:nvSpPr>
          <p:cNvPr id="24" name="Text 21"/>
          <p:cNvSpPr txBox="1"/>
          <p:nvPr/>
        </p:nvSpPr>
        <p:spPr>
          <a:xfrm>
            <a:off x="822960" y="5715000"/>
            <a:ext cx="10545775" cy="365760"/>
          </a:xfrm>
          <a:prstGeom prst="rect">
            <a:avLst/>
          </a:prstGeom>
          <a:noFill/>
          <a:ln/>
        </p:spPr>
        <p:txBody>
          <a:bodyPr wrap="square" lIns="0" tIns="0" rIns="0" bIns="0" rtlCol="0" anchor="ctr"/>
          <a:lstStyle/>
          <a:p>
            <a:pPr rtl="1" algn="r" indent="0" marL="0">
              <a:buNone/>
            </a:pPr>
            <a:r>
              <a:rPr lang="fa-IR" altLang="en-US" sz="1600" dirty="0">
                <a:solidFill>
                  <a:schemeClr val="accent5"/>
                </a:solidFill>
                <a:latin typeface="Arial" pitchFamily="34" charset="0"/>
                <a:cs typeface="Arial" pitchFamily="34" charset="178"/>
              </a:rPr>
              <a:t>این یک نقشه خودمشاهده‌گری است، نه خودتشخیصی.</a:t>
            </a:r>
            <a:endParaRPr lang="fa-IR" sz="16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bg1"/>
                </a:solidFill>
                <a:latin typeface="Arial" pitchFamily="34" charset="0"/>
                <a:cs typeface="Arial" pitchFamily="34" charset="178"/>
              </a:rPr>
              <a:t>شناختن چرخه با تغییر دادن آن فرق دارد.</a:t>
            </a:r>
            <a:endParaRPr lang="fa-IR" sz="3200" dirty="0"/>
          </a:p>
        </p:txBody>
      </p:sp>
      <p:sp>
        <p:nvSpPr>
          <p:cNvPr id="4" name="Text 1"/>
          <p:cNvSpPr txBox="1"/>
          <p:nvPr/>
        </p:nvSpPr>
        <p:spPr>
          <a:xfrm>
            <a:off x="822960" y="2011680"/>
            <a:ext cx="10545775" cy="914400"/>
          </a:xfrm>
          <a:prstGeom prst="rect">
            <a:avLst/>
          </a:prstGeom>
          <a:noFill/>
          <a:ln/>
        </p:spPr>
        <p:txBody>
          <a:bodyPr wrap="square" lIns="0" tIns="0" rIns="0" bIns="0" rtlCol="0" anchor="t"/>
          <a:lstStyle/>
          <a:p>
            <a:pPr rtl="1" algn="r" indent="0" marL="0">
              <a:lnSpc>
                <a:spcPct val="125000"/>
              </a:lnSpc>
              <a:buNone/>
            </a:pPr>
            <a:r>
              <a:rPr lang="fa-IR" altLang="en-US" sz="2200" dirty="0">
                <a:solidFill>
                  <a:schemeClr val="bg1"/>
                </a:solidFill>
                <a:latin typeface="Arial" pitchFamily="34" charset="0"/>
                <a:cs typeface="Arial" pitchFamily="34" charset="178"/>
              </a:rPr>
              <a:t>اگر این الگو برای شما تکرارشونده است،</a:t>
            </a:r>
            <a:endParaRPr lang="fa-IR" sz="2200" dirty="0"/>
          </a:p>
          <a:p>
            <a:pPr rtl="1" algn="r" indent="0" marL="0">
              <a:lnSpc>
                <a:spcPct val="125000"/>
              </a:lnSpc>
              <a:buNone/>
            </a:pPr>
            <a:r>
              <a:rPr lang="fa-IR" altLang="en-US" sz="2200" dirty="0">
                <a:solidFill>
                  <a:schemeClr val="bg1"/>
                </a:solidFill>
                <a:latin typeface="Arial" pitchFamily="34" charset="0"/>
                <a:cs typeface="Arial" pitchFamily="34" charset="178"/>
              </a:rPr>
              <a:t>موضوع فقط «فهمیدن» نیست.</a:t>
            </a:r>
            <a:endParaRPr lang="fa-IR" sz="2200" dirty="0"/>
          </a:p>
        </p:txBody>
      </p:sp>
      <p:sp>
        <p:nvSpPr>
          <p:cNvPr id="5" name="Text 2"/>
          <p:cNvSpPr txBox="1"/>
          <p:nvPr/>
        </p:nvSpPr>
        <p:spPr>
          <a:xfrm>
            <a:off x="822960" y="3246120"/>
            <a:ext cx="10545775" cy="457200"/>
          </a:xfrm>
          <a:prstGeom prst="rect">
            <a:avLst/>
          </a:prstGeom>
          <a:noFill/>
          <a:ln/>
        </p:spPr>
        <p:txBody>
          <a:bodyPr wrap="square" lIns="0" tIns="0" rIns="0" bIns="0" rtlCol="0" anchor="ctr"/>
          <a:lstStyle/>
          <a:p>
            <a:pPr rtl="1" algn="r" indent="0" marL="0">
              <a:buNone/>
            </a:pPr>
            <a:r>
              <a:rPr lang="fa-IR" altLang="en-US" sz="2000" dirty="0">
                <a:solidFill>
                  <a:srgbClr val="DCE4DF"/>
                </a:solidFill>
                <a:latin typeface="Arial" pitchFamily="34" charset="0"/>
                <a:cs typeface="Arial" pitchFamily="34" charset="178"/>
              </a:rPr>
              <a:t>لازم است ببینیم چرخه در زندگی واقعی شما:</a:t>
            </a:r>
            <a:endParaRPr lang="fa-IR" sz="2000" dirty="0"/>
          </a:p>
        </p:txBody>
      </p:sp>
      <p:sp>
        <p:nvSpPr>
          <p:cNvPr id="6" name="Text 3"/>
          <p:cNvSpPr txBox="1"/>
          <p:nvPr/>
        </p:nvSpPr>
        <p:spPr>
          <a:xfrm>
            <a:off x="822960" y="3840480"/>
            <a:ext cx="10545775" cy="502920"/>
          </a:xfrm>
          <a:prstGeom prst="rect">
            <a:avLst/>
          </a:prstGeom>
          <a:noFill/>
          <a:ln/>
        </p:spPr>
        <p:txBody>
          <a:bodyPr wrap="square" lIns="0" tIns="0" rIns="0" bIns="0" rtlCol="0" anchor="ctr"/>
          <a:lstStyle/>
          <a:p>
            <a:pPr rtl="1" algn="r" indent="0" marL="0">
              <a:buNone/>
            </a:pPr>
            <a:r>
              <a:rPr lang="fa-IR" altLang="en-US" sz="2800" b="1" dirty="0">
                <a:solidFill>
                  <a:schemeClr val="bg1"/>
                </a:solidFill>
                <a:latin typeface="Arial" pitchFamily="34" charset="0"/>
                <a:cs typeface="Arial" pitchFamily="34" charset="178"/>
              </a:rPr>
              <a:t>کجا شروع می‌شود؟</a:t>
            </a:r>
            <a:endParaRPr lang="fa-IR" sz="2800" dirty="0"/>
          </a:p>
        </p:txBody>
      </p:sp>
      <p:sp>
        <p:nvSpPr>
          <p:cNvPr id="7" name="Text 4"/>
          <p:cNvSpPr txBox="1"/>
          <p:nvPr/>
        </p:nvSpPr>
        <p:spPr>
          <a:xfrm>
            <a:off x="822960" y="4407408"/>
            <a:ext cx="10545775" cy="502920"/>
          </a:xfrm>
          <a:prstGeom prst="rect">
            <a:avLst/>
          </a:prstGeom>
          <a:noFill/>
          <a:ln/>
        </p:spPr>
        <p:txBody>
          <a:bodyPr wrap="square" lIns="0" tIns="0" rIns="0" bIns="0" rtlCol="0" anchor="ctr"/>
          <a:lstStyle/>
          <a:p>
            <a:pPr rtl="1" algn="r" indent="0" marL="0">
              <a:buNone/>
            </a:pPr>
            <a:r>
              <a:rPr lang="fa-IR" altLang="en-US" sz="2800" b="1" dirty="0">
                <a:solidFill>
                  <a:schemeClr val="bg1"/>
                </a:solidFill>
                <a:latin typeface="Arial" pitchFamily="34" charset="0"/>
                <a:cs typeface="Arial" pitchFamily="34" charset="178"/>
              </a:rPr>
              <a:t>چطور حفظ می‌شود؟</a:t>
            </a:r>
            <a:endParaRPr lang="fa-IR" sz="2800" dirty="0"/>
          </a:p>
        </p:txBody>
      </p:sp>
      <p:sp>
        <p:nvSpPr>
          <p:cNvPr id="8" name="Text 5"/>
          <p:cNvSpPr txBox="1"/>
          <p:nvPr/>
        </p:nvSpPr>
        <p:spPr>
          <a:xfrm>
            <a:off x="822960" y="4974336"/>
            <a:ext cx="10545775" cy="502920"/>
          </a:xfrm>
          <a:prstGeom prst="rect">
            <a:avLst/>
          </a:prstGeom>
          <a:noFill/>
          <a:ln/>
        </p:spPr>
        <p:txBody>
          <a:bodyPr wrap="square" lIns="0" tIns="0" rIns="0" bIns="0" rtlCol="0" anchor="ctr"/>
          <a:lstStyle/>
          <a:p>
            <a:pPr rtl="1" algn="r" indent="0" marL="0">
              <a:buNone/>
            </a:pPr>
            <a:r>
              <a:rPr lang="fa-IR" altLang="en-US" sz="2800" b="1" dirty="0">
                <a:solidFill>
                  <a:schemeClr val="bg1"/>
                </a:solidFill>
                <a:latin typeface="Arial" pitchFamily="34" charset="0"/>
                <a:cs typeface="Arial" pitchFamily="34" charset="178"/>
              </a:rPr>
              <a:t>و چرا دوباره تکرار می‌شود؟</a:t>
            </a:r>
            <a:endParaRPr lang="fa-IR" sz="2800" dirty="0"/>
          </a:p>
        </p:txBody>
      </p:sp>
      <p:sp>
        <p:nvSpPr>
          <p:cNvPr id="9" name="Text 6"/>
          <p:cNvSpPr txBox="1"/>
          <p:nvPr/>
        </p:nvSpPr>
        <p:spPr>
          <a:xfrm>
            <a:off x="822960" y="5760720"/>
            <a:ext cx="10545775" cy="365760"/>
          </a:xfrm>
          <a:prstGeom prst="rect">
            <a:avLst/>
          </a:prstGeom>
          <a:noFill/>
          <a:ln/>
        </p:spPr>
        <p:txBody>
          <a:bodyPr wrap="square" lIns="0" tIns="0" rIns="0" bIns="0" rtlCol="0" anchor="ctr"/>
          <a:lstStyle/>
          <a:p>
            <a:pPr rtl="1" algn="r" indent="0" marL="0">
              <a:buNone/>
            </a:pPr>
            <a:r>
              <a:rPr lang="fa-IR" altLang="en-US" sz="1600" dirty="0">
                <a:solidFill>
                  <a:srgbClr val="DCE4DF"/>
                </a:solidFill>
                <a:latin typeface="Arial" pitchFamily="34" charset="0"/>
                <a:cs typeface="Arial" pitchFamily="34" charset="178"/>
              </a:rPr>
              <a:t>محرک ← احساس ← منتقد ← نیاز ← پاسخ ← اقدام</a:t>
            </a:r>
            <a:endParaRPr lang="fa-IR" sz="16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bg1"/>
                </a:solidFill>
                <a:latin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ph idx="100" type="title" hasCustomPrompt="1"/>
          </p:nvPr>
        </p:nvSpPr>
        <p:spPr>
          <a:xfrm>
            <a:off x="822960" y="777240"/>
            <a:ext cx="10545775" cy="1051560"/>
          </a:xfrm>
          <a:prstGeom prst="rect">
            <a:avLst/>
          </a:prstGeom>
          <a:noFill/>
          <a:ln/>
        </p:spPr>
        <p:txBody>
          <a:bodyPr wrap="square" lIns="0" tIns="0" rIns="0" bIns="0" rtlCol="0" anchor="t"/>
          <a:lstStyle/>
          <a:p>
            <a:pPr rtl="1" algn="r" indent="0" marL="0">
              <a:buNone/>
            </a:pPr>
            <a:r>
              <a:rPr lang="fa-IR" altLang="en-US" sz="3200" b="1" dirty="0">
                <a:solidFill>
                  <a:schemeClr val="tx2"/>
                </a:solidFill>
                <a:latin typeface="Arial" pitchFamily="34" charset="0"/>
                <a:cs typeface="Arial" pitchFamily="34" charset="178"/>
              </a:rPr>
              <a:t>منابع اصلی</a:t>
            </a:r>
            <a:endParaRPr lang="fa-IR" sz="3200" dirty="0"/>
          </a:p>
        </p:txBody>
      </p:sp>
      <p:sp>
        <p:nvSpPr>
          <p:cNvPr id="4" name="Text 1"/>
          <p:cNvSpPr txBox="1"/>
          <p:nvPr/>
        </p:nvSpPr>
        <p:spPr>
          <a:xfrm>
            <a:off x="822960" y="1783080"/>
            <a:ext cx="10545775" cy="1188720"/>
          </a:xfrm>
          <a:prstGeom prst="rect">
            <a:avLst/>
          </a:prstGeom>
          <a:noFill/>
          <a:ln/>
        </p:spPr>
        <p:txBody>
          <a:bodyPr wrap="square" lIns="0" tIns="0" rIns="0" bIns="0" rtlCol="0" anchor="t"/>
          <a:lstStyle/>
          <a:p>
            <a:pPr algn="l" indent="0" marL="0">
              <a:buNone/>
            </a:pPr>
            <a:r>
              <a:rPr lang="en-US" altLang="en-US" sz="1600" b="1" dirty="0">
                <a:solidFill>
                  <a:schemeClr val="tx1"/>
                </a:solidFill>
                <a:latin typeface="Arial" pitchFamily="34" charset="0"/>
                <a:cs typeface="Arial" pitchFamily="34" charset="178"/>
              </a:rPr>
              <a:t>Šoková, B., Greškovičová, K., Halamová, J., et al. (2025).</a:t>
            </a:r>
            <a:endParaRPr lang="en-US" sz="1400" dirty="0"/>
          </a:p>
          <a:p>
            <a:pPr algn="l" indent="0" marL="0">
              <a:buNone/>
            </a:pPr>
            <a:r>
              <a:rPr lang="en-US" altLang="en-US" sz="1500" dirty="0">
                <a:solidFill>
                  <a:schemeClr val="tx1"/>
                </a:solidFill>
                <a:latin typeface="Arial" pitchFamily="34" charset="0"/>
                <a:cs typeface="Arial" pitchFamily="34" charset="178"/>
              </a:rPr>
              <a:t>Breaking the vicious cycles of self-criticism: a qualitative study on the best practices of overcoming one's inner critic.</a:t>
            </a:r>
            <a:endParaRPr lang="en-US" sz="1400" dirty="0"/>
          </a:p>
          <a:p>
            <a:pPr algn="l" indent="0" marL="0">
              <a:buNone/>
            </a:pPr>
            <a:r>
              <a:rPr lang="en-US" altLang="en-US" sz="1500" i="1" dirty="0">
                <a:solidFill>
                  <a:schemeClr val="accent5"/>
                </a:solidFill>
                <a:latin typeface="Arial" pitchFamily="34" charset="0"/>
                <a:cs typeface="Arial" pitchFamily="34" charset="178"/>
              </a:rPr>
              <a:t>BMC Psychology, 13, 266.</a:t>
            </a:r>
            <a:endParaRPr lang="en-US" sz="1400" dirty="0"/>
          </a:p>
          <a:p>
            <a:pPr algn="l" indent="0" marL="0">
              <a:buNone/>
            </a:pPr>
            <a:r>
              <a:rPr lang="en-US" altLang="en-US" sz="1500" dirty="0">
                <a:solidFill>
                  <a:schemeClr val="accent2"/>
                </a:solidFill>
                <a:latin typeface="Arial" pitchFamily="34" charset="0"/>
                <a:cs typeface="Arial" pitchFamily="34" charset="178"/>
              </a:rPr>
              <a:t>DOI: 10.1186/s40359-024-02250-2</a:t>
            </a:r>
            <a:endParaRPr lang="en-US" sz="1400" dirty="0"/>
          </a:p>
        </p:txBody>
      </p:sp>
      <p:sp>
        <p:nvSpPr>
          <p:cNvPr id="5" name="Text 2"/>
          <p:cNvSpPr txBox="1"/>
          <p:nvPr/>
        </p:nvSpPr>
        <p:spPr>
          <a:xfrm>
            <a:off x="822960" y="3154680"/>
            <a:ext cx="10545775" cy="1188720"/>
          </a:xfrm>
          <a:prstGeom prst="rect">
            <a:avLst/>
          </a:prstGeom>
          <a:noFill/>
          <a:ln/>
        </p:spPr>
        <p:txBody>
          <a:bodyPr wrap="square" lIns="0" tIns="0" rIns="0" bIns="0" rtlCol="0" anchor="t"/>
          <a:lstStyle/>
          <a:p>
            <a:pPr algn="l" indent="0" marL="0">
              <a:buNone/>
            </a:pPr>
            <a:r>
              <a:rPr lang="en-US" altLang="en-US" sz="1600" b="1" dirty="0">
                <a:solidFill>
                  <a:schemeClr val="tx1"/>
                </a:solidFill>
                <a:latin typeface="Arial" pitchFamily="34" charset="0"/>
                <a:cs typeface="Arial" pitchFamily="34" charset="178"/>
              </a:rPr>
              <a:t>Oblak, A., Rigler, S., Kovačič, N., et al. (2026).</a:t>
            </a:r>
            <a:endParaRPr lang="en-US" sz="1400" dirty="0"/>
          </a:p>
          <a:p>
            <a:pPr algn="l" indent="0" marL="0">
              <a:buNone/>
            </a:pPr>
            <a:r>
              <a:rPr lang="en-US" altLang="en-US" sz="1500" dirty="0">
                <a:solidFill>
                  <a:schemeClr val="tx1"/>
                </a:solidFill>
                <a:latin typeface="Arial" pitchFamily="34" charset="0"/>
                <a:cs typeface="Arial" pitchFamily="34" charset="178"/>
              </a:rPr>
              <a:t>The lifeworld of people who ruminate: a qualitative phenomenological study.</a:t>
            </a:r>
            <a:endParaRPr lang="en-US" sz="1400" dirty="0"/>
          </a:p>
          <a:p>
            <a:pPr algn="l" indent="0" marL="0">
              <a:buNone/>
            </a:pPr>
            <a:r>
              <a:rPr lang="en-US" altLang="en-US" sz="1500" i="1" dirty="0">
                <a:solidFill>
                  <a:schemeClr val="accent5"/>
                </a:solidFill>
                <a:latin typeface="Arial" pitchFamily="34" charset="0"/>
                <a:cs typeface="Arial" pitchFamily="34" charset="178"/>
              </a:rPr>
              <a:t>Frontiers in Psychiatry, 17, 1649971.</a:t>
            </a:r>
            <a:endParaRPr lang="en-US" sz="1400" dirty="0"/>
          </a:p>
          <a:p>
            <a:pPr algn="l" indent="0" marL="0">
              <a:buNone/>
            </a:pPr>
            <a:r>
              <a:rPr lang="en-US" altLang="en-US" sz="1500" dirty="0">
                <a:solidFill>
                  <a:schemeClr val="accent2"/>
                </a:solidFill>
                <a:latin typeface="Arial" pitchFamily="34" charset="0"/>
                <a:cs typeface="Arial" pitchFamily="34" charset="178"/>
              </a:rPr>
              <a:t>DOI: 10.3389/fpsyt.2026.1649971</a:t>
            </a:r>
            <a:endParaRPr lang="en-US" sz="1400" dirty="0"/>
          </a:p>
        </p:txBody>
      </p:sp>
      <p:sp>
        <p:nvSpPr>
          <p:cNvPr id="6" name="Text 3"/>
          <p:cNvSpPr txBox="1"/>
          <p:nvPr/>
        </p:nvSpPr>
        <p:spPr>
          <a:xfrm>
            <a:off x="822960" y="4526280"/>
            <a:ext cx="10545775" cy="1188720"/>
          </a:xfrm>
          <a:prstGeom prst="rect">
            <a:avLst/>
          </a:prstGeom>
          <a:noFill/>
          <a:ln/>
        </p:spPr>
        <p:txBody>
          <a:bodyPr wrap="square" lIns="0" tIns="0" rIns="0" bIns="0" rtlCol="0" anchor="t"/>
          <a:lstStyle/>
          <a:p>
            <a:pPr algn="l" indent="0" marL="0">
              <a:buNone/>
            </a:pPr>
            <a:r>
              <a:rPr lang="en-US" altLang="en-US" sz="1600" b="1" dirty="0">
                <a:solidFill>
                  <a:schemeClr val="tx1"/>
                </a:solidFill>
                <a:latin typeface="Arial" pitchFamily="34" charset="0"/>
                <a:cs typeface="Arial" pitchFamily="34" charset="178"/>
              </a:rPr>
              <a:t>Khan, S., Rehna, T., &amp; Butt, T. A. (2024).</a:t>
            </a:r>
            <a:endParaRPr lang="en-US" sz="1400" dirty="0"/>
          </a:p>
          <a:p>
            <a:pPr algn="l" indent="0" marL="0">
              <a:buNone/>
            </a:pPr>
            <a:r>
              <a:rPr lang="en-US" altLang="en-US" sz="1500" dirty="0">
                <a:solidFill>
                  <a:schemeClr val="tx1"/>
                </a:solidFill>
                <a:latin typeface="Arial" pitchFamily="34" charset="0"/>
                <a:cs typeface="Arial" pitchFamily="34" charset="178"/>
              </a:rPr>
              <a:t>The emotional surge: in-depth qualitative exploration of rumination and emotional turbulence in non-suicidal self-injurers.</a:t>
            </a:r>
            <a:endParaRPr lang="en-US" sz="1400" dirty="0"/>
          </a:p>
          <a:p>
            <a:pPr algn="l" indent="0" marL="0">
              <a:buNone/>
            </a:pPr>
            <a:r>
              <a:rPr lang="en-US" altLang="en-US" sz="1500" i="1" dirty="0">
                <a:solidFill>
                  <a:schemeClr val="accent5"/>
                </a:solidFill>
                <a:latin typeface="Arial" pitchFamily="34" charset="0"/>
                <a:cs typeface="Arial" pitchFamily="34" charset="178"/>
              </a:rPr>
              <a:t>Frontiers in Psychology, 15, 1449110.</a:t>
            </a:r>
            <a:endParaRPr lang="en-US" sz="1400" dirty="0"/>
          </a:p>
          <a:p>
            <a:pPr algn="l" indent="0" marL="0">
              <a:buNone/>
            </a:pPr>
            <a:r>
              <a:rPr lang="en-US" altLang="en-US" sz="1500" dirty="0">
                <a:solidFill>
                  <a:schemeClr val="accent2"/>
                </a:solidFill>
                <a:latin typeface="Arial" pitchFamily="34" charset="0"/>
                <a:cs typeface="Arial" pitchFamily="34" charset="178"/>
              </a:rPr>
              <a:t>DOI: 10.3389/fpsyg.2024.1449110</a:t>
            </a:r>
            <a:endParaRPr lang="en-US" sz="1400" dirty="0"/>
          </a:p>
        </p:txBody>
      </p:sp>
      <p:sp>
        <p:nvSpPr>
          <p:cNvPr id="7" name="Text 4"/>
          <p:cNvSpPr txBox="1"/>
          <p:nvPr/>
        </p:nvSpPr>
        <p:spPr>
          <a:xfrm>
            <a:off x="822960" y="5897880"/>
            <a:ext cx="10545775" cy="365760"/>
          </a:xfrm>
          <a:prstGeom prst="rect">
            <a:avLst/>
          </a:prstGeom>
          <a:noFill/>
          <a:ln/>
        </p:spPr>
        <p:txBody>
          <a:bodyPr wrap="square" lIns="0" tIns="0" rIns="0" bIns="0" rtlCol="0" anchor="ctr"/>
          <a:lstStyle/>
          <a:p>
            <a:pPr rtl="1" algn="r" indent="0" marL="0">
              <a:buNone/>
            </a:pPr>
            <a:r>
              <a:rPr lang="fa-IR" altLang="en-US" sz="1300" dirty="0">
                <a:solidFill>
                  <a:schemeClr val="accent5"/>
                </a:solidFill>
                <a:latin typeface="Arial" pitchFamily="34" charset="0"/>
                <a:cs typeface="Arial" pitchFamily="34" charset="178"/>
              </a:rPr>
              <a:t>مقاله سوم روی جمعیت NSSI انجام شده و یافته‌های آن نباید به مخاطب عمومی تعمیم مستقیم داده شوند.</a:t>
            </a:r>
            <a:endParaRPr lang="fa-IR" sz="1300" dirty="0"/>
          </a:p>
        </p:txBody>
      </p:sp>
      <p:sp>
        <p:nvSpPr>
          <p:cNvPr id="25" name="Slide Number Placeholder 0"/>
          <p:cNvSpPr>
            <a:spLocks noGrp="1"/>
          </p:cNvSpPr>
          <p:nvPr>
            <p:ph type="sldNum" sz="quarter" idx="4294967295"/>
          </p:nvPr>
        </p:nvSpPr>
        <p:spPr>
          <a:xfrm>
            <a:off x="822960"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latin typeface="Arial"/>
                <a:cs typeface="Arial"/>
              </a:defRPr>
            </a:lvl1pPr>
          </a:lstStyle>
          <a:p>
            <a:pPr algn="l"/>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Cinnamon Cedar">
  <a:themeElements>
    <a:clrScheme name="Cinnamon Cedar">
      <a:dk1>
        <a:srgbClr val="3A2A22"/>
      </a:dk1>
      <a:lt1>
        <a:srgbClr val="FFFFFF"/>
      </a:lt1>
      <a:dk2>
        <a:srgbClr val="7F4E34"/>
      </a:dk2>
      <a:lt2>
        <a:srgbClr val="FAF8F5"/>
      </a:lt2>
      <a:accent1>
        <a:srgbClr val="7F4E34"/>
      </a:accent1>
      <a:accent2>
        <a:srgbClr val="5F7269"/>
      </a:accent2>
      <a:accent3>
        <a:srgbClr val="42564E"/>
      </a:accent3>
      <a:accent4>
        <a:srgbClr val="D9D1C7"/>
      </a:accent4>
      <a:accent5>
        <a:srgbClr val="7A726B"/>
      </a:accent5>
      <a:accent6>
        <a:srgbClr val="B5413A"/>
      </a:accent6>
      <a:hlink>
        <a:srgbClr val="5F7269"/>
      </a:hlink>
      <a:folHlink>
        <a:srgbClr val="7A726B"/>
      </a:folHlink>
    </a:clrScheme>
    <a:fontScheme name="Cinnamon Cedar">
      <a:majorFont>
        <a:latin typeface="Arial"/>
        <a:ea typeface=""/>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چرا وقتی حق داریم عصبانی باشیم، خودمان را سرزنش می‌کنیم؟</dc:title>
  <dc:subject>وبینار: از خشم اصیل تا خودحمله و نشخوار فکری</dc:subject>
  <dc:creator/>
  <cp:lastModifiedBy/>
  <cp:revision>1</cp:revision>
  <dcterms:created xsi:type="dcterms:W3CDTF">2026-10-07T14:47:20Z</dcterms:created>
  <dcterms:modified xsi:type="dcterms:W3CDTF">2026-10-07T14:47:20Z</dcterms:modified>
</cp:coreProperties>
</file>