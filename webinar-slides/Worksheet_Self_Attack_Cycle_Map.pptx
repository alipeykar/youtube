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6464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000" b="1" dirty="0">
                <a:solidFill>
                  <a:schemeClr val="tx2"/>
                </a:solidFill>
                <a:latin typeface="Arial" pitchFamily="34" charset="0"/>
                <a:cs typeface="Arial" pitchFamily="34" charset="178"/>
              </a:rPr>
              <a:t>نقشه چرخه حمله به خود</a:t>
            </a:r>
            <a:endParaRPr lang="fa-IR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chemeClr val="accent5"/>
                </a:solidFill>
                <a:latin typeface="Arial" pitchFamily="34" charset="0"/>
                <a:cs typeface="Arial" pitchFamily="34" charset="178"/>
              </a:rPr>
              <a:t>یک تجربه واقعی و کوچک را انتخاب کنید و خانه‌ها را به ترتیب پر کنید.</a:t>
            </a:r>
            <a:endParaRPr lang="fa-IR" sz="1400" dirty="0"/>
          </a:p>
        </p:txBody>
      </p:sp>
      <p:sp>
        <p:nvSpPr>
          <p:cNvPr id="4" name="cell"/>
          <p:cNvSpPr/>
          <p:nvPr/>
        </p:nvSpPr>
        <p:spPr>
          <a:xfrm>
            <a:off x="4992624" y="2011680"/>
            <a:ext cx="2020824" cy="2514600"/>
          </a:xfrm>
          <a:prstGeom prst="roundRect">
            <a:avLst>
              <a:gd name="adj" fmla="val 4525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75504" y="214884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200" b="1" dirty="0">
                <a:solidFill>
                  <a:schemeClr val="accent1"/>
                </a:solidFill>
                <a:latin typeface="Arial" pitchFamily="34" charset="0"/>
                <a:cs typeface="Arial" pitchFamily="34" charset="178"/>
              </a:rPr>
              <a:t>۱</a:t>
            </a:r>
            <a:endParaRPr lang="fa-IR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175504" y="260604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1500" b="1" dirty="0">
                <a:solidFill>
                  <a:schemeClr val="tx1"/>
                </a:solidFill>
                <a:latin typeface="Arial" pitchFamily="34" charset="0"/>
                <a:cs typeface="Arial" pitchFamily="34" charset="178"/>
              </a:rPr>
              <a:t>اتفاق</a:t>
            </a:r>
            <a:endParaRPr lang="fa-IR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175504" y="3154680"/>
            <a:ext cx="1655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Arial" pitchFamily="34" charset="0"/>
                <a:cs typeface="Arial" pitchFamily="34" charset="178"/>
              </a:rPr>
              <a:t>چه شد؟ فقط واقعیت.</a:t>
            </a:r>
            <a:endParaRPr lang="fa-IR" sz="1200" dirty="0"/>
          </a:p>
        </p:txBody>
      </p:sp>
      <p:sp>
        <p:nvSpPr>
          <p:cNvPr id="8" name="cell"/>
          <p:cNvSpPr/>
          <p:nvPr/>
        </p:nvSpPr>
        <p:spPr>
          <a:xfrm>
            <a:off x="2770632" y="2011680"/>
            <a:ext cx="2020824" cy="2514600"/>
          </a:xfrm>
          <a:prstGeom prst="roundRect">
            <a:avLst>
              <a:gd name="adj" fmla="val 4525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53512" y="214884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200" b="1" dirty="0">
                <a:solidFill>
                  <a:schemeClr val="accent1"/>
                </a:solidFill>
                <a:latin typeface="Arial" pitchFamily="34" charset="0"/>
                <a:cs typeface="Arial" pitchFamily="34" charset="178"/>
              </a:rPr>
              <a:t>۲</a:t>
            </a:r>
            <a:endParaRPr lang="fa-IR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953512" y="260604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1500" b="1" dirty="0">
                <a:solidFill>
                  <a:schemeClr val="tx1"/>
                </a:solidFill>
                <a:latin typeface="Arial" pitchFamily="34" charset="0"/>
                <a:cs typeface="Arial" pitchFamily="34" charset="178"/>
              </a:rPr>
              <a:t>احساس اولیه</a:t>
            </a:r>
            <a:endParaRPr lang="fa-IR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953512" y="3154680"/>
            <a:ext cx="1655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Arial" pitchFamily="34" charset="0"/>
                <a:cs typeface="Arial" pitchFamily="34" charset="178"/>
              </a:rPr>
              <a:t>اولین احساس من چه بود؟</a:t>
            </a:r>
            <a:endParaRPr lang="fa-IR" sz="1200" dirty="0"/>
          </a:p>
        </p:txBody>
      </p:sp>
      <p:sp>
        <p:nvSpPr>
          <p:cNvPr id="12" name="cell"/>
          <p:cNvSpPr/>
          <p:nvPr/>
        </p:nvSpPr>
        <p:spPr>
          <a:xfrm>
            <a:off x="548640" y="2011680"/>
            <a:ext cx="2020824" cy="2514600"/>
          </a:xfrm>
          <a:prstGeom prst="roundRect">
            <a:avLst>
              <a:gd name="adj" fmla="val 4525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14884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200" b="1" dirty="0">
                <a:solidFill>
                  <a:schemeClr val="accent1"/>
                </a:solidFill>
                <a:latin typeface="Arial" pitchFamily="34" charset="0"/>
                <a:cs typeface="Arial" pitchFamily="34" charset="178"/>
              </a:rPr>
              <a:t>۳</a:t>
            </a:r>
            <a:endParaRPr lang="fa-IR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60604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1500" b="1" dirty="0">
                <a:solidFill>
                  <a:schemeClr val="tx1"/>
                </a:solidFill>
                <a:latin typeface="Arial" pitchFamily="34" charset="0"/>
                <a:cs typeface="Arial" pitchFamily="34" charset="178"/>
              </a:rPr>
              <a:t>جمله منتقد درونی</a:t>
            </a:r>
            <a:endParaRPr lang="fa-IR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154680"/>
            <a:ext cx="1655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Arial" pitchFamily="34" charset="0"/>
                <a:cs typeface="Arial" pitchFamily="34" charset="178"/>
              </a:rPr>
              <a:t>دقیقاً چه گفت؟</a:t>
            </a:r>
            <a:endParaRPr lang="fa-IR" sz="1200" dirty="0"/>
          </a:p>
        </p:txBody>
      </p:sp>
      <p:sp>
        <p:nvSpPr>
          <p:cNvPr id="16" name="cell"/>
          <p:cNvSpPr/>
          <p:nvPr/>
        </p:nvSpPr>
        <p:spPr>
          <a:xfrm>
            <a:off x="4992624" y="4709160"/>
            <a:ext cx="2020824" cy="2514600"/>
          </a:xfrm>
          <a:prstGeom prst="roundRect">
            <a:avLst>
              <a:gd name="adj" fmla="val 4525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75504" y="484632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200" b="1" dirty="0">
                <a:solidFill>
                  <a:schemeClr val="accent1"/>
                </a:solidFill>
                <a:latin typeface="Arial" pitchFamily="34" charset="0"/>
                <a:cs typeface="Arial" pitchFamily="34" charset="178"/>
              </a:rPr>
              <a:t>۴</a:t>
            </a:r>
            <a:endParaRPr lang="fa-IR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175504" y="530352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1500" b="1" dirty="0">
                <a:solidFill>
                  <a:schemeClr val="tx1"/>
                </a:solidFill>
                <a:latin typeface="Arial" pitchFamily="34" charset="0"/>
                <a:cs typeface="Arial" pitchFamily="34" charset="178"/>
              </a:rPr>
              <a:t>نوع منتقد</a:t>
            </a:r>
            <a:endParaRPr lang="fa-IR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175504" y="5806440"/>
            <a:ext cx="16550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Arial" pitchFamily="34" charset="0"/>
                <a:cs typeface="Arial" pitchFamily="34" charset="178"/>
              </a:rPr>
              <a:t>نگران</a:t>
            </a:r>
            <a:endParaRPr lang="fa-IR" sz="12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Arial" pitchFamily="34" charset="0"/>
                <a:cs typeface="Arial" pitchFamily="34" charset="178"/>
              </a:rPr>
              <a:t>کافی نیستی</a:t>
            </a:r>
            <a:endParaRPr lang="fa-IR" sz="12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Arial" pitchFamily="34" charset="0"/>
                <a:cs typeface="Arial" pitchFamily="34" charset="178"/>
              </a:rPr>
              <a:t>خودت مشکلی</a:t>
            </a:r>
            <a:endParaRPr lang="fa-IR" sz="12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Arial" pitchFamily="34" charset="0"/>
                <a:cs typeface="Arial" pitchFamily="34" charset="178"/>
              </a:rPr>
              <a:t>بیشتر تلاش کن</a:t>
            </a:r>
            <a:endParaRPr lang="fa-IR" sz="12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Arial" pitchFamily="34" charset="0"/>
                <a:cs typeface="Arial" pitchFamily="34" charset="178"/>
              </a:rPr>
              <a:t>احساس نکن</a:t>
            </a:r>
            <a:endParaRPr lang="fa-IR" sz="12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Arial" pitchFamily="34" charset="0"/>
                <a:cs typeface="Arial" pitchFamily="34" charset="178"/>
              </a:rPr>
              <a:t>برای دیگران کافی نیستی</a:t>
            </a:r>
            <a:endParaRPr lang="fa-IR" sz="1200" dirty="0"/>
          </a:p>
        </p:txBody>
      </p:sp>
      <p:sp>
        <p:nvSpPr>
          <p:cNvPr id="20" name="cell"/>
          <p:cNvSpPr/>
          <p:nvPr/>
        </p:nvSpPr>
        <p:spPr>
          <a:xfrm>
            <a:off x="2770632" y="4709160"/>
            <a:ext cx="2020824" cy="2514600"/>
          </a:xfrm>
          <a:prstGeom prst="roundRect">
            <a:avLst>
              <a:gd name="adj" fmla="val 4525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53512" y="484632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200" b="1" dirty="0">
                <a:solidFill>
                  <a:schemeClr val="accent2"/>
                </a:solidFill>
                <a:latin typeface="Arial" pitchFamily="34" charset="0"/>
                <a:cs typeface="Arial" pitchFamily="34" charset="178"/>
              </a:rPr>
              <a:t>۵</a:t>
            </a:r>
            <a:endParaRPr lang="fa-IR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2953512" y="530352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1500" b="1" dirty="0">
                <a:solidFill>
                  <a:schemeClr val="tx1"/>
                </a:solidFill>
                <a:latin typeface="Arial" pitchFamily="34" charset="0"/>
                <a:cs typeface="Arial" pitchFamily="34" charset="178"/>
              </a:rPr>
              <a:t>نیاز</a:t>
            </a:r>
            <a:endParaRPr lang="fa-IR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953512" y="5852160"/>
            <a:ext cx="1655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Arial" pitchFamily="34" charset="0"/>
                <a:cs typeface="Arial" pitchFamily="34" charset="178"/>
              </a:rPr>
              <a:t>چه چیزی برایم مهم بود؟</a:t>
            </a:r>
            <a:endParaRPr lang="fa-IR" sz="1200" dirty="0"/>
          </a:p>
        </p:txBody>
      </p:sp>
      <p:sp>
        <p:nvSpPr>
          <p:cNvPr id="24" name="cell"/>
          <p:cNvSpPr/>
          <p:nvPr/>
        </p:nvSpPr>
        <p:spPr>
          <a:xfrm>
            <a:off x="548640" y="4709160"/>
            <a:ext cx="2020824" cy="2514600"/>
          </a:xfrm>
          <a:prstGeom prst="roundRect">
            <a:avLst>
              <a:gd name="adj" fmla="val 4525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484632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200" b="1" dirty="0">
                <a:solidFill>
                  <a:schemeClr val="accent2"/>
                </a:solidFill>
                <a:latin typeface="Arial" pitchFamily="34" charset="0"/>
                <a:cs typeface="Arial" pitchFamily="34" charset="178"/>
              </a:rPr>
              <a:t>۶</a:t>
            </a:r>
            <a:endParaRPr lang="fa-IR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530352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1500" b="1" dirty="0">
                <a:solidFill>
                  <a:schemeClr val="tx1"/>
                </a:solidFill>
                <a:latin typeface="Arial" pitchFamily="34" charset="0"/>
                <a:cs typeface="Arial" pitchFamily="34" charset="178"/>
              </a:rPr>
              <a:t>خودحمایتی</a:t>
            </a:r>
            <a:endParaRPr lang="fa-IR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852160"/>
            <a:ext cx="1655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Arial" pitchFamily="34" charset="0"/>
                <a:cs typeface="Arial" pitchFamily="34" charset="178"/>
              </a:rPr>
              <a:t>چطور بدون حمله به خودم از خودم حمایت کنم؟</a:t>
            </a:r>
            <a:endParaRPr lang="fa-IR" sz="1200" dirty="0"/>
          </a:p>
        </p:txBody>
      </p:sp>
      <p:sp>
        <p:nvSpPr>
          <p:cNvPr id="28" name="cell"/>
          <p:cNvSpPr/>
          <p:nvPr/>
        </p:nvSpPr>
        <p:spPr>
          <a:xfrm>
            <a:off x="4992624" y="7406640"/>
            <a:ext cx="2020824" cy="2514600"/>
          </a:xfrm>
          <a:prstGeom prst="roundRect">
            <a:avLst>
              <a:gd name="adj" fmla="val 4525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75504" y="754380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200" b="1" dirty="0">
                <a:solidFill>
                  <a:schemeClr val="accent2"/>
                </a:solidFill>
                <a:latin typeface="Arial" pitchFamily="34" charset="0"/>
                <a:cs typeface="Arial" pitchFamily="34" charset="178"/>
              </a:rPr>
              <a:t>۷</a:t>
            </a:r>
            <a:endParaRPr lang="fa-IR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5175504" y="800100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1500" b="1" dirty="0">
                <a:solidFill>
                  <a:schemeClr val="tx1"/>
                </a:solidFill>
                <a:latin typeface="Arial" pitchFamily="34" charset="0"/>
                <a:cs typeface="Arial" pitchFamily="34" charset="178"/>
              </a:rPr>
              <a:t>خشم محافظتی / قاطعانه</a:t>
            </a:r>
            <a:endParaRPr lang="fa-IR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175504" y="8549640"/>
            <a:ext cx="1655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Arial" pitchFamily="34" charset="0"/>
                <a:cs typeface="Arial" pitchFamily="34" charset="178"/>
              </a:rPr>
              <a:t>این خشم از چه چیزی خبر می‌دهد؟</a:t>
            </a:r>
            <a:endParaRPr lang="fa-IR" sz="1200" dirty="0"/>
          </a:p>
        </p:txBody>
      </p:sp>
      <p:sp>
        <p:nvSpPr>
          <p:cNvPr id="32" name="cell"/>
          <p:cNvSpPr/>
          <p:nvPr/>
        </p:nvSpPr>
        <p:spPr>
          <a:xfrm>
            <a:off x="2770632" y="7406640"/>
            <a:ext cx="2020824" cy="2514600"/>
          </a:xfrm>
          <a:prstGeom prst="roundRect">
            <a:avLst>
              <a:gd name="adj" fmla="val 4525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953512" y="754380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200" b="1" dirty="0">
                <a:solidFill>
                  <a:schemeClr val="accent2"/>
                </a:solidFill>
                <a:latin typeface="Arial" pitchFamily="34" charset="0"/>
                <a:cs typeface="Arial" pitchFamily="34" charset="178"/>
              </a:rPr>
              <a:t>۸</a:t>
            </a:r>
            <a:endParaRPr lang="fa-IR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2953512" y="800100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1500" b="1" dirty="0">
                <a:solidFill>
                  <a:schemeClr val="tx1"/>
                </a:solidFill>
                <a:latin typeface="Arial" pitchFamily="34" charset="0"/>
                <a:cs typeface="Arial" pitchFamily="34" charset="178"/>
              </a:rPr>
              <a:t>مرز</a:t>
            </a:r>
            <a:endParaRPr lang="fa-IR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2953512" y="8549640"/>
            <a:ext cx="1655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Arial" pitchFamily="34" charset="0"/>
                <a:cs typeface="Arial" pitchFamily="34" charset="178"/>
              </a:rPr>
              <a:t>چه مرز یا خواسته‌ای دارم؟</a:t>
            </a:r>
            <a:endParaRPr lang="fa-IR" sz="1200" dirty="0"/>
          </a:p>
        </p:txBody>
      </p:sp>
      <p:sp>
        <p:nvSpPr>
          <p:cNvPr id="36" name="cell"/>
          <p:cNvSpPr/>
          <p:nvPr/>
        </p:nvSpPr>
        <p:spPr>
          <a:xfrm>
            <a:off x="548640" y="7406640"/>
            <a:ext cx="2020824" cy="2514600"/>
          </a:xfrm>
          <a:prstGeom prst="roundRect">
            <a:avLst>
              <a:gd name="adj" fmla="val 4525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31520" y="754380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200" b="1" dirty="0">
                <a:solidFill>
                  <a:schemeClr val="accent2"/>
                </a:solidFill>
                <a:latin typeface="Arial" pitchFamily="34" charset="0"/>
                <a:cs typeface="Arial" pitchFamily="34" charset="178"/>
              </a:rPr>
              <a:t>۹</a:t>
            </a:r>
            <a:endParaRPr lang="fa-IR" sz="2200" dirty="0"/>
          </a:p>
        </p:txBody>
      </p:sp>
      <p:sp>
        <p:nvSpPr>
          <p:cNvPr id="38" name="Text 36"/>
          <p:cNvSpPr txBox="1"/>
          <p:nvPr/>
        </p:nvSpPr>
        <p:spPr>
          <a:xfrm>
            <a:off x="731520" y="800100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fa-IR" altLang="en-US" sz="1500" b="1" dirty="0">
                <a:solidFill>
                  <a:schemeClr val="tx1"/>
                </a:solidFill>
                <a:latin typeface="Arial" pitchFamily="34" charset="0"/>
                <a:cs typeface="Arial" pitchFamily="34" charset="178"/>
              </a:rPr>
              <a:t>اقدام</a:t>
            </a:r>
            <a:endParaRPr lang="fa-IR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731520" y="8549640"/>
            <a:ext cx="1655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fa-IR" altLang="en-US" sz="1200" dirty="0">
                <a:solidFill>
                  <a:schemeClr val="accent5"/>
                </a:solidFill>
                <a:latin typeface="Arial" pitchFamily="34" charset="0"/>
                <a:cs typeface="Arial" pitchFamily="34" charset="178"/>
              </a:rPr>
              <a:t>قدم بعدی من چیست؟</a:t>
            </a:r>
            <a:endParaRPr lang="fa-IR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1005840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100" dirty="0">
                <a:solidFill>
                  <a:schemeClr val="accent5"/>
                </a:solidFill>
                <a:latin typeface="Arial" pitchFamily="34" charset="0"/>
                <a:cs typeface="Arial" pitchFamily="34" charset="178"/>
              </a:rPr>
              <a:t>فرم آموزشی خودمشاهده‌گری؛ ابزار تشخیص نیست.</a:t>
            </a:r>
            <a:endParaRPr lang="fa-IR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nnamon Cedar">
  <a:themeElements>
    <a:clrScheme name="Cinnamon Cedar">
      <a:dk1>
        <a:srgbClr val="3A2A22"/>
      </a:dk1>
      <a:lt1>
        <a:srgbClr val="FFFFFF"/>
      </a:lt1>
      <a:dk2>
        <a:srgbClr val="7F4E34"/>
      </a:dk2>
      <a:lt2>
        <a:srgbClr val="FAF8F5"/>
      </a:lt2>
      <a:accent1>
        <a:srgbClr val="7F4E34"/>
      </a:accent1>
      <a:accent2>
        <a:srgbClr val="5F7269"/>
      </a:accent2>
      <a:accent3>
        <a:srgbClr val="42564E"/>
      </a:accent3>
      <a:accent4>
        <a:srgbClr val="D9D1C7"/>
      </a:accent4>
      <a:accent5>
        <a:srgbClr val="7A726B"/>
      </a:accent5>
      <a:accent6>
        <a:srgbClr val="B5413A"/>
      </a:accent6>
      <a:hlink>
        <a:srgbClr val="5F7269"/>
      </a:hlink>
      <a:folHlink>
        <a:srgbClr val="7A726B"/>
      </a:folHlink>
    </a:clrScheme>
    <a:fontScheme name="Cinnamon Cedar">
      <a:majorFont>
        <a:latin typeface="Arial"/>
        <a:ea typeface="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نقشه چرخه حمله به خود</dc:title>
  <dc:subject>PptxGenJS Presentation</dc:subject>
  <dc:creator>PptxGenJS</dc:creator>
  <cp:lastModifiedBy>PptxGenJS</cp:lastModifiedBy>
  <cp:revision>1</cp:revision>
  <dcterms:created xsi:type="dcterms:W3CDTF">2026-10-07T14:48:10Z</dcterms:created>
  <dcterms:modified xsi:type="dcterms:W3CDTF">2026-10-07T14:48:10Z</dcterms:modified>
</cp:coreProperties>
</file>